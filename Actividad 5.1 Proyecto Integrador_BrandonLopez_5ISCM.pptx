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94"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8" r:id="rId57"/>
    <p:sldId id="319" r:id="rId58"/>
    <p:sldId id="320" r:id="rId59"/>
    <p:sldId id="321" r:id="rId60"/>
    <p:sldId id="322" r:id="rId61"/>
    <p:sldId id="327"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323" r:id="rId75"/>
    <p:sldId id="324" r:id="rId76"/>
    <p:sldId id="325" r:id="rId77"/>
    <p:sldId id="326" r:id="rId78"/>
    <p:sldId id="314" r:id="rId79"/>
    <p:sldId id="340" r:id="rId80"/>
    <p:sldId id="341" r:id="rId81"/>
    <p:sldId id="342" r:id="rId82"/>
    <p:sldId id="343" r:id="rId83"/>
    <p:sldId id="356" r:id="rId84"/>
    <p:sldId id="357" r:id="rId85"/>
    <p:sldId id="358" r:id="rId86"/>
    <p:sldId id="359" r:id="rId87"/>
    <p:sldId id="360" r:id="rId88"/>
    <p:sldId id="361" r:id="rId89"/>
    <p:sldId id="362" r:id="rId90"/>
    <p:sldId id="363" r:id="rId91"/>
    <p:sldId id="364" r:id="rId92"/>
    <p:sldId id="365" r:id="rId93"/>
    <p:sldId id="366" r:id="rId94"/>
    <p:sldId id="367" r:id="rId95"/>
    <p:sldId id="368" r:id="rId96"/>
    <p:sldId id="369" r:id="rId97"/>
    <p:sldId id="370" r:id="rId98"/>
    <p:sldId id="344" r:id="rId99"/>
    <p:sldId id="345" r:id="rId100"/>
    <p:sldId id="346" r:id="rId101"/>
    <p:sldId id="347" r:id="rId102"/>
    <p:sldId id="348" r:id="rId103"/>
    <p:sldId id="349" r:id="rId104"/>
    <p:sldId id="355" r:id="rId105"/>
    <p:sldId id="317" r:id="rId10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YECTO INTEGRADOR" id="{5EE43877-3BF7-41A5-9627-BCF09648EE50}">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94"/>
            <p14:sldId id="279"/>
            <p14:sldId id="280"/>
            <p14:sldId id="281"/>
            <p14:sldId id="282"/>
            <p14:sldId id="283"/>
            <p14:sldId id="284"/>
            <p14:sldId id="285"/>
            <p14:sldId id="286"/>
            <p14:sldId id="287"/>
            <p14:sldId id="288"/>
            <p14:sldId id="289"/>
            <p14:sldId id="290"/>
            <p14:sldId id="291"/>
          </p14:sldIdLst>
        </p14:section>
        <p14:section name="MANUAL TECNICO" id="{1C7D9CAC-045D-4E9D-99C4-7A13DE6A4C83}">
          <p14:sldIdLst>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8"/>
            <p14:sldId id="319"/>
            <p14:sldId id="320"/>
            <p14:sldId id="321"/>
            <p14:sldId id="322"/>
            <p14:sldId id="327"/>
            <p14:sldId id="328"/>
            <p14:sldId id="329"/>
            <p14:sldId id="330"/>
            <p14:sldId id="331"/>
            <p14:sldId id="332"/>
            <p14:sldId id="333"/>
            <p14:sldId id="334"/>
            <p14:sldId id="335"/>
            <p14:sldId id="336"/>
            <p14:sldId id="337"/>
            <p14:sldId id="338"/>
            <p14:sldId id="339"/>
            <p14:sldId id="323"/>
            <p14:sldId id="324"/>
            <p14:sldId id="325"/>
            <p14:sldId id="326"/>
            <p14:sldId id="314"/>
            <p14:sldId id="340"/>
            <p14:sldId id="341"/>
            <p14:sldId id="342"/>
          </p14:sldIdLst>
        </p14:section>
        <p14:section name="PROGRAMA INTEGRADOR" id="{645CD4CB-D067-4087-A114-8B1D008443E8}">
          <p14:sldIdLst>
            <p14:sldId id="343"/>
            <p14:sldId id="356"/>
            <p14:sldId id="357"/>
            <p14:sldId id="358"/>
            <p14:sldId id="359"/>
            <p14:sldId id="360"/>
            <p14:sldId id="361"/>
            <p14:sldId id="362"/>
            <p14:sldId id="363"/>
            <p14:sldId id="364"/>
            <p14:sldId id="365"/>
            <p14:sldId id="366"/>
            <p14:sldId id="367"/>
            <p14:sldId id="368"/>
            <p14:sldId id="369"/>
            <p14:sldId id="370"/>
            <p14:sldId id="344"/>
            <p14:sldId id="345"/>
            <p14:sldId id="346"/>
            <p14:sldId id="347"/>
            <p14:sldId id="348"/>
            <p14:sldId id="349"/>
            <p14:sldId id="355"/>
            <p14:sldId id="31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70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8" Type="http://schemas.openxmlformats.org/officeDocument/2006/relationships/hyperlink" Target="https://camunda.com/" TargetMode="External"/><Relationship Id="rId13" Type="http://schemas.openxmlformats.org/officeDocument/2006/relationships/hyperlink" Target="https://help.bizagi.com/platform/en/" TargetMode="External"/><Relationship Id="rId3" Type="http://schemas.openxmlformats.org/officeDocument/2006/relationships/hyperlink" Target="https://www.jetbrains.com/help/idea/" TargetMode="External"/><Relationship Id="rId7" Type="http://schemas.openxmlformats.org/officeDocument/2006/relationships/hyperlink" Target="https://posit.co/" TargetMode="External"/><Relationship Id="rId12" Type="http://schemas.openxmlformats.org/officeDocument/2006/relationships/hyperlink" Target="https://www.bizagi.com/" TargetMode="External"/><Relationship Id="rId2" Type="http://schemas.openxmlformats.org/officeDocument/2006/relationships/hyperlink" Target="https://www.jetbrains.com/idea/" TargetMode="External"/><Relationship Id="rId1" Type="http://schemas.openxmlformats.org/officeDocument/2006/relationships/slideLayout" Target="../slideLayouts/slideLayout7.xml"/><Relationship Id="rId6" Type="http://schemas.openxmlformats.org/officeDocument/2006/relationships/hyperlink" Target="https://www.r-project.org/" TargetMode="External"/><Relationship Id="rId11" Type="http://schemas.openxmlformats.org/officeDocument/2006/relationships/hyperlink" Target="https://documentation.bonitasoft.com/" TargetMode="External"/><Relationship Id="rId5" Type="http://schemas.openxmlformats.org/officeDocument/2006/relationships/hyperlink" Target="https://docs.python.org/3/" TargetMode="External"/><Relationship Id="rId15" Type="http://schemas.openxmlformats.org/officeDocument/2006/relationships/hyperlink" Target="https://doi.org/10.1007/978-3-662-56509-4" TargetMode="External"/><Relationship Id="rId10" Type="http://schemas.openxmlformats.org/officeDocument/2006/relationships/hyperlink" Target="https://www.bonitasoft.com/" TargetMode="External"/><Relationship Id="rId4" Type="http://schemas.openxmlformats.org/officeDocument/2006/relationships/hyperlink" Target="https://www.python.org/" TargetMode="External"/><Relationship Id="rId9" Type="http://schemas.openxmlformats.org/officeDocument/2006/relationships/hyperlink" Target="https://docs.camunda.io/" TargetMode="External"/><Relationship Id="rId14" Type="http://schemas.openxmlformats.org/officeDocument/2006/relationships/hyperlink" Target="https://www.omg.org/bpmn/"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6692" y="614562"/>
            <a:ext cx="4859279" cy="4490973"/>
          </a:xfrm>
          <a:prstGeom prst="rect">
            <a:avLst/>
          </a:prstGeom>
          <a:noFill/>
        </p:spPr>
        <p:txBody>
          <a:bodyPr wrap="none">
            <a:spAutoFit/>
          </a:bodyPr>
          <a:lstStyle/>
          <a:p>
            <a:pPr algn="ctr">
              <a:spcAft>
                <a:spcPts val="700"/>
              </a:spcAft>
              <a:defRPr sz="1500" b="0">
                <a:solidFill>
                  <a:srgbClr val="FFFFFF"/>
                </a:solidFill>
              </a:defRPr>
            </a:pPr>
            <a:r>
              <a:rPr dirty="0">
                <a:solidFill>
                  <a:schemeClr val="bg2">
                    <a:lumMod val="10000"/>
                  </a:schemeClr>
                </a:solidFill>
              </a:rPr>
              <a:t>UNIDAD VENUSTIANO CARRANZA</a:t>
            </a:r>
          </a:p>
          <a:p>
            <a:pPr algn="ctr">
              <a:spcAft>
                <a:spcPts val="700"/>
              </a:spcAft>
              <a:defRPr sz="1500" b="0">
                <a:solidFill>
                  <a:srgbClr val="FFFFFF"/>
                </a:solidFill>
              </a:defRPr>
            </a:pPr>
            <a:r>
              <a:rPr dirty="0">
                <a:solidFill>
                  <a:schemeClr val="bg2">
                    <a:lumMod val="10000"/>
                  </a:schemeClr>
                </a:solidFill>
              </a:rPr>
              <a:t>“INGENIERÍA EN SISTEMAS COMPUTACIONALES</a:t>
            </a:r>
            <a:r>
              <a:rPr dirty="0" smtClean="0">
                <a:solidFill>
                  <a:schemeClr val="bg2">
                    <a:lumMod val="10000"/>
                  </a:schemeClr>
                </a:solidFill>
              </a:rPr>
              <a:t>”</a:t>
            </a:r>
            <a:endParaRPr lang="es-ES" dirty="0" smtClean="0">
              <a:solidFill>
                <a:schemeClr val="bg2">
                  <a:lumMod val="10000"/>
                </a:schemeClr>
              </a:solidFill>
            </a:endParaRPr>
          </a:p>
          <a:p>
            <a:pPr algn="ctr">
              <a:spcAft>
                <a:spcPts val="700"/>
              </a:spcAft>
              <a:defRPr sz="1500" b="0">
                <a:solidFill>
                  <a:srgbClr val="FFFFFF"/>
                </a:solidFill>
              </a:defRPr>
            </a:pPr>
            <a:endParaRPr dirty="0">
              <a:solidFill>
                <a:schemeClr val="bg2">
                  <a:lumMod val="10000"/>
                </a:schemeClr>
              </a:solidFill>
            </a:endParaRPr>
          </a:p>
          <a:p>
            <a:pPr algn="ctr">
              <a:spcAft>
                <a:spcPts val="700"/>
              </a:spcAft>
              <a:defRPr sz="1500" b="1">
                <a:solidFill>
                  <a:srgbClr val="FFFFFF"/>
                </a:solidFill>
              </a:defRPr>
            </a:pPr>
            <a:r>
              <a:rPr dirty="0" smtClean="0">
                <a:solidFill>
                  <a:schemeClr val="bg2">
                    <a:lumMod val="10000"/>
                  </a:schemeClr>
                </a:solidFill>
              </a:rPr>
              <a:t>SIMULACION</a:t>
            </a:r>
            <a:endParaRPr dirty="0">
              <a:solidFill>
                <a:schemeClr val="bg2">
                  <a:lumMod val="10000"/>
                </a:schemeClr>
              </a:solidFill>
            </a:endParaRPr>
          </a:p>
          <a:p>
            <a:pPr algn="ctr">
              <a:spcAft>
                <a:spcPts val="700"/>
              </a:spcAft>
              <a:defRPr sz="1500" b="1">
                <a:solidFill>
                  <a:srgbClr val="FFFFFF"/>
                </a:solidFill>
              </a:defRPr>
            </a:pPr>
            <a:r>
              <a:rPr dirty="0">
                <a:solidFill>
                  <a:schemeClr val="bg2">
                    <a:lumMod val="10000"/>
                  </a:schemeClr>
                </a:solidFill>
              </a:rPr>
              <a:t>PROYECTO INTEGRADOR</a:t>
            </a:r>
          </a:p>
          <a:p>
            <a:pPr algn="ctr">
              <a:spcAft>
                <a:spcPts val="700"/>
              </a:spcAft>
              <a:defRPr sz="1500" b="1">
                <a:solidFill>
                  <a:srgbClr val="FFFFFF"/>
                </a:solidFill>
              </a:defRPr>
            </a:pPr>
            <a:r>
              <a:rPr dirty="0" smtClean="0">
                <a:solidFill>
                  <a:schemeClr val="bg2">
                    <a:lumMod val="10000"/>
                  </a:schemeClr>
                </a:solidFill>
              </a:rPr>
              <a:t>(</a:t>
            </a:r>
            <a:r>
              <a:rPr lang="es-ES" dirty="0" smtClean="0">
                <a:solidFill>
                  <a:schemeClr val="bg2">
                    <a:lumMod val="10000"/>
                  </a:schemeClr>
                </a:solidFill>
              </a:rPr>
              <a:t>5.1 </a:t>
            </a:r>
            <a:r>
              <a:rPr dirty="0" smtClean="0">
                <a:solidFill>
                  <a:schemeClr val="bg2">
                    <a:lumMod val="10000"/>
                  </a:schemeClr>
                </a:solidFill>
              </a:rPr>
              <a:t> </a:t>
            </a:r>
            <a:r>
              <a:rPr dirty="0">
                <a:solidFill>
                  <a:schemeClr val="bg2">
                    <a:lumMod val="10000"/>
                  </a:schemeClr>
                </a:solidFill>
              </a:rPr>
              <a:t>TALLER_MECANICO</a:t>
            </a:r>
            <a:r>
              <a:rPr dirty="0" smtClean="0">
                <a:solidFill>
                  <a:schemeClr val="bg2">
                    <a:lumMod val="10000"/>
                  </a:schemeClr>
                </a:solidFill>
              </a:rPr>
              <a:t>)</a:t>
            </a:r>
            <a:endParaRPr lang="es-ES" dirty="0" smtClean="0">
              <a:solidFill>
                <a:schemeClr val="bg2">
                  <a:lumMod val="10000"/>
                </a:schemeClr>
              </a:solidFill>
            </a:endParaRPr>
          </a:p>
          <a:p>
            <a:pPr algn="ctr">
              <a:spcAft>
                <a:spcPts val="700"/>
              </a:spcAft>
              <a:defRPr sz="1500" b="1">
                <a:solidFill>
                  <a:srgbClr val="FFFFFF"/>
                </a:solidFill>
              </a:defRPr>
            </a:pPr>
            <a:endParaRPr dirty="0">
              <a:solidFill>
                <a:schemeClr val="bg2">
                  <a:lumMod val="10000"/>
                </a:schemeClr>
              </a:solidFill>
            </a:endParaRPr>
          </a:p>
          <a:p>
            <a:pPr algn="ctr">
              <a:spcAft>
                <a:spcPts val="700"/>
              </a:spcAft>
              <a:defRPr sz="1500" b="0">
                <a:solidFill>
                  <a:srgbClr val="FFFFFF"/>
                </a:solidFill>
              </a:defRPr>
            </a:pPr>
            <a:r>
              <a:rPr b="1" dirty="0" smtClean="0">
                <a:solidFill>
                  <a:schemeClr val="bg2">
                    <a:lumMod val="10000"/>
                  </a:schemeClr>
                </a:solidFill>
              </a:rPr>
              <a:t>PROFESOR</a:t>
            </a:r>
            <a:endParaRPr b="1" dirty="0">
              <a:solidFill>
                <a:schemeClr val="bg2">
                  <a:lumMod val="10000"/>
                </a:schemeClr>
              </a:solidFill>
            </a:endParaRPr>
          </a:p>
          <a:p>
            <a:pPr algn="ctr">
              <a:spcAft>
                <a:spcPts val="700"/>
              </a:spcAft>
              <a:defRPr sz="1500" b="0">
                <a:solidFill>
                  <a:srgbClr val="FFFFFF"/>
                </a:solidFill>
              </a:defRPr>
            </a:pPr>
            <a:r>
              <a:rPr dirty="0">
                <a:solidFill>
                  <a:schemeClr val="bg2">
                    <a:lumMod val="10000"/>
                  </a:schemeClr>
                </a:solidFill>
              </a:rPr>
              <a:t>ING. FRANCISCO JAVIER MINGO </a:t>
            </a:r>
            <a:r>
              <a:rPr dirty="0" smtClean="0">
                <a:solidFill>
                  <a:schemeClr val="bg2">
                    <a:lumMod val="10000"/>
                  </a:schemeClr>
                </a:solidFill>
              </a:rPr>
              <a:t>VELAZQUEZ</a:t>
            </a:r>
            <a:endParaRPr lang="es-ES" dirty="0" smtClean="0">
              <a:solidFill>
                <a:schemeClr val="bg2">
                  <a:lumMod val="10000"/>
                </a:schemeClr>
              </a:solidFill>
            </a:endParaRPr>
          </a:p>
          <a:p>
            <a:pPr algn="ctr">
              <a:spcAft>
                <a:spcPts val="700"/>
              </a:spcAft>
              <a:defRPr sz="1500" b="0">
                <a:solidFill>
                  <a:srgbClr val="FFFFFF"/>
                </a:solidFill>
              </a:defRPr>
            </a:pPr>
            <a:endParaRPr dirty="0">
              <a:solidFill>
                <a:schemeClr val="bg2">
                  <a:lumMod val="10000"/>
                </a:schemeClr>
              </a:solidFill>
            </a:endParaRPr>
          </a:p>
          <a:p>
            <a:pPr algn="ctr">
              <a:spcAft>
                <a:spcPts val="700"/>
              </a:spcAft>
              <a:defRPr sz="1500" b="0">
                <a:solidFill>
                  <a:srgbClr val="FFFFFF"/>
                </a:solidFill>
              </a:defRPr>
            </a:pPr>
            <a:r>
              <a:rPr dirty="0" smtClean="0">
                <a:solidFill>
                  <a:schemeClr val="bg2">
                    <a:lumMod val="10000"/>
                  </a:schemeClr>
                </a:solidFill>
              </a:rPr>
              <a:t>0</a:t>
            </a:r>
            <a:r>
              <a:rPr lang="es-ES" smtClean="0">
                <a:solidFill>
                  <a:schemeClr val="bg2">
                    <a:lumMod val="10000"/>
                  </a:schemeClr>
                </a:solidFill>
              </a:rPr>
              <a:t>4</a:t>
            </a:r>
            <a:r>
              <a:rPr smtClean="0">
                <a:solidFill>
                  <a:schemeClr val="bg2">
                    <a:lumMod val="10000"/>
                  </a:schemeClr>
                </a:solidFill>
              </a:rPr>
              <a:t> </a:t>
            </a:r>
            <a:r>
              <a:rPr dirty="0">
                <a:solidFill>
                  <a:schemeClr val="bg2">
                    <a:lumMod val="10000"/>
                  </a:schemeClr>
                </a:solidFill>
              </a:rPr>
              <a:t>DE OCTUBRE DE 2026 VENUSTIANO CARRANZA, </a:t>
            </a:r>
            <a:r>
              <a:rPr dirty="0" smtClean="0">
                <a:solidFill>
                  <a:schemeClr val="bg2">
                    <a:lumMod val="10000"/>
                  </a:schemeClr>
                </a:solidFill>
              </a:rPr>
              <a:t>CHIAPAS</a:t>
            </a:r>
            <a:endParaRPr lang="es-ES" dirty="0" smtClean="0">
              <a:solidFill>
                <a:schemeClr val="bg2">
                  <a:lumMod val="10000"/>
                </a:schemeClr>
              </a:solidFill>
            </a:endParaRPr>
          </a:p>
          <a:p>
            <a:pPr algn="ctr">
              <a:spcAft>
                <a:spcPts val="700"/>
              </a:spcAft>
              <a:defRPr sz="1500" b="0">
                <a:solidFill>
                  <a:srgbClr val="FFFFFF"/>
                </a:solidFill>
              </a:defRPr>
            </a:pPr>
            <a:endParaRPr lang="es-ES" b="1" dirty="0" smtClean="0">
              <a:solidFill>
                <a:schemeClr val="bg2">
                  <a:lumMod val="10000"/>
                </a:schemeClr>
              </a:solidFill>
            </a:endParaRPr>
          </a:p>
          <a:p>
            <a:pPr algn="ctr">
              <a:spcAft>
                <a:spcPts val="700"/>
              </a:spcAft>
              <a:defRPr sz="1500" b="0">
                <a:solidFill>
                  <a:srgbClr val="FFFFFF"/>
                </a:solidFill>
              </a:defRPr>
            </a:pPr>
            <a:r>
              <a:rPr lang="es-MX" b="1" dirty="0">
                <a:solidFill>
                  <a:schemeClr val="bg2">
                    <a:lumMod val="10000"/>
                  </a:schemeClr>
                </a:solidFill>
              </a:rPr>
              <a:t>PRESENTA</a:t>
            </a:r>
          </a:p>
          <a:p>
            <a:pPr algn="ctr">
              <a:spcAft>
                <a:spcPts val="700"/>
              </a:spcAft>
              <a:defRPr sz="1500" b="0">
                <a:solidFill>
                  <a:srgbClr val="FFFFFF"/>
                </a:solidFill>
              </a:defRPr>
            </a:pPr>
            <a:endParaRPr dirty="0">
              <a:solidFill>
                <a:schemeClr val="bg2">
                  <a:lumMod val="10000"/>
                </a:schemeClr>
              </a:solidFill>
            </a:endParaRPr>
          </a:p>
        </p:txBody>
      </p:sp>
      <p:graphicFrame>
        <p:nvGraphicFramePr>
          <p:cNvPr id="4" name="Table 3"/>
          <p:cNvGraphicFramePr>
            <a:graphicFrameLocks noGrp="1"/>
          </p:cNvGraphicFramePr>
          <p:nvPr/>
        </p:nvGraphicFramePr>
        <p:xfrm>
          <a:off x="2834640" y="5074920"/>
          <a:ext cx="6492240" cy="822960"/>
        </p:xfrm>
        <a:graphic>
          <a:graphicData uri="http://schemas.openxmlformats.org/drawingml/2006/table">
            <a:tbl>
              <a:tblPr firstRow="1" bandRow="1">
                <a:tableStyleId>{5C22544A-7EE6-4342-B048-85BDC9FD1C3A}</a:tableStyleId>
              </a:tblPr>
              <a:tblGrid>
                <a:gridCol w="3246120"/>
                <a:gridCol w="3246120"/>
              </a:tblGrid>
              <a:tr h="411480">
                <a:tc>
                  <a:txBody>
                    <a:bodyPr/>
                    <a:lstStyle/>
                    <a:p>
                      <a:pPr algn="ctr">
                        <a:defRPr sz="1100" b="1">
                          <a:solidFill>
                            <a:srgbClr val="FFFFFF"/>
                          </a:solidFill>
                        </a:defRPr>
                      </a:pPr>
                      <a:r>
                        <a:t>NOMBRE DEL ALUMNO</a:t>
                      </a:r>
                    </a:p>
                  </a:txBody>
                  <a:tcPr>
                    <a:solidFill>
                      <a:srgbClr val="1E415A"/>
                    </a:solidFill>
                  </a:tcPr>
                </a:tc>
                <a:tc>
                  <a:txBody>
                    <a:bodyPr/>
                    <a:lstStyle/>
                    <a:p>
                      <a:pPr algn="ctr">
                        <a:defRPr sz="1100" b="1">
                          <a:solidFill>
                            <a:srgbClr val="FFFFFF"/>
                          </a:solidFill>
                        </a:defRPr>
                      </a:pPr>
                      <a:r>
                        <a:t>MATRICULA</a:t>
                      </a:r>
                    </a:p>
                  </a:txBody>
                  <a:tcPr>
                    <a:solidFill>
                      <a:srgbClr val="1E415A"/>
                    </a:solidFill>
                  </a:tcPr>
                </a:tc>
              </a:tr>
              <a:tr h="411480">
                <a:tc>
                  <a:txBody>
                    <a:bodyPr/>
                    <a:lstStyle/>
                    <a:p>
                      <a:pPr algn="ctr">
                        <a:defRPr sz="1100" b="0">
                          <a:solidFill>
                            <a:srgbClr val="232B32"/>
                          </a:solidFill>
                        </a:defRPr>
                      </a:pPr>
                      <a:r>
                        <a:t>Brandon Farith Lopez Nanga</a:t>
                      </a:r>
                    </a:p>
                  </a:txBody>
                  <a:tcPr>
                    <a:solidFill>
                      <a:srgbClr val="F5F8FA"/>
                    </a:solidFill>
                  </a:tcPr>
                </a:tc>
                <a:tc>
                  <a:txBody>
                    <a:bodyPr/>
                    <a:lstStyle/>
                    <a:p>
                      <a:pPr algn="ctr">
                        <a:defRPr sz="1100" b="0">
                          <a:solidFill>
                            <a:srgbClr val="232B32"/>
                          </a:solidFill>
                        </a:defRPr>
                      </a:pPr>
                      <a:r>
                        <a:t>241260050</a:t>
                      </a:r>
                    </a:p>
                  </a:txBody>
                  <a:tcPr>
                    <a:solidFill>
                      <a:srgbClr val="F5F8FA"/>
                    </a:solidFill>
                  </a:tcPr>
                </a:tc>
              </a:tr>
            </a:tbl>
          </a:graphicData>
        </a:graphic>
      </p:graphicFrame>
      <p:pic>
        <p:nvPicPr>
          <p:cNvPr id="5" name="Picture 4" descr="image1.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4939" y="450075"/>
            <a:ext cx="2400654" cy="1059748"/>
          </a:xfrm>
          <a:prstGeom prst="rect">
            <a:avLst/>
          </a:prstGeom>
        </p:spPr>
      </p:pic>
      <p:pic>
        <p:nvPicPr>
          <p:cNvPr id="6" name="Picture 5" descr="image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875520" y="274320"/>
            <a:ext cx="1645920" cy="13472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642201" y="334476"/>
            <a:ext cx="2299092" cy="477054"/>
          </a:xfrm>
          <a:prstGeom prst="rect">
            <a:avLst/>
          </a:prstGeom>
          <a:noFill/>
        </p:spPr>
        <p:txBody>
          <a:bodyPr wrap="none">
            <a:spAutoFit/>
          </a:bodyPr>
          <a:lstStyle/>
          <a:p>
            <a:pPr algn="r">
              <a:defRPr sz="2500" b="1">
                <a:solidFill>
                  <a:srgbClr val="123048"/>
                </a:solidFill>
              </a:defRPr>
            </a:pPr>
            <a:r>
              <a:rPr lang="es-ES" dirty="0" smtClean="0"/>
              <a:t>INTRODUCCION</a:t>
            </a:r>
            <a:endParaRPr lang="es-ES"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rPr dirty="0"/>
              <a:t>RESUMEN</a:t>
            </a:r>
          </a:p>
        </p:txBody>
      </p:sp>
      <p:sp>
        <p:nvSpPr>
          <p:cNvPr id="6" name="TextBox 5"/>
          <p:cNvSpPr txBox="1"/>
          <p:nvPr/>
        </p:nvSpPr>
        <p:spPr>
          <a:xfrm>
            <a:off x="731520" y="1234440"/>
            <a:ext cx="10698480" cy="3165803"/>
          </a:xfrm>
          <a:prstGeom prst="rect">
            <a:avLst/>
          </a:prstGeom>
          <a:noFill/>
        </p:spPr>
        <p:txBody>
          <a:bodyPr wrap="square" lIns="73152" rIns="73152">
            <a:spAutoFit/>
          </a:bodyPr>
          <a:lstStyle/>
          <a:p>
            <a:pPr algn="just">
              <a:lnSpc>
                <a:spcPct val="150000"/>
              </a:lnSpc>
              <a:spcAft>
                <a:spcPts val="700"/>
              </a:spcAft>
              <a:defRPr sz="1500" b="0">
                <a:solidFill>
                  <a:srgbClr val="232B32"/>
                </a:solidFill>
              </a:defRPr>
            </a:pPr>
            <a:r>
              <a:rPr dirty="0">
                <a:latin typeface="Arial" panose="020B0604020202020204" pitchFamily="34" charset="0"/>
                <a:cs typeface="Arial" panose="020B0604020202020204" pitchFamily="34" charset="0"/>
              </a:rPr>
              <a:t>El </a:t>
            </a:r>
            <a:r>
              <a:rPr dirty="0" err="1">
                <a:latin typeface="Arial" panose="020B0604020202020204" pitchFamily="34" charset="0"/>
                <a:cs typeface="Arial" panose="020B0604020202020204" pitchFamily="34" charset="0"/>
              </a:rPr>
              <a:t>presente</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proyecto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integrador</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aborda</a:t>
            </a:r>
            <a:r>
              <a:rPr dirty="0">
                <a:latin typeface="Arial" panose="020B0604020202020204" pitchFamily="34" charset="0"/>
                <a:cs typeface="Arial" panose="020B0604020202020204" pitchFamily="34" charset="0"/>
              </a:rPr>
              <a:t> el </a:t>
            </a:r>
            <a:r>
              <a:rPr dirty="0" err="1">
                <a:latin typeface="Arial" panose="020B0604020202020204" pitchFamily="34" charset="0"/>
                <a:cs typeface="Arial" panose="020B0604020202020204" pitchFamily="34" charset="0"/>
              </a:rPr>
              <a:t>diseño</a:t>
            </a:r>
            <a:r>
              <a:rPr dirty="0">
                <a:latin typeface="Arial" panose="020B0604020202020204" pitchFamily="34" charset="0"/>
                <a:cs typeface="Arial" panose="020B0604020202020204" pitchFamily="34" charset="0"/>
              </a:rPr>
              <a:t> y la </a:t>
            </a:r>
            <a:r>
              <a:rPr dirty="0" err="1">
                <a:latin typeface="Arial" panose="020B0604020202020204" pitchFamily="34" charset="0"/>
                <a:cs typeface="Arial" panose="020B0604020202020204" pitchFamily="34" charset="0"/>
              </a:rPr>
              <a:t>simulación</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computacional</a:t>
            </a:r>
            <a:r>
              <a:rPr dirty="0">
                <a:latin typeface="Arial" panose="020B0604020202020204" pitchFamily="34" charset="0"/>
                <a:cs typeface="Arial" panose="020B0604020202020204" pitchFamily="34" charset="0"/>
              </a:rPr>
              <a:t> de un </a:t>
            </a:r>
            <a:r>
              <a:rPr dirty="0" err="1">
                <a:latin typeface="Arial" panose="020B0604020202020204" pitchFamily="34" charset="0"/>
                <a:cs typeface="Arial" panose="020B0604020202020204" pitchFamily="34" charset="0"/>
              </a:rPr>
              <a:t>proceso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operativo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dentro</a:t>
            </a:r>
            <a:r>
              <a:rPr dirty="0">
                <a:latin typeface="Arial" panose="020B0604020202020204" pitchFamily="34" charset="0"/>
                <a:cs typeface="Arial" panose="020B0604020202020204" pitchFamily="34" charset="0"/>
              </a:rPr>
              <a:t> de un taller, con el </a:t>
            </a:r>
            <a:r>
              <a:rPr dirty="0" err="1">
                <a:latin typeface="Arial" panose="020B0604020202020204" pitchFamily="34" charset="0"/>
                <a:cs typeface="Arial" panose="020B0604020202020204" pitchFamily="34" charset="0"/>
              </a:rPr>
              <a:t>propósito</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analizar</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su</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comportamiento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estocástico</a:t>
            </a:r>
            <a:r>
              <a:rPr dirty="0">
                <a:latin typeface="Arial" panose="020B0604020202020204" pitchFamily="34" charset="0"/>
                <a:cs typeface="Arial" panose="020B0604020202020204" pitchFamily="34" charset="0"/>
              </a:rPr>
              <a:t>, la </a:t>
            </a:r>
            <a:r>
              <a:rPr dirty="0" err="1">
                <a:latin typeface="Arial" panose="020B0604020202020204" pitchFamily="34" charset="0"/>
                <a:cs typeface="Arial" panose="020B0604020202020204" pitchFamily="34" charset="0"/>
              </a:rPr>
              <a:t>utilización</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recursos</a:t>
            </a:r>
            <a:r>
              <a:rPr dirty="0">
                <a:latin typeface="Arial" panose="020B0604020202020204" pitchFamily="34" charset="0"/>
                <a:cs typeface="Arial" panose="020B0604020202020204" pitchFamily="34" charset="0"/>
              </a:rPr>
              <a:t> y la </a:t>
            </a:r>
            <a:r>
              <a:rPr dirty="0" err="1">
                <a:latin typeface="Arial" panose="020B0604020202020204" pitchFamily="34" charset="0"/>
                <a:cs typeface="Arial" panose="020B0604020202020204" pitchFamily="34" charset="0"/>
              </a:rPr>
              <a:t>identificación</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cuellos</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botella</a:t>
            </a:r>
            <a:r>
              <a:rPr dirty="0">
                <a:latin typeface="Arial" panose="020B0604020202020204" pitchFamily="34" charset="0"/>
                <a:cs typeface="Arial" panose="020B0604020202020204" pitchFamily="34" charset="0"/>
              </a:rPr>
              <a:t>. Para </a:t>
            </a:r>
            <a:r>
              <a:rPr dirty="0" err="1">
                <a:latin typeface="Arial" panose="020B0604020202020204" pitchFamily="34" charset="0"/>
                <a:cs typeface="Arial" panose="020B0604020202020204" pitchFamily="34" charset="0"/>
              </a:rPr>
              <a:t>lograrlo</a:t>
            </a:r>
            <a:r>
              <a:rPr dirty="0">
                <a:latin typeface="Arial" panose="020B0604020202020204" pitchFamily="34" charset="0"/>
                <a:cs typeface="Arial" panose="020B0604020202020204" pitchFamily="34" charset="0"/>
              </a:rPr>
              <a:t>, se </a:t>
            </a:r>
            <a:r>
              <a:rPr dirty="0" err="1">
                <a:latin typeface="Arial" panose="020B0604020202020204" pitchFamily="34" charset="0"/>
                <a:cs typeface="Arial" panose="020B0604020202020204" pitchFamily="34" charset="0"/>
              </a:rPr>
              <a:t>desarrolló</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una</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metodología</a:t>
            </a:r>
            <a:r>
              <a:rPr dirty="0">
                <a:latin typeface="Arial" panose="020B0604020202020204" pitchFamily="34" charset="0"/>
                <a:cs typeface="Arial" panose="020B0604020202020204" pitchFamily="34" charset="0"/>
              </a:rPr>
              <a:t> dual: </a:t>
            </a:r>
            <a:r>
              <a:rPr dirty="0" err="1">
                <a:latin typeface="Arial" panose="020B0604020202020204" pitchFamily="34" charset="0"/>
                <a:cs typeface="Arial" panose="020B0604020202020204" pitchFamily="34" charset="0"/>
              </a:rPr>
              <a:t>por</a:t>
            </a:r>
            <a:r>
              <a:rPr dirty="0">
                <a:latin typeface="Arial" panose="020B0604020202020204" pitchFamily="34" charset="0"/>
                <a:cs typeface="Arial" panose="020B0604020202020204" pitchFamily="34" charset="0"/>
              </a:rPr>
              <a:t> un </a:t>
            </a:r>
            <a:r>
              <a:rPr dirty="0" err="1">
                <a:latin typeface="Arial" panose="020B0604020202020204" pitchFamily="34" charset="0"/>
                <a:cs typeface="Arial" panose="020B0604020202020204" pitchFamily="34" charset="0"/>
              </a:rPr>
              <a:t>lado</a:t>
            </a:r>
            <a:r>
              <a:rPr dirty="0">
                <a:latin typeface="Arial" panose="020B0604020202020204" pitchFamily="34" charset="0"/>
                <a:cs typeface="Arial" panose="020B0604020202020204" pitchFamily="34" charset="0"/>
              </a:rPr>
              <a:t>, el </a:t>
            </a:r>
            <a:r>
              <a:rPr dirty="0" err="1">
                <a:latin typeface="Arial" panose="020B0604020202020204" pitchFamily="34" charset="0"/>
                <a:cs typeface="Arial" panose="020B0604020202020204" pitchFamily="34" charset="0"/>
              </a:rPr>
              <a:t>modelado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gráfico</a:t>
            </a:r>
            <a:r>
              <a:rPr dirty="0">
                <a:latin typeface="Arial" panose="020B0604020202020204" pitchFamily="34" charset="0"/>
                <a:cs typeface="Arial" panose="020B0604020202020204" pitchFamily="34" charset="0"/>
              </a:rPr>
              <a:t> y la </a:t>
            </a:r>
            <a:r>
              <a:rPr dirty="0" err="1">
                <a:latin typeface="Arial" panose="020B0604020202020204" pitchFamily="34" charset="0"/>
                <a:cs typeface="Arial" panose="020B0604020202020204" pitchFamily="34" charset="0"/>
              </a:rPr>
              <a:t>simulación</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flujos</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trabajo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mediante</a:t>
            </a:r>
            <a:r>
              <a:rPr dirty="0">
                <a:latin typeface="Arial" panose="020B0604020202020204" pitchFamily="34" charset="0"/>
                <a:cs typeface="Arial" panose="020B0604020202020204" pitchFamily="34" charset="0"/>
              </a:rPr>
              <a:t> la </a:t>
            </a:r>
            <a:r>
              <a:rPr dirty="0" err="1">
                <a:latin typeface="Arial" panose="020B0604020202020204" pitchFamily="34" charset="0"/>
                <a:cs typeface="Arial" panose="020B0604020202020204" pitchFamily="34" charset="0"/>
              </a:rPr>
              <a:t>implementación</a:t>
            </a:r>
            <a:r>
              <a:rPr dirty="0">
                <a:latin typeface="Arial" panose="020B0604020202020204" pitchFamily="34" charset="0"/>
                <a:cs typeface="Arial" panose="020B0604020202020204" pitchFamily="34" charset="0"/>
              </a:rPr>
              <a:t> del </a:t>
            </a:r>
            <a:r>
              <a:rPr dirty="0" err="1">
                <a:latin typeface="Arial" panose="020B0604020202020204" pitchFamily="34" charset="0"/>
                <a:cs typeface="Arial" panose="020B0604020202020204" pitchFamily="34" charset="0"/>
              </a:rPr>
              <a:t>mismo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proceso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en</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tres</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plataformas</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gestión</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procesos</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negocio</a:t>
            </a:r>
            <a:r>
              <a:rPr dirty="0">
                <a:latin typeface="Arial" panose="020B0604020202020204" pitchFamily="34" charset="0"/>
                <a:cs typeface="Arial" panose="020B0604020202020204" pitchFamily="34" charset="0"/>
              </a:rPr>
              <a:t> (BPMN): </a:t>
            </a:r>
            <a:r>
              <a:rPr dirty="0" err="1">
                <a:latin typeface="Arial" panose="020B0604020202020204" pitchFamily="34" charset="0"/>
                <a:cs typeface="Arial" panose="020B0604020202020204" pitchFamily="34" charset="0"/>
              </a:rPr>
              <a:t>Camunda</a:t>
            </a:r>
            <a:r>
              <a:rPr dirty="0">
                <a:latin typeface="Arial" panose="020B0604020202020204" pitchFamily="34" charset="0"/>
                <a:cs typeface="Arial" panose="020B0604020202020204" pitchFamily="34" charset="0"/>
              </a:rPr>
              <a:t> Modeler, </a:t>
            </a:r>
            <a:r>
              <a:rPr dirty="0" err="1">
                <a:latin typeface="Arial" panose="020B0604020202020204" pitchFamily="34" charset="0"/>
                <a:cs typeface="Arial" panose="020B0604020202020204" pitchFamily="34" charset="0"/>
              </a:rPr>
              <a:t>Bizagi</a:t>
            </a:r>
            <a:r>
              <a:rPr dirty="0">
                <a:latin typeface="Arial" panose="020B0604020202020204" pitchFamily="34" charset="0"/>
                <a:cs typeface="Arial" panose="020B0604020202020204" pitchFamily="34" charset="0"/>
              </a:rPr>
              <a:t> Modeler y Bonita Studio. </a:t>
            </a:r>
            <a:r>
              <a:rPr dirty="0" err="1">
                <a:latin typeface="Arial" panose="020B0604020202020204" pitchFamily="34" charset="0"/>
                <a:cs typeface="Arial" panose="020B0604020202020204" pitchFamily="34" charset="0"/>
              </a:rPr>
              <a:t>Por</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otro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lado</a:t>
            </a:r>
            <a:r>
              <a:rPr dirty="0">
                <a:latin typeface="Arial" panose="020B0604020202020204" pitchFamily="34" charset="0"/>
                <a:cs typeface="Arial" panose="020B0604020202020204" pitchFamily="34" charset="0"/>
              </a:rPr>
              <a:t>, se </a:t>
            </a:r>
            <a:r>
              <a:rPr dirty="0" err="1">
                <a:latin typeface="Arial" panose="020B0604020202020204" pitchFamily="34" charset="0"/>
                <a:cs typeface="Arial" panose="020B0604020202020204" pitchFamily="34" charset="0"/>
              </a:rPr>
              <a:t>diseñó</a:t>
            </a:r>
            <a:r>
              <a:rPr dirty="0">
                <a:latin typeface="Arial" panose="020B0604020202020204" pitchFamily="34" charset="0"/>
                <a:cs typeface="Arial" panose="020B0604020202020204" pitchFamily="34" charset="0"/>
              </a:rPr>
              <a:t> e </a:t>
            </a:r>
            <a:r>
              <a:rPr dirty="0" err="1">
                <a:latin typeface="Arial" panose="020B0604020202020204" pitchFamily="34" charset="0"/>
                <a:cs typeface="Arial" panose="020B0604020202020204" pitchFamily="34" charset="0"/>
              </a:rPr>
              <a:t>implementó</a:t>
            </a:r>
            <a:r>
              <a:rPr dirty="0">
                <a:latin typeface="Arial" panose="020B0604020202020204" pitchFamily="34" charset="0"/>
                <a:cs typeface="Arial" panose="020B0604020202020204" pitchFamily="34" charset="0"/>
              </a:rPr>
              <a:t> un motor de </a:t>
            </a:r>
            <a:r>
              <a:rPr dirty="0" err="1">
                <a:latin typeface="Arial" panose="020B0604020202020204" pitchFamily="34" charset="0"/>
                <a:cs typeface="Arial" panose="020B0604020202020204" pitchFamily="34" charset="0"/>
              </a:rPr>
              <a:t>simulación</a:t>
            </a:r>
            <a:r>
              <a:rPr dirty="0">
                <a:latin typeface="Arial" panose="020B0604020202020204" pitchFamily="34" charset="0"/>
                <a:cs typeface="Arial" panose="020B0604020202020204" pitchFamily="34" charset="0"/>
              </a:rPr>
              <a:t> y </a:t>
            </a:r>
            <a:r>
              <a:rPr dirty="0" err="1">
                <a:latin typeface="Arial" panose="020B0604020202020204" pitchFamily="34" charset="0"/>
                <a:cs typeface="Arial" panose="020B0604020202020204" pitchFamily="34" charset="0"/>
              </a:rPr>
              <a:t>procesamiento</a:t>
            </a:r>
            <a:r>
              <a:rPr dirty="0">
                <a:latin typeface="Arial" panose="020B0604020202020204" pitchFamily="34" charset="0"/>
                <a:cs typeface="Arial" panose="020B0604020202020204" pitchFamily="34" charset="0"/>
              </a:rPr>
              <a:t> de variables </a:t>
            </a:r>
            <a:r>
              <a:rPr dirty="0" err="1">
                <a:latin typeface="Arial" panose="020B0604020202020204" pitchFamily="34" charset="0"/>
                <a:cs typeface="Arial" panose="020B0604020202020204" pitchFamily="34" charset="0"/>
              </a:rPr>
              <a:t>aleatorias</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en</a:t>
            </a:r>
            <a:r>
              <a:rPr dirty="0">
                <a:latin typeface="Arial" panose="020B0604020202020204" pitchFamily="34" charset="0"/>
                <a:cs typeface="Arial" panose="020B0604020202020204" pitchFamily="34" charset="0"/>
              </a:rPr>
              <a:t> el </a:t>
            </a:r>
            <a:r>
              <a:rPr dirty="0" err="1">
                <a:latin typeface="Arial" panose="020B0604020202020204" pitchFamily="34" charset="0"/>
                <a:cs typeface="Arial" panose="020B0604020202020204" pitchFamily="34" charset="0"/>
              </a:rPr>
              <a:t>entorno</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desarrollo</a:t>
            </a:r>
            <a:r>
              <a:rPr dirty="0">
                <a:latin typeface="Arial" panose="020B0604020202020204" pitchFamily="34" charset="0"/>
                <a:cs typeface="Arial" panose="020B0604020202020204" pitchFamily="34" charset="0"/>
              </a:rPr>
              <a:t> IntelliJ IDEA, </a:t>
            </a:r>
            <a:r>
              <a:rPr dirty="0" err="1">
                <a:latin typeface="Arial" panose="020B0604020202020204" pitchFamily="34" charset="0"/>
                <a:cs typeface="Arial" panose="020B0604020202020204" pitchFamily="34" charset="0"/>
              </a:rPr>
              <a:t>integrando</a:t>
            </a:r>
            <a:r>
              <a:rPr dirty="0">
                <a:latin typeface="Arial" panose="020B0604020202020204" pitchFamily="34" charset="0"/>
                <a:cs typeface="Arial" panose="020B0604020202020204" pitchFamily="34" charset="0"/>
              </a:rPr>
              <a:t> las </a:t>
            </a:r>
            <a:r>
              <a:rPr dirty="0" err="1">
                <a:latin typeface="Arial" panose="020B0604020202020204" pitchFamily="34" charset="0"/>
                <a:cs typeface="Arial" panose="020B0604020202020204" pitchFamily="34" charset="0"/>
              </a:rPr>
              <a:t>fortalezas</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analíticas</a:t>
            </a:r>
            <a:r>
              <a:rPr dirty="0">
                <a:latin typeface="Arial" panose="020B0604020202020204" pitchFamily="34" charset="0"/>
                <a:cs typeface="Arial" panose="020B0604020202020204" pitchFamily="34" charset="0"/>
              </a:rPr>
              <a:t> y de </a:t>
            </a:r>
            <a:r>
              <a:rPr dirty="0" err="1">
                <a:latin typeface="Arial" panose="020B0604020202020204" pitchFamily="34" charset="0"/>
                <a:cs typeface="Arial" panose="020B0604020202020204" pitchFamily="34" charset="0"/>
              </a:rPr>
              <a:t>sintaxis</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los</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lenguajes</a:t>
            </a:r>
            <a:r>
              <a:rPr dirty="0">
                <a:latin typeface="Arial" panose="020B0604020202020204" pitchFamily="34" charset="0"/>
                <a:cs typeface="Arial" panose="020B0604020202020204" pitchFamily="34" charset="0"/>
              </a:rPr>
              <a:t> Python y R. Los </a:t>
            </a:r>
            <a:r>
              <a:rPr dirty="0" err="1">
                <a:latin typeface="Arial" panose="020B0604020202020204" pitchFamily="34" charset="0"/>
                <a:cs typeface="Arial" panose="020B0604020202020204" pitchFamily="34" charset="0"/>
              </a:rPr>
              <a:t>resultados</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demuestran</a:t>
            </a:r>
            <a:r>
              <a:rPr dirty="0">
                <a:latin typeface="Arial" panose="020B0604020202020204" pitchFamily="34" charset="0"/>
                <a:cs typeface="Arial" panose="020B0604020202020204" pitchFamily="34" charset="0"/>
              </a:rPr>
              <a:t> la </a:t>
            </a:r>
            <a:r>
              <a:rPr dirty="0" err="1">
                <a:latin typeface="Arial" panose="020B0604020202020204" pitchFamily="34" charset="0"/>
                <a:cs typeface="Arial" panose="020B0604020202020204" pitchFamily="34" charset="0"/>
              </a:rPr>
              <a:t>viabilidad</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combinar</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herramientas</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arquitectura</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empresarial</a:t>
            </a:r>
            <a:r>
              <a:rPr dirty="0">
                <a:latin typeface="Arial" panose="020B0604020202020204" pitchFamily="34" charset="0"/>
                <a:cs typeface="Arial" panose="020B0604020202020204" pitchFamily="34" charset="0"/>
              </a:rPr>
              <a:t> con </a:t>
            </a:r>
            <a:r>
              <a:rPr dirty="0" err="1">
                <a:latin typeface="Arial" panose="020B0604020202020204" pitchFamily="34" charset="0"/>
                <a:cs typeface="Arial" panose="020B0604020202020204" pitchFamily="34" charset="0"/>
              </a:rPr>
              <a:t>entornos</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programación</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avanzados</a:t>
            </a:r>
            <a:r>
              <a:rPr dirty="0">
                <a:latin typeface="Arial" panose="020B0604020202020204" pitchFamily="34" charset="0"/>
                <a:cs typeface="Arial" panose="020B0604020202020204" pitchFamily="34" charset="0"/>
              </a:rPr>
              <a:t> para </a:t>
            </a:r>
            <a:r>
              <a:rPr dirty="0" err="1">
                <a:latin typeface="Arial" panose="020B0604020202020204" pitchFamily="34" charset="0"/>
                <a:cs typeface="Arial" panose="020B0604020202020204" pitchFamily="34" charset="0"/>
              </a:rPr>
              <a:t>obtener</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modelos</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simulación</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precisos</a:t>
            </a:r>
            <a:r>
              <a:rPr dirty="0">
                <a:latin typeface="Arial" panose="020B0604020202020204" pitchFamily="34" charset="0"/>
                <a:cs typeface="Arial" panose="020B0604020202020204" pitchFamily="34" charset="0"/>
              </a:rPr>
              <a:t> y </a:t>
            </a:r>
            <a:r>
              <a:rPr dirty="0" err="1">
                <a:latin typeface="Arial" panose="020B0604020202020204" pitchFamily="34" charset="0"/>
                <a:cs typeface="Arial" panose="020B0604020202020204" pitchFamily="34" charset="0"/>
              </a:rPr>
              <a:t>escalables</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en</a:t>
            </a:r>
            <a:r>
              <a:rPr dirty="0">
                <a:latin typeface="Arial" panose="020B0604020202020204" pitchFamily="34" charset="0"/>
                <a:cs typeface="Arial" panose="020B0604020202020204" pitchFamily="34" charset="0"/>
              </a:rPr>
              <a:t> la </a:t>
            </a:r>
            <a:r>
              <a:rPr dirty="0" err="1">
                <a:latin typeface="Arial" panose="020B0604020202020204" pitchFamily="34" charset="0"/>
                <a:cs typeface="Arial" panose="020B0604020202020204" pitchFamily="34" charset="0"/>
              </a:rPr>
              <a:t>ingeniería</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sistemas</a:t>
            </a:r>
            <a:r>
              <a:rPr dirty="0">
                <a:latin typeface="Arial" panose="020B0604020202020204" pitchFamily="34" charset="0"/>
                <a:cs typeface="Arial" panose="020B0604020202020204" pitchFamily="34" charset="0"/>
              </a:rPr>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14141" y="274320"/>
            <a:ext cx="4333238" cy="477054"/>
          </a:xfrm>
          <a:prstGeom prst="rect">
            <a:avLst/>
          </a:prstGeom>
          <a:noFill/>
        </p:spPr>
        <p:txBody>
          <a:bodyPr wrap="none">
            <a:spAutoFit/>
          </a:bodyPr>
          <a:lstStyle/>
          <a:p>
            <a:pPr algn="ctr">
              <a:defRPr sz="2500" b="1">
                <a:solidFill>
                  <a:srgbClr val="123048"/>
                </a:solidFill>
              </a:defRPr>
            </a:pPr>
            <a:r>
              <a:rPr dirty="0"/>
              <a:t>1.1 </a:t>
            </a:r>
            <a:r>
              <a:rPr dirty="0" err="1"/>
              <a:t>Antecedentes</a:t>
            </a:r>
            <a:r>
              <a:rPr dirty="0"/>
              <a:t> del </a:t>
            </a:r>
            <a:r>
              <a:rPr dirty="0" err="1"/>
              <a:t>Problema</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1: PLANTEAMIENTO DEL PROBLEMA</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350" b="0">
                <a:solidFill>
                  <a:srgbClr val="232B32"/>
                </a:solidFill>
              </a:defRPr>
            </a:pPr>
            <a:r>
              <a:rPr dirty="0" err="1"/>
              <a:t>En</a:t>
            </a:r>
            <a:r>
              <a:rPr dirty="0"/>
              <a:t> el panorama actual de la </a:t>
            </a:r>
            <a:r>
              <a:rPr dirty="0" err="1"/>
              <a:t>ingeniería</a:t>
            </a:r>
            <a:r>
              <a:rPr dirty="0"/>
              <a:t> industrial y de </a:t>
            </a:r>
            <a:r>
              <a:rPr dirty="0" err="1"/>
              <a:t>sistemas</a:t>
            </a:r>
            <a:r>
              <a:rPr dirty="0"/>
              <a:t>, las </a:t>
            </a:r>
            <a:r>
              <a:rPr dirty="0" err="1"/>
              <a:t>organizaciones</a:t>
            </a:r>
            <a:r>
              <a:rPr dirty="0"/>
              <a:t> </a:t>
            </a:r>
            <a:r>
              <a:rPr dirty="0" err="1"/>
              <a:t>dedicadas</a:t>
            </a:r>
            <a:r>
              <a:rPr dirty="0"/>
              <a:t> a la </a:t>
            </a:r>
            <a:r>
              <a:rPr dirty="0" err="1"/>
              <a:t>prestación</a:t>
            </a:r>
            <a:r>
              <a:rPr dirty="0"/>
              <a:t> de </a:t>
            </a:r>
            <a:r>
              <a:rPr dirty="0" err="1"/>
              <a:t>servicios</a:t>
            </a:r>
            <a:r>
              <a:rPr dirty="0"/>
              <a:t> y </a:t>
            </a:r>
            <a:r>
              <a:rPr dirty="0" err="1"/>
              <a:t>manufactura</a:t>
            </a:r>
            <a:r>
              <a:rPr dirty="0"/>
              <a:t> tales </a:t>
            </a:r>
            <a:r>
              <a:rPr dirty="0" err="1"/>
              <a:t>como</a:t>
            </a:r>
            <a:r>
              <a:rPr dirty="0"/>
              <a:t> </a:t>
            </a:r>
            <a:r>
              <a:rPr dirty="0" err="1"/>
              <a:t>los</a:t>
            </a:r>
            <a:r>
              <a:rPr dirty="0"/>
              <a:t> </a:t>
            </a:r>
            <a:r>
              <a:rPr dirty="0" err="1"/>
              <a:t>talleres</a:t>
            </a:r>
            <a:r>
              <a:rPr dirty="0"/>
              <a:t> </a:t>
            </a:r>
            <a:r>
              <a:rPr dirty="0" err="1"/>
              <a:t>mecánicos</a:t>
            </a:r>
            <a:r>
              <a:rPr dirty="0"/>
              <a:t>, de </a:t>
            </a:r>
            <a:r>
              <a:rPr dirty="0" err="1"/>
              <a:t>mantenimiento</a:t>
            </a:r>
            <a:r>
              <a:rPr dirty="0"/>
              <a:t> o </a:t>
            </a:r>
            <a:r>
              <a:rPr dirty="0" err="1"/>
              <a:t>ensamble</a:t>
            </a:r>
            <a:r>
              <a:rPr dirty="0"/>
              <a:t> </a:t>
            </a:r>
            <a:r>
              <a:rPr dirty="0" err="1"/>
              <a:t>operan</a:t>
            </a:r>
            <a:r>
              <a:rPr dirty="0"/>
              <a:t> </a:t>
            </a:r>
            <a:r>
              <a:rPr dirty="0" err="1"/>
              <a:t>en</a:t>
            </a:r>
            <a:r>
              <a:rPr dirty="0"/>
              <a:t> </a:t>
            </a:r>
            <a:r>
              <a:rPr dirty="0" err="1"/>
              <a:t>entornos</a:t>
            </a:r>
            <a:r>
              <a:rPr dirty="0"/>
              <a:t> </a:t>
            </a:r>
            <a:r>
              <a:rPr dirty="0" err="1"/>
              <a:t>altamente</a:t>
            </a:r>
            <a:r>
              <a:rPr dirty="0"/>
              <a:t> </a:t>
            </a:r>
            <a:r>
              <a:rPr dirty="0" err="1"/>
              <a:t>dinámicos</a:t>
            </a:r>
            <a:r>
              <a:rPr dirty="0"/>
              <a:t> y </a:t>
            </a:r>
            <a:r>
              <a:rPr dirty="0" err="1"/>
              <a:t>competitivos</a:t>
            </a:r>
            <a:r>
              <a:rPr dirty="0"/>
              <a:t>. La </a:t>
            </a:r>
            <a:r>
              <a:rPr dirty="0" err="1"/>
              <a:t>correcta</a:t>
            </a:r>
            <a:r>
              <a:rPr dirty="0"/>
              <a:t> </a:t>
            </a:r>
            <a:r>
              <a:rPr dirty="0" err="1"/>
              <a:t>gestión</a:t>
            </a:r>
            <a:r>
              <a:rPr dirty="0"/>
              <a:t> de </a:t>
            </a:r>
            <a:r>
              <a:rPr dirty="0" err="1"/>
              <a:t>estos</a:t>
            </a:r>
            <a:r>
              <a:rPr dirty="0"/>
              <a:t> </a:t>
            </a:r>
            <a:r>
              <a:rPr dirty="0" err="1"/>
              <a:t>espacios</a:t>
            </a:r>
            <a:r>
              <a:rPr dirty="0"/>
              <a:t> </a:t>
            </a:r>
            <a:r>
              <a:rPr dirty="0" err="1"/>
              <a:t>requiere</a:t>
            </a:r>
            <a:r>
              <a:rPr dirty="0"/>
              <a:t> no solo </a:t>
            </a:r>
            <a:r>
              <a:rPr dirty="0" err="1"/>
              <a:t>una</a:t>
            </a:r>
            <a:r>
              <a:rPr dirty="0"/>
              <a:t> </a:t>
            </a:r>
            <a:r>
              <a:rPr dirty="0" err="1"/>
              <a:t>adecuada</a:t>
            </a:r>
            <a:r>
              <a:rPr dirty="0"/>
              <a:t> </a:t>
            </a:r>
            <a:r>
              <a:rPr dirty="0" err="1"/>
              <a:t>distribución</a:t>
            </a:r>
            <a:r>
              <a:rPr dirty="0"/>
              <a:t> </a:t>
            </a:r>
            <a:r>
              <a:rPr dirty="0" err="1"/>
              <a:t>física</a:t>
            </a:r>
            <a:r>
              <a:rPr dirty="0"/>
              <a:t>, </a:t>
            </a:r>
            <a:r>
              <a:rPr dirty="0" err="1"/>
              <a:t>sino</a:t>
            </a:r>
            <a:r>
              <a:rPr dirty="0"/>
              <a:t> </a:t>
            </a:r>
            <a:r>
              <a:rPr dirty="0" err="1"/>
              <a:t>también</a:t>
            </a:r>
            <a:r>
              <a:rPr dirty="0"/>
              <a:t> un </a:t>
            </a:r>
            <a:r>
              <a:rPr dirty="0" err="1"/>
              <a:t>profundo</a:t>
            </a:r>
            <a:r>
              <a:rPr dirty="0"/>
              <a:t> </a:t>
            </a:r>
            <a:r>
              <a:rPr dirty="0" err="1"/>
              <a:t>entendimiento</a:t>
            </a:r>
            <a:r>
              <a:rPr dirty="0"/>
              <a:t> de la </a:t>
            </a:r>
            <a:r>
              <a:rPr dirty="0" err="1"/>
              <a:t>variabilidad</a:t>
            </a:r>
            <a:r>
              <a:rPr dirty="0"/>
              <a:t> </a:t>
            </a:r>
            <a:r>
              <a:rPr dirty="0" err="1"/>
              <a:t>inherente</a:t>
            </a:r>
            <a:r>
              <a:rPr dirty="0"/>
              <a:t> a </a:t>
            </a:r>
            <a:r>
              <a:rPr dirty="0" err="1"/>
              <a:t>sus</a:t>
            </a:r>
            <a:r>
              <a:rPr dirty="0"/>
              <a:t> </a:t>
            </a:r>
            <a:r>
              <a:rPr dirty="0" err="1"/>
              <a:t>procesos</a:t>
            </a:r>
            <a:r>
              <a:rPr dirty="0"/>
              <a:t> </a:t>
            </a:r>
            <a:r>
              <a:rPr dirty="0" err="1"/>
              <a:t>diarios</a:t>
            </a:r>
            <a:r>
              <a:rPr dirty="0"/>
              <a:t>. </a:t>
            </a:r>
            <a:r>
              <a:rPr dirty="0" err="1"/>
              <a:t>Factores</a:t>
            </a:r>
            <a:r>
              <a:rPr dirty="0"/>
              <a:t> </a:t>
            </a:r>
            <a:r>
              <a:rPr dirty="0" err="1"/>
              <a:t>como</a:t>
            </a:r>
            <a:r>
              <a:rPr dirty="0"/>
              <a:t> la </a:t>
            </a:r>
            <a:r>
              <a:rPr dirty="0" err="1"/>
              <a:t>llegada</a:t>
            </a:r>
            <a:r>
              <a:rPr dirty="0"/>
              <a:t> </a:t>
            </a:r>
            <a:r>
              <a:rPr dirty="0" err="1"/>
              <a:t>aleatoria</a:t>
            </a:r>
            <a:r>
              <a:rPr dirty="0"/>
              <a:t> de solicitudes de </a:t>
            </a:r>
            <a:r>
              <a:rPr dirty="0" err="1"/>
              <a:t>servicio</a:t>
            </a:r>
            <a:r>
              <a:rPr dirty="0"/>
              <a:t> </a:t>
            </a:r>
            <a:r>
              <a:rPr dirty="0" err="1"/>
              <a:t>por</a:t>
            </a:r>
            <a:r>
              <a:rPr dirty="0"/>
              <a:t> parte de </a:t>
            </a:r>
            <a:r>
              <a:rPr dirty="0" err="1"/>
              <a:t>los</a:t>
            </a:r>
            <a:r>
              <a:rPr dirty="0"/>
              <a:t> </a:t>
            </a:r>
            <a:r>
              <a:rPr dirty="0" err="1"/>
              <a:t>clientes</a:t>
            </a:r>
            <a:r>
              <a:rPr dirty="0"/>
              <a:t>, la </a:t>
            </a:r>
            <a:r>
              <a:rPr dirty="0" err="1"/>
              <a:t>incertidumbre</a:t>
            </a:r>
            <a:r>
              <a:rPr dirty="0"/>
              <a:t> </a:t>
            </a:r>
            <a:r>
              <a:rPr dirty="0" err="1"/>
              <a:t>en</a:t>
            </a:r>
            <a:r>
              <a:rPr dirty="0"/>
              <a:t> </a:t>
            </a:r>
            <a:r>
              <a:rPr dirty="0" err="1"/>
              <a:t>los</a:t>
            </a:r>
            <a:r>
              <a:rPr dirty="0"/>
              <a:t> </a:t>
            </a:r>
            <a:r>
              <a:rPr dirty="0" err="1"/>
              <a:t>tiempos</a:t>
            </a:r>
            <a:r>
              <a:rPr dirty="0"/>
              <a:t> </a:t>
            </a:r>
            <a:r>
              <a:rPr dirty="0" err="1"/>
              <a:t>requeridos</a:t>
            </a:r>
            <a:r>
              <a:rPr dirty="0"/>
              <a:t> para </a:t>
            </a:r>
            <a:r>
              <a:rPr dirty="0" err="1"/>
              <a:t>efectuar</a:t>
            </a:r>
            <a:r>
              <a:rPr dirty="0"/>
              <a:t> </a:t>
            </a:r>
            <a:r>
              <a:rPr dirty="0" err="1"/>
              <a:t>diagnósticos</a:t>
            </a:r>
            <a:r>
              <a:rPr dirty="0"/>
              <a:t> </a:t>
            </a:r>
            <a:r>
              <a:rPr dirty="0" err="1"/>
              <a:t>precisos</a:t>
            </a:r>
            <a:r>
              <a:rPr dirty="0"/>
              <a:t>, la </a:t>
            </a:r>
            <a:r>
              <a:rPr dirty="0" err="1"/>
              <a:t>duración</a:t>
            </a:r>
            <a:r>
              <a:rPr dirty="0"/>
              <a:t> variable de las </a:t>
            </a:r>
            <a:r>
              <a:rPr dirty="0" err="1"/>
              <a:t>reparaciones</a:t>
            </a:r>
            <a:r>
              <a:rPr dirty="0"/>
              <a:t> </a:t>
            </a:r>
            <a:r>
              <a:rPr dirty="0" err="1"/>
              <a:t>según</a:t>
            </a:r>
            <a:r>
              <a:rPr dirty="0"/>
              <a:t> la </a:t>
            </a:r>
            <a:r>
              <a:rPr dirty="0" err="1"/>
              <a:t>complejidad</a:t>
            </a:r>
            <a:r>
              <a:rPr dirty="0"/>
              <a:t> del </a:t>
            </a:r>
            <a:r>
              <a:rPr dirty="0" err="1"/>
              <a:t>fallo</a:t>
            </a:r>
            <a:r>
              <a:rPr dirty="0"/>
              <a:t> y la </a:t>
            </a:r>
            <a:r>
              <a:rPr dirty="0" err="1"/>
              <a:t>disponibilidad</a:t>
            </a:r>
            <a:r>
              <a:rPr dirty="0"/>
              <a:t> </a:t>
            </a:r>
            <a:r>
              <a:rPr dirty="0" err="1"/>
              <a:t>limitada</a:t>
            </a:r>
            <a:r>
              <a:rPr dirty="0"/>
              <a:t> de personal </a:t>
            </a:r>
            <a:r>
              <a:rPr dirty="0" err="1"/>
              <a:t>técnico</a:t>
            </a:r>
            <a:r>
              <a:rPr dirty="0"/>
              <a:t> </a:t>
            </a:r>
            <a:r>
              <a:rPr dirty="0" err="1"/>
              <a:t>especializado</a:t>
            </a:r>
            <a:r>
              <a:rPr dirty="0"/>
              <a:t> </a:t>
            </a:r>
            <a:r>
              <a:rPr dirty="0" err="1"/>
              <a:t>introducen</a:t>
            </a:r>
            <a:r>
              <a:rPr dirty="0"/>
              <a:t> </a:t>
            </a:r>
            <a:r>
              <a:rPr dirty="0" err="1"/>
              <a:t>una</a:t>
            </a:r>
            <a:r>
              <a:rPr dirty="0"/>
              <a:t> </a:t>
            </a:r>
            <a:r>
              <a:rPr dirty="0" err="1"/>
              <a:t>fuerte</a:t>
            </a:r>
            <a:r>
              <a:rPr dirty="0"/>
              <a:t> </a:t>
            </a:r>
            <a:r>
              <a:rPr dirty="0" err="1"/>
              <a:t>naturaleza</a:t>
            </a:r>
            <a:r>
              <a:rPr dirty="0"/>
              <a:t> </a:t>
            </a:r>
            <a:r>
              <a:rPr dirty="0" err="1"/>
              <a:t>estocástica</a:t>
            </a:r>
            <a:r>
              <a:rPr dirty="0"/>
              <a:t> </a:t>
            </a:r>
            <a:r>
              <a:rPr dirty="0" err="1"/>
              <a:t>en</a:t>
            </a:r>
            <a:r>
              <a:rPr dirty="0"/>
              <a:t> el </a:t>
            </a:r>
            <a:r>
              <a:rPr dirty="0" err="1"/>
              <a:t>sistema</a:t>
            </a:r>
            <a:r>
              <a:rPr dirty="0"/>
              <a:t>.</a:t>
            </a:r>
          </a:p>
          <a:p>
            <a:pPr>
              <a:spcAft>
                <a:spcPts val="700"/>
              </a:spcAft>
              <a:defRPr sz="1350" b="0">
                <a:solidFill>
                  <a:srgbClr val="232B32"/>
                </a:solidFill>
              </a:defRPr>
            </a:pPr>
            <a:endParaRPr dirty="0"/>
          </a:p>
          <a:p>
            <a:pPr>
              <a:spcAft>
                <a:spcPts val="700"/>
              </a:spcAft>
              <a:defRPr sz="1350" b="0">
                <a:solidFill>
                  <a:srgbClr val="232B32"/>
                </a:solidFill>
              </a:defRPr>
            </a:pPr>
            <a:r>
              <a:rPr dirty="0" err="1"/>
              <a:t>Históricamente</a:t>
            </a:r>
            <a:r>
              <a:rPr dirty="0"/>
              <a:t>, la </a:t>
            </a:r>
            <a:r>
              <a:rPr dirty="0" err="1"/>
              <a:t>planificación</a:t>
            </a:r>
            <a:r>
              <a:rPr dirty="0"/>
              <a:t> y el </a:t>
            </a:r>
            <a:r>
              <a:rPr dirty="0" err="1"/>
              <a:t>dimensionamiento</a:t>
            </a:r>
            <a:r>
              <a:rPr dirty="0"/>
              <a:t> de las </a:t>
            </a:r>
            <a:r>
              <a:rPr dirty="0" err="1"/>
              <a:t>capacidades</a:t>
            </a:r>
            <a:r>
              <a:rPr dirty="0"/>
              <a:t> de un taller se </a:t>
            </a:r>
            <a:r>
              <a:rPr dirty="0" err="1"/>
              <a:t>han</a:t>
            </a:r>
            <a:r>
              <a:rPr dirty="0"/>
              <a:t> </a:t>
            </a:r>
            <a:r>
              <a:rPr dirty="0" err="1"/>
              <a:t>llevado</a:t>
            </a:r>
            <a:r>
              <a:rPr dirty="0"/>
              <a:t> a </a:t>
            </a:r>
            <a:r>
              <a:rPr dirty="0" err="1"/>
              <a:t>cabo</a:t>
            </a:r>
            <a:r>
              <a:rPr dirty="0"/>
              <a:t> </a:t>
            </a:r>
            <a:r>
              <a:rPr dirty="0" err="1"/>
              <a:t>mediante</a:t>
            </a:r>
            <a:r>
              <a:rPr dirty="0"/>
              <a:t> </a:t>
            </a:r>
            <a:r>
              <a:rPr dirty="0" err="1"/>
              <a:t>métodos</a:t>
            </a:r>
            <a:r>
              <a:rPr dirty="0"/>
              <a:t> </a:t>
            </a:r>
            <a:r>
              <a:rPr dirty="0" err="1"/>
              <a:t>empíricos</a:t>
            </a:r>
            <a:r>
              <a:rPr dirty="0"/>
              <a:t>, </a:t>
            </a:r>
            <a:r>
              <a:rPr dirty="0" err="1"/>
              <a:t>basados</a:t>
            </a:r>
            <a:r>
              <a:rPr dirty="0"/>
              <a:t> </a:t>
            </a:r>
            <a:r>
              <a:rPr dirty="0" err="1"/>
              <a:t>en</a:t>
            </a:r>
            <a:r>
              <a:rPr dirty="0"/>
              <a:t> la </a:t>
            </a:r>
            <a:r>
              <a:rPr dirty="0" err="1"/>
              <a:t>intuición</a:t>
            </a:r>
            <a:r>
              <a:rPr dirty="0"/>
              <a:t> de </a:t>
            </a:r>
            <a:r>
              <a:rPr dirty="0" err="1"/>
              <a:t>los</a:t>
            </a:r>
            <a:r>
              <a:rPr dirty="0"/>
              <a:t> </a:t>
            </a:r>
            <a:r>
              <a:rPr dirty="0" err="1"/>
              <a:t>administradores</a:t>
            </a:r>
            <a:r>
              <a:rPr dirty="0"/>
              <a:t> o </a:t>
            </a:r>
            <a:r>
              <a:rPr dirty="0" err="1"/>
              <a:t>en</a:t>
            </a:r>
            <a:r>
              <a:rPr dirty="0"/>
              <a:t> </a:t>
            </a:r>
            <a:r>
              <a:rPr dirty="0" err="1"/>
              <a:t>pruebas</a:t>
            </a:r>
            <a:r>
              <a:rPr dirty="0"/>
              <a:t> de </a:t>
            </a:r>
            <a:r>
              <a:rPr dirty="0" err="1"/>
              <a:t>ensayo</a:t>
            </a:r>
            <a:r>
              <a:rPr dirty="0"/>
              <a:t> y error </a:t>
            </a:r>
            <a:r>
              <a:rPr dirty="0" err="1"/>
              <a:t>aplicadas</a:t>
            </a:r>
            <a:r>
              <a:rPr dirty="0"/>
              <a:t> </a:t>
            </a:r>
            <a:r>
              <a:rPr dirty="0" err="1"/>
              <a:t>directamente</a:t>
            </a:r>
            <a:r>
              <a:rPr dirty="0"/>
              <a:t> </a:t>
            </a:r>
            <a:r>
              <a:rPr dirty="0" err="1"/>
              <a:t>sobre</a:t>
            </a:r>
            <a:r>
              <a:rPr dirty="0"/>
              <a:t> la </a:t>
            </a:r>
            <a:r>
              <a:rPr dirty="0" err="1"/>
              <a:t>operación</a:t>
            </a:r>
            <a:r>
              <a:rPr dirty="0"/>
              <a:t> real. Este </a:t>
            </a:r>
            <a:r>
              <a:rPr dirty="0" err="1"/>
              <a:t>enfoque</a:t>
            </a:r>
            <a:r>
              <a:rPr dirty="0"/>
              <a:t> </a:t>
            </a:r>
            <a:r>
              <a:rPr dirty="0" err="1"/>
              <a:t>tradicional</a:t>
            </a:r>
            <a:r>
              <a:rPr dirty="0"/>
              <a:t> </a:t>
            </a:r>
            <a:r>
              <a:rPr dirty="0" err="1"/>
              <a:t>conlleva</a:t>
            </a:r>
            <a:r>
              <a:rPr dirty="0"/>
              <a:t> </a:t>
            </a:r>
            <a:r>
              <a:rPr dirty="0" err="1"/>
              <a:t>consecuencias</a:t>
            </a:r>
            <a:r>
              <a:rPr dirty="0"/>
              <a:t> </a:t>
            </a:r>
            <a:r>
              <a:rPr dirty="0" err="1"/>
              <a:t>negativas</a:t>
            </a:r>
            <a:r>
              <a:rPr dirty="0"/>
              <a:t> </a:t>
            </a:r>
            <a:r>
              <a:rPr dirty="0" err="1"/>
              <a:t>severas</a:t>
            </a:r>
            <a:r>
              <a:rPr dirty="0"/>
              <a:t>: </a:t>
            </a:r>
            <a:r>
              <a:rPr dirty="0" err="1"/>
              <a:t>costos</a:t>
            </a:r>
            <a:r>
              <a:rPr dirty="0"/>
              <a:t> </a:t>
            </a:r>
            <a:r>
              <a:rPr dirty="0" err="1"/>
              <a:t>operativos</a:t>
            </a:r>
            <a:r>
              <a:rPr dirty="0"/>
              <a:t> </a:t>
            </a:r>
            <a:r>
              <a:rPr dirty="0" err="1"/>
              <a:t>elevados</a:t>
            </a:r>
            <a:r>
              <a:rPr dirty="0"/>
              <a:t> </a:t>
            </a:r>
            <a:r>
              <a:rPr dirty="0" err="1"/>
              <a:t>por</a:t>
            </a:r>
            <a:r>
              <a:rPr dirty="0"/>
              <a:t> </a:t>
            </a:r>
            <a:r>
              <a:rPr dirty="0" err="1"/>
              <a:t>tiempos</a:t>
            </a:r>
            <a:r>
              <a:rPr dirty="0"/>
              <a:t> </a:t>
            </a:r>
            <a:r>
              <a:rPr dirty="0" err="1"/>
              <a:t>muertos</a:t>
            </a:r>
            <a:r>
              <a:rPr dirty="0"/>
              <a:t> de personal, </a:t>
            </a:r>
            <a:r>
              <a:rPr dirty="0" err="1"/>
              <a:t>saturación</a:t>
            </a:r>
            <a:r>
              <a:rPr dirty="0"/>
              <a:t> de las </a:t>
            </a:r>
            <a:r>
              <a:rPr dirty="0" err="1"/>
              <a:t>áreas</a:t>
            </a:r>
            <a:r>
              <a:rPr dirty="0"/>
              <a:t> de </a:t>
            </a:r>
            <a:r>
              <a:rPr dirty="0" err="1"/>
              <a:t>espera</a:t>
            </a:r>
            <a:r>
              <a:rPr dirty="0"/>
              <a:t>, </a:t>
            </a:r>
            <a:r>
              <a:rPr dirty="0" err="1"/>
              <a:t>retrasos</a:t>
            </a:r>
            <a:r>
              <a:rPr dirty="0"/>
              <a:t> </a:t>
            </a:r>
            <a:r>
              <a:rPr dirty="0" err="1"/>
              <a:t>en</a:t>
            </a:r>
            <a:r>
              <a:rPr dirty="0"/>
              <a:t> la </a:t>
            </a:r>
            <a:r>
              <a:rPr dirty="0" err="1"/>
              <a:t>entrega</a:t>
            </a:r>
            <a:r>
              <a:rPr dirty="0"/>
              <a:t> de </a:t>
            </a:r>
            <a:r>
              <a:rPr dirty="0" err="1"/>
              <a:t>trabajos</a:t>
            </a:r>
            <a:r>
              <a:rPr dirty="0"/>
              <a:t> y, </a:t>
            </a:r>
            <a:r>
              <a:rPr dirty="0" err="1"/>
              <a:t>en</a:t>
            </a:r>
            <a:r>
              <a:rPr dirty="0"/>
              <a:t> </a:t>
            </a:r>
            <a:r>
              <a:rPr dirty="0" err="1"/>
              <a:t>consecuencia</a:t>
            </a:r>
            <a:r>
              <a:rPr dirty="0"/>
              <a:t>, </a:t>
            </a:r>
            <a:r>
              <a:rPr dirty="0" err="1"/>
              <a:t>una</a:t>
            </a:r>
            <a:r>
              <a:rPr dirty="0"/>
              <a:t> </a:t>
            </a:r>
            <a:r>
              <a:rPr dirty="0" err="1"/>
              <a:t>disminución</a:t>
            </a:r>
            <a:r>
              <a:rPr dirty="0"/>
              <a:t> </a:t>
            </a:r>
            <a:r>
              <a:rPr dirty="0" err="1"/>
              <a:t>en</a:t>
            </a:r>
            <a:r>
              <a:rPr dirty="0"/>
              <a:t> la </a:t>
            </a:r>
            <a:r>
              <a:rPr dirty="0" err="1"/>
              <a:t>satisfacción</a:t>
            </a:r>
            <a:r>
              <a:rPr dirty="0"/>
              <a:t> del </a:t>
            </a:r>
            <a:r>
              <a:rPr dirty="0" err="1"/>
              <a:t>cliente</a:t>
            </a:r>
            <a:r>
              <a:rPr dirty="0"/>
              <a:t> final.</a:t>
            </a:r>
          </a:p>
          <a:p>
            <a:pPr>
              <a:spcAft>
                <a:spcPts val="700"/>
              </a:spcAft>
              <a:defRPr sz="1350" b="0">
                <a:solidFill>
                  <a:srgbClr val="232B32"/>
                </a:solidFill>
              </a:defRPr>
            </a:pPr>
            <a:endParaRPr dirty="0"/>
          </a:p>
          <a:p>
            <a:pPr>
              <a:spcAft>
                <a:spcPts val="700"/>
              </a:spcAft>
              <a:defRPr sz="1350" b="0">
                <a:solidFill>
                  <a:srgbClr val="232B32"/>
                </a:solidFill>
              </a:defRPr>
            </a:pPr>
            <a:r>
              <a:rPr dirty="0"/>
              <a:t>Ante </a:t>
            </a:r>
            <a:r>
              <a:rPr dirty="0" err="1"/>
              <a:t>esta</a:t>
            </a:r>
            <a:r>
              <a:rPr dirty="0"/>
              <a:t> </a:t>
            </a:r>
            <a:r>
              <a:rPr dirty="0" err="1"/>
              <a:t>problemática</a:t>
            </a:r>
            <a:r>
              <a:rPr dirty="0"/>
              <a:t>, la </a:t>
            </a:r>
            <a:r>
              <a:rPr dirty="0" err="1"/>
              <a:t>simulación</a:t>
            </a:r>
            <a:r>
              <a:rPr dirty="0"/>
              <a:t> </a:t>
            </a:r>
            <a:r>
              <a:rPr dirty="0" err="1"/>
              <a:t>por</a:t>
            </a:r>
            <a:r>
              <a:rPr dirty="0"/>
              <a:t> </a:t>
            </a:r>
            <a:r>
              <a:rPr dirty="0" err="1"/>
              <a:t>computadora</a:t>
            </a:r>
            <a:r>
              <a:rPr dirty="0"/>
              <a:t> se ha </a:t>
            </a:r>
            <a:r>
              <a:rPr dirty="0" err="1"/>
              <a:t>posicionado</a:t>
            </a:r>
            <a:r>
              <a:rPr dirty="0"/>
              <a:t> </a:t>
            </a:r>
            <a:r>
              <a:rPr dirty="0" err="1"/>
              <a:t>como</a:t>
            </a:r>
            <a:r>
              <a:rPr dirty="0"/>
              <a:t> </a:t>
            </a:r>
            <a:r>
              <a:rPr dirty="0" err="1"/>
              <a:t>una</a:t>
            </a:r>
            <a:r>
              <a:rPr dirty="0"/>
              <a:t> </a:t>
            </a:r>
            <a:r>
              <a:rPr dirty="0" err="1"/>
              <a:t>herramienta</a:t>
            </a:r>
            <a:r>
              <a:rPr dirty="0"/>
              <a:t> </a:t>
            </a:r>
            <a:r>
              <a:rPr dirty="0" err="1"/>
              <a:t>matemática</a:t>
            </a:r>
            <a:r>
              <a:rPr dirty="0"/>
              <a:t> y </a:t>
            </a:r>
            <a:r>
              <a:rPr dirty="0" err="1"/>
              <a:t>tecnológica</a:t>
            </a:r>
            <a:r>
              <a:rPr dirty="0"/>
              <a:t> indispensable. </a:t>
            </a:r>
            <a:r>
              <a:rPr dirty="0" err="1"/>
              <a:t>Permite</a:t>
            </a:r>
            <a:r>
              <a:rPr dirty="0"/>
              <a:t> </a:t>
            </a:r>
            <a:r>
              <a:rPr dirty="0" err="1"/>
              <a:t>imitar</a:t>
            </a:r>
            <a:r>
              <a:rPr dirty="0"/>
              <a:t> el </a:t>
            </a:r>
            <a:r>
              <a:rPr dirty="0" err="1"/>
              <a:t>comportamiento</a:t>
            </a:r>
            <a:r>
              <a:rPr dirty="0"/>
              <a:t> </a:t>
            </a:r>
            <a:r>
              <a:rPr dirty="0" err="1"/>
              <a:t>dinámico</a:t>
            </a:r>
            <a:r>
              <a:rPr dirty="0"/>
              <a:t> de </a:t>
            </a:r>
            <a:r>
              <a:rPr dirty="0" err="1"/>
              <a:t>los</a:t>
            </a:r>
            <a:r>
              <a:rPr dirty="0"/>
              <a:t> </a:t>
            </a:r>
            <a:r>
              <a:rPr dirty="0" err="1"/>
              <a:t>sistemas</a:t>
            </a:r>
            <a:r>
              <a:rPr dirty="0"/>
              <a:t> </a:t>
            </a:r>
            <a:r>
              <a:rPr dirty="0" err="1"/>
              <a:t>reales</a:t>
            </a:r>
            <a:r>
              <a:rPr dirty="0"/>
              <a:t> a lo largo del </a:t>
            </a:r>
            <a:r>
              <a:rPr dirty="0" err="1"/>
              <a:t>tiempo</a:t>
            </a:r>
            <a:r>
              <a:rPr dirty="0"/>
              <a:t> </a:t>
            </a:r>
            <a:r>
              <a:rPr dirty="0" err="1"/>
              <a:t>bajo</a:t>
            </a:r>
            <a:r>
              <a:rPr dirty="0"/>
              <a:t> </a:t>
            </a:r>
            <a:r>
              <a:rPr dirty="0" err="1"/>
              <a:t>escenarios</a:t>
            </a:r>
            <a:r>
              <a:rPr dirty="0"/>
              <a:t> </a:t>
            </a:r>
            <a:r>
              <a:rPr dirty="0" err="1"/>
              <a:t>virtuales</a:t>
            </a:r>
            <a:r>
              <a:rPr dirty="0"/>
              <a:t> </a:t>
            </a:r>
            <a:r>
              <a:rPr dirty="0" err="1"/>
              <a:t>controlados</a:t>
            </a:r>
            <a:r>
              <a:rPr dirty="0"/>
              <a:t>, </a:t>
            </a:r>
            <a:r>
              <a:rPr dirty="0" err="1"/>
              <a:t>facilitando</a:t>
            </a:r>
            <a:r>
              <a:rPr dirty="0"/>
              <a:t> la </a:t>
            </a:r>
            <a:r>
              <a:rPr dirty="0" err="1"/>
              <a:t>experimentación</a:t>
            </a:r>
            <a:r>
              <a:rPr dirty="0"/>
              <a:t> sin </a:t>
            </a:r>
            <a:r>
              <a:rPr dirty="0" err="1"/>
              <a:t>arriesgar</a:t>
            </a:r>
            <a:r>
              <a:rPr dirty="0"/>
              <a:t> </a:t>
            </a:r>
            <a:r>
              <a:rPr dirty="0" err="1"/>
              <a:t>recursos</a:t>
            </a:r>
            <a:r>
              <a:rPr dirty="0"/>
              <a:t> </a:t>
            </a:r>
            <a:r>
              <a:rPr dirty="0" err="1"/>
              <a:t>económicos</a:t>
            </a:r>
            <a:r>
              <a:rPr dirty="0"/>
              <a:t> </a:t>
            </a:r>
            <a:r>
              <a:rPr dirty="0" err="1"/>
              <a:t>ni</a:t>
            </a:r>
            <a:r>
              <a:rPr dirty="0"/>
              <a:t> </a:t>
            </a:r>
            <a:r>
              <a:rPr dirty="0" err="1"/>
              <a:t>interrumpir</a:t>
            </a:r>
            <a:r>
              <a:rPr dirty="0"/>
              <a:t> las </a:t>
            </a:r>
            <a:r>
              <a:rPr dirty="0" err="1"/>
              <a:t>operaciones</a:t>
            </a:r>
            <a:r>
              <a:rPr dirty="0"/>
              <a:t> </a:t>
            </a:r>
            <a:r>
              <a:rPr dirty="0" err="1"/>
              <a:t>cotidianas</a:t>
            </a:r>
            <a:r>
              <a:rPr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52924" y="274320"/>
            <a:ext cx="3855671" cy="477054"/>
          </a:xfrm>
          <a:prstGeom prst="rect">
            <a:avLst/>
          </a:prstGeom>
          <a:noFill/>
        </p:spPr>
        <p:txBody>
          <a:bodyPr wrap="none">
            <a:spAutoFit/>
          </a:bodyPr>
          <a:lstStyle/>
          <a:p>
            <a:pPr algn="ctr">
              <a:defRPr sz="2500" b="1">
                <a:solidFill>
                  <a:srgbClr val="123048"/>
                </a:solidFill>
              </a:defRPr>
            </a:pPr>
            <a:r>
              <a:rPr dirty="0"/>
              <a:t>1.2 </a:t>
            </a:r>
            <a:r>
              <a:rPr dirty="0" err="1"/>
              <a:t>Definición</a:t>
            </a:r>
            <a:r>
              <a:rPr dirty="0"/>
              <a:t> del </a:t>
            </a:r>
            <a:r>
              <a:rPr dirty="0" err="1"/>
              <a:t>Problema</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1: PLANTEAMIENTO DEL PROBLEMA</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rPr dirty="0"/>
              <a:t>La </a:t>
            </a:r>
            <a:r>
              <a:rPr dirty="0" err="1"/>
              <a:t>carencia</a:t>
            </a:r>
            <a:r>
              <a:rPr dirty="0"/>
              <a:t> de </a:t>
            </a:r>
            <a:r>
              <a:rPr dirty="0" err="1"/>
              <a:t>modelos</a:t>
            </a:r>
            <a:r>
              <a:rPr dirty="0"/>
              <a:t> </a:t>
            </a:r>
            <a:r>
              <a:rPr dirty="0" err="1"/>
              <a:t>formales</a:t>
            </a:r>
            <a:r>
              <a:rPr dirty="0"/>
              <a:t> de </a:t>
            </a:r>
            <a:r>
              <a:rPr dirty="0" err="1"/>
              <a:t>simulación</a:t>
            </a:r>
            <a:r>
              <a:rPr dirty="0"/>
              <a:t> y de </a:t>
            </a:r>
            <a:r>
              <a:rPr dirty="0" err="1"/>
              <a:t>arquitecturas</a:t>
            </a:r>
            <a:r>
              <a:rPr dirty="0"/>
              <a:t> de </a:t>
            </a:r>
            <a:r>
              <a:rPr dirty="0" err="1"/>
              <a:t>procesos</a:t>
            </a:r>
            <a:r>
              <a:rPr dirty="0"/>
              <a:t> </a:t>
            </a:r>
            <a:r>
              <a:rPr dirty="0" err="1"/>
              <a:t>estandarizadas</a:t>
            </a:r>
            <a:r>
              <a:rPr dirty="0"/>
              <a:t> </a:t>
            </a:r>
            <a:r>
              <a:rPr dirty="0" err="1"/>
              <a:t>en</a:t>
            </a:r>
            <a:r>
              <a:rPr dirty="0"/>
              <a:t> la </a:t>
            </a:r>
            <a:r>
              <a:rPr dirty="0" err="1"/>
              <a:t>fase</a:t>
            </a:r>
            <a:r>
              <a:rPr dirty="0"/>
              <a:t> de </a:t>
            </a:r>
            <a:r>
              <a:rPr dirty="0" err="1"/>
              <a:t>diseño</a:t>
            </a:r>
            <a:r>
              <a:rPr dirty="0"/>
              <a:t> y </a:t>
            </a:r>
            <a:r>
              <a:rPr dirty="0" err="1"/>
              <a:t>análisis</a:t>
            </a:r>
            <a:r>
              <a:rPr dirty="0"/>
              <a:t> de un taller </a:t>
            </a:r>
            <a:r>
              <a:rPr dirty="0" err="1"/>
              <a:t>operativo</a:t>
            </a:r>
            <a:r>
              <a:rPr dirty="0"/>
              <a:t> genera </a:t>
            </a:r>
            <a:r>
              <a:rPr dirty="0" err="1"/>
              <a:t>vacíos</a:t>
            </a:r>
            <a:r>
              <a:rPr dirty="0"/>
              <a:t> </a:t>
            </a:r>
            <a:r>
              <a:rPr dirty="0" err="1"/>
              <a:t>críticos</a:t>
            </a:r>
            <a:r>
              <a:rPr dirty="0"/>
              <a:t> </a:t>
            </a:r>
            <a:r>
              <a:rPr dirty="0" err="1"/>
              <a:t>en</a:t>
            </a:r>
            <a:r>
              <a:rPr dirty="0"/>
              <a:t> la </a:t>
            </a:r>
            <a:r>
              <a:rPr dirty="0" err="1"/>
              <a:t>toma</a:t>
            </a:r>
            <a:r>
              <a:rPr dirty="0"/>
              <a:t> de </a:t>
            </a:r>
            <a:r>
              <a:rPr dirty="0" err="1"/>
              <a:t>decisiones</a:t>
            </a:r>
            <a:r>
              <a:rPr dirty="0"/>
              <a:t> </a:t>
            </a:r>
            <a:r>
              <a:rPr dirty="0" err="1"/>
              <a:t>gerenciales</a:t>
            </a:r>
            <a:r>
              <a:rPr dirty="0"/>
              <a:t> y </a:t>
            </a:r>
            <a:r>
              <a:rPr dirty="0" err="1"/>
              <a:t>técnicas</a:t>
            </a:r>
            <a:r>
              <a:rPr dirty="0"/>
              <a:t>. </a:t>
            </a:r>
            <a:r>
              <a:rPr dirty="0" err="1"/>
              <a:t>Específicamente</a:t>
            </a:r>
            <a:r>
              <a:rPr dirty="0"/>
              <a:t>, se </a:t>
            </a:r>
            <a:r>
              <a:rPr dirty="0" err="1"/>
              <a:t>identifican</a:t>
            </a:r>
            <a:r>
              <a:rPr dirty="0"/>
              <a:t> las </a:t>
            </a:r>
            <a:r>
              <a:rPr dirty="0" err="1"/>
              <a:t>siguientes</a:t>
            </a:r>
            <a:r>
              <a:rPr dirty="0"/>
              <a:t> </a:t>
            </a:r>
            <a:r>
              <a:rPr dirty="0" err="1"/>
              <a:t>problemáticas</a:t>
            </a:r>
            <a:r>
              <a:rPr dirty="0"/>
              <a:t>:</a:t>
            </a:r>
          </a:p>
          <a:p>
            <a:pPr>
              <a:spcAft>
                <a:spcPts val="700"/>
              </a:spcAft>
              <a:defRPr sz="1500" b="0">
                <a:solidFill>
                  <a:srgbClr val="232B32"/>
                </a:solidFill>
              </a:defRPr>
            </a:pPr>
            <a:endParaRPr dirty="0"/>
          </a:p>
          <a:p>
            <a:pPr>
              <a:spcAft>
                <a:spcPts val="700"/>
              </a:spcAft>
              <a:defRPr sz="1500" b="0">
                <a:solidFill>
                  <a:srgbClr val="232B32"/>
                </a:solidFill>
              </a:defRPr>
            </a:pPr>
            <a:r>
              <a:rPr dirty="0" err="1"/>
              <a:t>Incertidumbre</a:t>
            </a:r>
            <a:r>
              <a:rPr dirty="0"/>
              <a:t> </a:t>
            </a:r>
            <a:r>
              <a:rPr dirty="0" err="1"/>
              <a:t>Operativa</a:t>
            </a:r>
            <a:r>
              <a:rPr dirty="0"/>
              <a:t>: </a:t>
            </a:r>
            <a:r>
              <a:rPr dirty="0" err="1"/>
              <a:t>Imposibilidad</a:t>
            </a:r>
            <a:r>
              <a:rPr dirty="0"/>
              <a:t> de </a:t>
            </a:r>
            <a:r>
              <a:rPr dirty="0" err="1"/>
              <a:t>prever</a:t>
            </a:r>
            <a:r>
              <a:rPr dirty="0"/>
              <a:t> con </a:t>
            </a:r>
            <a:r>
              <a:rPr dirty="0" err="1"/>
              <a:t>exactitud</a:t>
            </a:r>
            <a:r>
              <a:rPr dirty="0"/>
              <a:t> </a:t>
            </a:r>
            <a:r>
              <a:rPr dirty="0" err="1"/>
              <a:t>cómo</a:t>
            </a:r>
            <a:r>
              <a:rPr dirty="0"/>
              <a:t> </a:t>
            </a:r>
            <a:r>
              <a:rPr dirty="0" err="1"/>
              <a:t>fluctuarán</a:t>
            </a:r>
            <a:r>
              <a:rPr dirty="0"/>
              <a:t> las colas de </a:t>
            </a:r>
            <a:r>
              <a:rPr dirty="0" err="1"/>
              <a:t>espera</a:t>
            </a:r>
            <a:r>
              <a:rPr dirty="0"/>
              <a:t> y la </a:t>
            </a:r>
            <a:r>
              <a:rPr dirty="0" err="1"/>
              <a:t>carga</a:t>
            </a:r>
            <a:r>
              <a:rPr dirty="0"/>
              <a:t> de </a:t>
            </a:r>
            <a:r>
              <a:rPr dirty="0" err="1"/>
              <a:t>trabajo</a:t>
            </a:r>
            <a:r>
              <a:rPr dirty="0"/>
              <a:t> ante </a:t>
            </a:r>
            <a:r>
              <a:rPr dirty="0" err="1"/>
              <a:t>variaciones</a:t>
            </a:r>
            <a:r>
              <a:rPr dirty="0"/>
              <a:t> </a:t>
            </a:r>
            <a:r>
              <a:rPr dirty="0" err="1"/>
              <a:t>repentinas</a:t>
            </a:r>
            <a:r>
              <a:rPr dirty="0"/>
              <a:t> </a:t>
            </a:r>
            <a:r>
              <a:rPr dirty="0" err="1"/>
              <a:t>en</a:t>
            </a:r>
            <a:r>
              <a:rPr dirty="0"/>
              <a:t> la </a:t>
            </a:r>
            <a:r>
              <a:rPr dirty="0" err="1"/>
              <a:t>demanda</a:t>
            </a:r>
            <a:r>
              <a:rPr dirty="0"/>
              <a:t> de </a:t>
            </a:r>
            <a:r>
              <a:rPr dirty="0" err="1"/>
              <a:t>servicios</a:t>
            </a:r>
            <a:r>
              <a:rPr dirty="0"/>
              <a:t>.</a:t>
            </a:r>
          </a:p>
          <a:p>
            <a:pPr>
              <a:spcAft>
                <a:spcPts val="700"/>
              </a:spcAft>
              <a:defRPr sz="1500" b="0">
                <a:solidFill>
                  <a:srgbClr val="232B32"/>
                </a:solidFill>
              </a:defRPr>
            </a:pPr>
            <a:endParaRPr dirty="0"/>
          </a:p>
          <a:p>
            <a:pPr>
              <a:spcAft>
                <a:spcPts val="700"/>
              </a:spcAft>
              <a:defRPr sz="1500" b="0">
                <a:solidFill>
                  <a:srgbClr val="232B32"/>
                </a:solidFill>
              </a:defRPr>
            </a:pPr>
            <a:r>
              <a:rPr dirty="0" err="1"/>
              <a:t>Sobredimensionamiento</a:t>
            </a:r>
            <a:r>
              <a:rPr dirty="0"/>
              <a:t> o </a:t>
            </a:r>
            <a:r>
              <a:rPr dirty="0" err="1"/>
              <a:t>Subutilización</a:t>
            </a:r>
            <a:r>
              <a:rPr dirty="0"/>
              <a:t> de </a:t>
            </a:r>
            <a:r>
              <a:rPr dirty="0" err="1"/>
              <a:t>Recursos</a:t>
            </a:r>
            <a:r>
              <a:rPr dirty="0"/>
              <a:t>: </a:t>
            </a:r>
            <a:r>
              <a:rPr dirty="0" err="1"/>
              <a:t>Falta</a:t>
            </a:r>
            <a:r>
              <a:rPr dirty="0"/>
              <a:t> de </a:t>
            </a:r>
            <a:r>
              <a:rPr dirty="0" err="1"/>
              <a:t>criterios</a:t>
            </a:r>
            <a:r>
              <a:rPr dirty="0"/>
              <a:t> </a:t>
            </a:r>
            <a:r>
              <a:rPr dirty="0" err="1"/>
              <a:t>cuantitativos</a:t>
            </a:r>
            <a:r>
              <a:rPr dirty="0"/>
              <a:t> para </a:t>
            </a:r>
            <a:r>
              <a:rPr dirty="0" err="1"/>
              <a:t>determinar</a:t>
            </a:r>
            <a:r>
              <a:rPr dirty="0"/>
              <a:t> el </a:t>
            </a:r>
            <a:r>
              <a:rPr dirty="0" err="1"/>
              <a:t>número</a:t>
            </a:r>
            <a:r>
              <a:rPr dirty="0"/>
              <a:t> </a:t>
            </a:r>
            <a:r>
              <a:rPr dirty="0" err="1"/>
              <a:t>óptimo</a:t>
            </a:r>
            <a:r>
              <a:rPr dirty="0"/>
              <a:t> de </a:t>
            </a:r>
            <a:r>
              <a:rPr dirty="0" err="1"/>
              <a:t>estaciones</a:t>
            </a:r>
            <a:r>
              <a:rPr dirty="0"/>
              <a:t> de </a:t>
            </a:r>
            <a:r>
              <a:rPr dirty="0" err="1"/>
              <a:t>trabajo</a:t>
            </a:r>
            <a:r>
              <a:rPr dirty="0"/>
              <a:t> o </a:t>
            </a:r>
            <a:r>
              <a:rPr dirty="0" err="1"/>
              <a:t>técnicos</a:t>
            </a:r>
            <a:r>
              <a:rPr dirty="0"/>
              <a:t> </a:t>
            </a:r>
            <a:r>
              <a:rPr dirty="0" err="1"/>
              <a:t>requeridos</a:t>
            </a:r>
            <a:r>
              <a:rPr dirty="0"/>
              <a:t>, lo que </a:t>
            </a:r>
            <a:r>
              <a:rPr dirty="0" err="1"/>
              <a:t>provoca</a:t>
            </a:r>
            <a:r>
              <a:rPr dirty="0"/>
              <a:t> </a:t>
            </a:r>
            <a:r>
              <a:rPr dirty="0" err="1"/>
              <a:t>desperdicio</a:t>
            </a:r>
            <a:r>
              <a:rPr dirty="0"/>
              <a:t> de </a:t>
            </a:r>
            <a:r>
              <a:rPr dirty="0" err="1"/>
              <a:t>capacidad</a:t>
            </a:r>
            <a:r>
              <a:rPr dirty="0"/>
              <a:t> o </a:t>
            </a:r>
            <a:r>
              <a:rPr dirty="0" err="1"/>
              <a:t>cuellos</a:t>
            </a:r>
            <a:r>
              <a:rPr dirty="0"/>
              <a:t> de </a:t>
            </a:r>
            <a:r>
              <a:rPr dirty="0" err="1"/>
              <a:t>botella</a:t>
            </a:r>
            <a:r>
              <a:rPr dirty="0"/>
              <a:t> </a:t>
            </a:r>
            <a:r>
              <a:rPr dirty="0" err="1"/>
              <a:t>críticos</a:t>
            </a:r>
            <a:r>
              <a:rPr dirty="0"/>
              <a:t>.</a:t>
            </a:r>
          </a:p>
          <a:p>
            <a:pPr>
              <a:spcAft>
                <a:spcPts val="700"/>
              </a:spcAft>
              <a:defRPr sz="1500" b="0">
                <a:solidFill>
                  <a:srgbClr val="232B32"/>
                </a:solidFill>
              </a:defRPr>
            </a:pPr>
            <a:endParaRPr dirty="0"/>
          </a:p>
          <a:p>
            <a:pPr>
              <a:spcAft>
                <a:spcPts val="700"/>
              </a:spcAft>
              <a:defRPr sz="1500" b="0">
                <a:solidFill>
                  <a:srgbClr val="232B32"/>
                </a:solidFill>
              </a:defRPr>
            </a:pPr>
            <a:r>
              <a:rPr dirty="0" err="1"/>
              <a:t>Ausencia</a:t>
            </a:r>
            <a:r>
              <a:rPr dirty="0"/>
              <a:t> de </a:t>
            </a:r>
            <a:r>
              <a:rPr dirty="0" err="1"/>
              <a:t>Integración</a:t>
            </a:r>
            <a:r>
              <a:rPr dirty="0"/>
              <a:t> </a:t>
            </a:r>
            <a:r>
              <a:rPr dirty="0" err="1"/>
              <a:t>Tecnológica</a:t>
            </a:r>
            <a:r>
              <a:rPr dirty="0"/>
              <a:t>: </a:t>
            </a:r>
            <a:r>
              <a:rPr dirty="0" err="1"/>
              <a:t>Desconexión</a:t>
            </a:r>
            <a:r>
              <a:rPr dirty="0"/>
              <a:t> habitual entre las </a:t>
            </a:r>
            <a:r>
              <a:rPr dirty="0" err="1"/>
              <a:t>herramientas</a:t>
            </a:r>
            <a:r>
              <a:rPr dirty="0"/>
              <a:t> </a:t>
            </a:r>
            <a:r>
              <a:rPr dirty="0" err="1"/>
              <a:t>gráficas</a:t>
            </a:r>
            <a:r>
              <a:rPr dirty="0"/>
              <a:t> de </a:t>
            </a:r>
            <a:r>
              <a:rPr dirty="0" err="1"/>
              <a:t>modelado</a:t>
            </a:r>
            <a:r>
              <a:rPr dirty="0"/>
              <a:t> de </a:t>
            </a:r>
            <a:r>
              <a:rPr dirty="0" err="1"/>
              <a:t>procesos</a:t>
            </a:r>
            <a:r>
              <a:rPr dirty="0"/>
              <a:t> de </a:t>
            </a:r>
            <a:r>
              <a:rPr dirty="0" err="1"/>
              <a:t>negocio</a:t>
            </a:r>
            <a:r>
              <a:rPr dirty="0"/>
              <a:t> (BPMN) y </a:t>
            </a:r>
            <a:r>
              <a:rPr dirty="0" err="1"/>
              <a:t>los</a:t>
            </a:r>
            <a:r>
              <a:rPr dirty="0"/>
              <a:t> </a:t>
            </a:r>
            <a:r>
              <a:rPr dirty="0" err="1"/>
              <a:t>entornos</a:t>
            </a:r>
            <a:r>
              <a:rPr dirty="0"/>
              <a:t> de </a:t>
            </a:r>
            <a:r>
              <a:rPr dirty="0" err="1"/>
              <a:t>desarrollo</a:t>
            </a:r>
            <a:r>
              <a:rPr dirty="0"/>
              <a:t> de software </a:t>
            </a:r>
            <a:r>
              <a:rPr dirty="0" err="1"/>
              <a:t>donde</a:t>
            </a:r>
            <a:r>
              <a:rPr dirty="0"/>
              <a:t> se </a:t>
            </a:r>
            <a:r>
              <a:rPr dirty="0" err="1"/>
              <a:t>ejecutan</a:t>
            </a:r>
            <a:r>
              <a:rPr dirty="0"/>
              <a:t> </a:t>
            </a:r>
            <a:r>
              <a:rPr dirty="0" err="1"/>
              <a:t>los</a:t>
            </a:r>
            <a:r>
              <a:rPr dirty="0"/>
              <a:t> </a:t>
            </a:r>
            <a:r>
              <a:rPr dirty="0" err="1"/>
              <a:t>cálculos</a:t>
            </a:r>
            <a:r>
              <a:rPr dirty="0"/>
              <a:t> </a:t>
            </a:r>
            <a:r>
              <a:rPr dirty="0" err="1"/>
              <a:t>estadísticos</a:t>
            </a:r>
            <a:r>
              <a:rPr dirty="0"/>
              <a:t> y </a:t>
            </a:r>
            <a:r>
              <a:rPr dirty="0" err="1"/>
              <a:t>estocásticos</a:t>
            </a:r>
            <a:r>
              <a:rPr dirty="0"/>
              <a:t> </a:t>
            </a:r>
            <a:r>
              <a:rPr dirty="0" err="1"/>
              <a:t>avanzados</a:t>
            </a:r>
            <a:r>
              <a:rPr dirty="0"/>
              <a:t>, </a:t>
            </a:r>
            <a:r>
              <a:rPr dirty="0" err="1"/>
              <a:t>dificultando</a:t>
            </a:r>
            <a:r>
              <a:rPr dirty="0"/>
              <a:t> la </a:t>
            </a:r>
            <a:r>
              <a:rPr dirty="0" err="1"/>
              <a:t>presentación</a:t>
            </a:r>
            <a:r>
              <a:rPr dirty="0"/>
              <a:t> de </a:t>
            </a:r>
            <a:r>
              <a:rPr dirty="0" err="1"/>
              <a:t>informes</a:t>
            </a:r>
            <a:r>
              <a:rPr dirty="0"/>
              <a:t> </a:t>
            </a:r>
            <a:r>
              <a:rPr dirty="0" err="1"/>
              <a:t>integrales</a:t>
            </a:r>
            <a:r>
              <a:rPr dirty="0"/>
              <a:t> y </a:t>
            </a:r>
            <a:r>
              <a:rPr dirty="0" err="1"/>
              <a:t>profesionales</a:t>
            </a:r>
            <a:r>
              <a:rPr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937979" y="274320"/>
            <a:ext cx="2285561" cy="477054"/>
          </a:xfrm>
          <a:prstGeom prst="rect">
            <a:avLst/>
          </a:prstGeom>
          <a:noFill/>
        </p:spPr>
        <p:txBody>
          <a:bodyPr wrap="none">
            <a:spAutoFit/>
          </a:bodyPr>
          <a:lstStyle/>
          <a:p>
            <a:pPr algn="ctr">
              <a:defRPr sz="2500" b="1">
                <a:solidFill>
                  <a:srgbClr val="123048"/>
                </a:solidFill>
              </a:defRPr>
            </a:pPr>
            <a:r>
              <a:rPr dirty="0"/>
              <a:t>1.3 </a:t>
            </a:r>
            <a:r>
              <a:rPr dirty="0" err="1"/>
              <a:t>Justificación</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1: PLANTEAMIENTO DEL PROBLEMA</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La realización de este proyecto integrador se justifica bajo tres dimensiones fundamentales:</a:t>
            </a:r>
          </a:p>
          <a:p>
            <a:pPr>
              <a:spcAft>
                <a:spcPts val="700"/>
              </a:spcAft>
              <a:defRPr sz="1500" b="0">
                <a:solidFill>
                  <a:srgbClr val="232B32"/>
                </a:solidFill>
              </a:defRPr>
            </a:pPr>
            <a:endParaRPr/>
          </a:p>
          <a:p>
            <a:pPr>
              <a:spcAft>
                <a:spcPts val="700"/>
              </a:spcAft>
              <a:defRPr sz="1500" b="0">
                <a:solidFill>
                  <a:srgbClr val="232B32"/>
                </a:solidFill>
              </a:defRPr>
            </a:pPr>
            <a:r>
              <a:t>Relevancia Tecnológica y Académica: Permite consolidar y llevar a la práctica los conceptos teóricos adquiridos en la materia de Simulación, tales como la generación de números pseudoaleatorios, las pruebas estadísticas de uniformidad e independencia, el uso de distribuciones discretas y continuas, y la construcción de modelos estocásticos aplicados a problemas reales de ingeniería en sistemas computacionales.</a:t>
            </a:r>
          </a:p>
          <a:p>
            <a:pPr>
              <a:spcAft>
                <a:spcPts val="700"/>
              </a:spcAft>
              <a:defRPr sz="1500" b="0">
                <a:solidFill>
                  <a:srgbClr val="232B32"/>
                </a:solidFill>
              </a:defRPr>
            </a:pPr>
            <a:endParaRPr/>
          </a:p>
          <a:p>
            <a:pPr>
              <a:spcAft>
                <a:spcPts val="700"/>
              </a:spcAft>
              <a:defRPr sz="1500" b="0">
                <a:solidFill>
                  <a:srgbClr val="232B32"/>
                </a:solidFill>
              </a:defRPr>
            </a:pPr>
            <a:r>
              <a:t>Evaluación Comparativa Multiplataforma (BPMN): El modelado simultáneo del taller en tres motores de procesos de negocio diferentes (Camunda, Bizagi y Bonita) aporta un valor analítico único. Permite al estudiante evaluar de manera crítica las ventajas, limitaciones, sintaxis de ejecución, capacidades de simulación de tokens y curvas de aprendizaje de cada plataforma, determinando qué herramienta se adapta mejor a los requerimientos de una arquitectura empresarial.</a:t>
            </a:r>
          </a:p>
          <a:p>
            <a:pPr>
              <a:spcAft>
                <a:spcPts val="700"/>
              </a:spcAft>
              <a:defRPr sz="1500" b="0">
                <a:solidFill>
                  <a:srgbClr val="232B32"/>
                </a:solidFill>
              </a:defRPr>
            </a:pPr>
            <a:endParaRPr/>
          </a:p>
          <a:p>
            <a:pPr>
              <a:spcAft>
                <a:spcPts val="700"/>
              </a:spcAft>
              <a:defRPr sz="1500" b="0">
                <a:solidFill>
                  <a:srgbClr val="232B32"/>
                </a:solidFill>
              </a:defRPr>
            </a:pPr>
            <a:r>
              <a:t>Interoperabilidad Tecnológica (Python + R): El desarrollo de un motor computacional propio dentro del entorno profesional IntelliJ IDEA aprovecha las fortalezas sinérgicas de dos de los lenguajes más demandados en la industria actual: la versatilidad de Python para la estructuración de algoritmos y control de flujos, y la potencia matemática de R para el modelado probabilístico y estadístico. Esta integración resuelve la necesidad de contar con una herramienta robusta, flexible y totalmente personalizada para el procesamiento de variables aleatorias del taller.</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113347" y="274320"/>
            <a:ext cx="1934825" cy="477054"/>
          </a:xfrm>
          <a:prstGeom prst="rect">
            <a:avLst/>
          </a:prstGeom>
          <a:noFill/>
        </p:spPr>
        <p:txBody>
          <a:bodyPr wrap="none">
            <a:spAutoFit/>
          </a:bodyPr>
          <a:lstStyle/>
          <a:p>
            <a:pPr algn="ctr">
              <a:defRPr sz="2500" b="1">
                <a:solidFill>
                  <a:srgbClr val="123048"/>
                </a:solidFill>
              </a:defRPr>
            </a:pPr>
            <a:r>
              <a:rPr dirty="0"/>
              <a:t>1.4 </a:t>
            </a:r>
            <a:r>
              <a:rPr dirty="0" err="1"/>
              <a:t>Objetivos</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rPr dirty="0"/>
              <a:t>CAPÍTULO 1: PLANTEAMIENTO DEL PROBLEMA</a:t>
            </a:r>
          </a:p>
        </p:txBody>
      </p:sp>
      <p:sp>
        <p:nvSpPr>
          <p:cNvPr id="6" name="TextBox 5"/>
          <p:cNvSpPr txBox="1"/>
          <p:nvPr/>
        </p:nvSpPr>
        <p:spPr>
          <a:xfrm>
            <a:off x="731520" y="1234440"/>
            <a:ext cx="10698480" cy="4593565"/>
          </a:xfrm>
          <a:prstGeom prst="rect">
            <a:avLst/>
          </a:prstGeom>
          <a:noFill/>
        </p:spPr>
        <p:txBody>
          <a:bodyPr wrap="square" lIns="73152" rIns="73152">
            <a:spAutoFit/>
          </a:bodyPr>
          <a:lstStyle/>
          <a:p>
            <a:pPr>
              <a:spcAft>
                <a:spcPts val="700"/>
              </a:spcAft>
              <a:defRPr sz="1500" b="0">
                <a:solidFill>
                  <a:srgbClr val="232B32"/>
                </a:solidFill>
              </a:defRPr>
            </a:pPr>
            <a:r>
              <a:rPr b="1" dirty="0" err="1"/>
              <a:t>Objetivo</a:t>
            </a:r>
            <a:r>
              <a:rPr b="1" dirty="0"/>
              <a:t> General</a:t>
            </a:r>
          </a:p>
          <a:p>
            <a:pPr>
              <a:spcAft>
                <a:spcPts val="700"/>
              </a:spcAft>
              <a:defRPr sz="1500" b="0">
                <a:solidFill>
                  <a:srgbClr val="232B32"/>
                </a:solidFill>
              </a:defRPr>
            </a:pPr>
            <a:endParaRPr dirty="0"/>
          </a:p>
          <a:p>
            <a:pPr>
              <a:spcAft>
                <a:spcPts val="700"/>
              </a:spcAft>
              <a:defRPr sz="1500" b="0">
                <a:solidFill>
                  <a:srgbClr val="232B32"/>
                </a:solidFill>
              </a:defRPr>
            </a:pPr>
            <a:r>
              <a:rPr dirty="0" err="1"/>
              <a:t>Desarrollar</a:t>
            </a:r>
            <a:r>
              <a:rPr dirty="0"/>
              <a:t> </a:t>
            </a:r>
            <a:r>
              <a:rPr dirty="0" err="1"/>
              <a:t>una</a:t>
            </a:r>
            <a:r>
              <a:rPr dirty="0"/>
              <a:t> </a:t>
            </a:r>
            <a:r>
              <a:rPr dirty="0" err="1"/>
              <a:t>simulación</a:t>
            </a:r>
            <a:r>
              <a:rPr dirty="0"/>
              <a:t> integral de un taller </a:t>
            </a:r>
            <a:r>
              <a:rPr dirty="0" err="1"/>
              <a:t>mediante</a:t>
            </a:r>
            <a:r>
              <a:rPr dirty="0"/>
              <a:t> el </a:t>
            </a:r>
            <a:r>
              <a:rPr dirty="0" err="1"/>
              <a:t>modelado</a:t>
            </a:r>
            <a:r>
              <a:rPr dirty="0"/>
              <a:t> de </a:t>
            </a:r>
            <a:r>
              <a:rPr dirty="0" err="1"/>
              <a:t>procesos</a:t>
            </a:r>
            <a:r>
              <a:rPr dirty="0"/>
              <a:t> </a:t>
            </a:r>
            <a:r>
              <a:rPr dirty="0" err="1"/>
              <a:t>en</a:t>
            </a:r>
            <a:r>
              <a:rPr dirty="0"/>
              <a:t> </a:t>
            </a:r>
            <a:r>
              <a:rPr dirty="0" err="1"/>
              <a:t>Camunda</a:t>
            </a:r>
            <a:r>
              <a:rPr dirty="0"/>
              <a:t>, </a:t>
            </a:r>
            <a:r>
              <a:rPr dirty="0" err="1"/>
              <a:t>Bizagi</a:t>
            </a:r>
            <a:r>
              <a:rPr dirty="0"/>
              <a:t> y Bonita, </a:t>
            </a:r>
            <a:r>
              <a:rPr dirty="0" err="1"/>
              <a:t>respaldada</a:t>
            </a:r>
            <a:r>
              <a:rPr dirty="0"/>
              <a:t> </a:t>
            </a:r>
            <a:r>
              <a:rPr dirty="0" err="1"/>
              <a:t>por</a:t>
            </a:r>
            <a:r>
              <a:rPr dirty="0"/>
              <a:t> un motor de </a:t>
            </a:r>
            <a:r>
              <a:rPr dirty="0" err="1"/>
              <a:t>procesamiento</a:t>
            </a:r>
            <a:r>
              <a:rPr dirty="0"/>
              <a:t> </a:t>
            </a:r>
            <a:r>
              <a:rPr dirty="0" err="1"/>
              <a:t>estocástico</a:t>
            </a:r>
            <a:r>
              <a:rPr dirty="0"/>
              <a:t> </a:t>
            </a:r>
            <a:r>
              <a:rPr dirty="0" err="1"/>
              <a:t>implementado</a:t>
            </a:r>
            <a:r>
              <a:rPr dirty="0"/>
              <a:t> </a:t>
            </a:r>
            <a:r>
              <a:rPr dirty="0" err="1"/>
              <a:t>en</a:t>
            </a:r>
            <a:r>
              <a:rPr dirty="0"/>
              <a:t> IntelliJ IDEA con Python y R, para </a:t>
            </a:r>
            <a:r>
              <a:rPr dirty="0" err="1"/>
              <a:t>analizar</a:t>
            </a:r>
            <a:r>
              <a:rPr dirty="0"/>
              <a:t> el </a:t>
            </a:r>
            <a:r>
              <a:rPr dirty="0" err="1"/>
              <a:t>rendimiento</a:t>
            </a:r>
            <a:r>
              <a:rPr dirty="0"/>
              <a:t> </a:t>
            </a:r>
            <a:r>
              <a:rPr dirty="0" err="1"/>
              <a:t>operativo</a:t>
            </a:r>
            <a:r>
              <a:rPr dirty="0"/>
              <a:t>, la </a:t>
            </a:r>
            <a:r>
              <a:rPr dirty="0" err="1"/>
              <a:t>utilización</a:t>
            </a:r>
            <a:r>
              <a:rPr dirty="0"/>
              <a:t> de </a:t>
            </a:r>
            <a:r>
              <a:rPr dirty="0" err="1"/>
              <a:t>recursos</a:t>
            </a:r>
            <a:r>
              <a:rPr dirty="0"/>
              <a:t> y la </a:t>
            </a:r>
            <a:r>
              <a:rPr dirty="0" err="1"/>
              <a:t>variabilidad</a:t>
            </a:r>
            <a:r>
              <a:rPr dirty="0"/>
              <a:t> del </a:t>
            </a:r>
            <a:r>
              <a:rPr dirty="0" err="1"/>
              <a:t>sistema</a:t>
            </a:r>
            <a:r>
              <a:rPr dirty="0"/>
              <a:t>.</a:t>
            </a:r>
          </a:p>
          <a:p>
            <a:pPr>
              <a:spcAft>
                <a:spcPts val="700"/>
              </a:spcAft>
              <a:defRPr sz="1500" b="0">
                <a:solidFill>
                  <a:srgbClr val="232B32"/>
                </a:solidFill>
              </a:defRPr>
            </a:pPr>
            <a:endParaRPr dirty="0"/>
          </a:p>
          <a:p>
            <a:pPr>
              <a:spcAft>
                <a:spcPts val="700"/>
              </a:spcAft>
              <a:defRPr sz="1500" b="0">
                <a:solidFill>
                  <a:srgbClr val="232B32"/>
                </a:solidFill>
              </a:defRPr>
            </a:pPr>
            <a:r>
              <a:rPr b="1" dirty="0" err="1"/>
              <a:t>Objetivos</a:t>
            </a:r>
            <a:r>
              <a:rPr b="1" dirty="0"/>
              <a:t> </a:t>
            </a:r>
            <a:r>
              <a:rPr b="1" dirty="0" err="1"/>
              <a:t>Específicos</a:t>
            </a:r>
            <a:endParaRPr b="1" dirty="0"/>
          </a:p>
          <a:p>
            <a:pPr>
              <a:spcAft>
                <a:spcPts val="700"/>
              </a:spcAft>
              <a:defRPr sz="1500" b="0">
                <a:solidFill>
                  <a:srgbClr val="232B32"/>
                </a:solidFill>
              </a:defRPr>
            </a:pPr>
            <a:endParaRPr dirty="0"/>
          </a:p>
          <a:p>
            <a:pPr>
              <a:spcAft>
                <a:spcPts val="700"/>
              </a:spcAft>
              <a:defRPr sz="1500" b="0">
                <a:solidFill>
                  <a:srgbClr val="232B32"/>
                </a:solidFill>
              </a:defRPr>
            </a:pPr>
            <a:r>
              <a:rPr dirty="0" err="1"/>
              <a:t>Diseñar</a:t>
            </a:r>
            <a:r>
              <a:rPr dirty="0"/>
              <a:t> el </a:t>
            </a:r>
            <a:r>
              <a:rPr dirty="0" err="1"/>
              <a:t>diagrama</a:t>
            </a:r>
            <a:r>
              <a:rPr dirty="0"/>
              <a:t> de </a:t>
            </a:r>
            <a:r>
              <a:rPr dirty="0" err="1"/>
              <a:t>flujo</a:t>
            </a:r>
            <a:r>
              <a:rPr dirty="0"/>
              <a:t> </a:t>
            </a:r>
            <a:r>
              <a:rPr dirty="0" err="1"/>
              <a:t>operativo</a:t>
            </a:r>
            <a:r>
              <a:rPr dirty="0"/>
              <a:t> del taller </a:t>
            </a:r>
            <a:r>
              <a:rPr dirty="0" err="1"/>
              <a:t>utilizando</a:t>
            </a:r>
            <a:r>
              <a:rPr dirty="0"/>
              <a:t> la </a:t>
            </a:r>
            <a:r>
              <a:rPr dirty="0" err="1"/>
              <a:t>notación</a:t>
            </a:r>
            <a:r>
              <a:rPr dirty="0"/>
              <a:t> </a:t>
            </a:r>
            <a:r>
              <a:rPr dirty="0" err="1"/>
              <a:t>estándar</a:t>
            </a:r>
            <a:r>
              <a:rPr dirty="0"/>
              <a:t> BPMN, </a:t>
            </a:r>
            <a:r>
              <a:rPr dirty="0" err="1"/>
              <a:t>especificando</a:t>
            </a:r>
            <a:r>
              <a:rPr dirty="0"/>
              <a:t> </a:t>
            </a:r>
            <a:r>
              <a:rPr dirty="0" err="1"/>
              <a:t>compuertas</a:t>
            </a:r>
            <a:r>
              <a:rPr dirty="0"/>
              <a:t> </a:t>
            </a:r>
            <a:r>
              <a:rPr dirty="0" err="1"/>
              <a:t>lógicas</a:t>
            </a:r>
            <a:r>
              <a:rPr dirty="0"/>
              <a:t>, </a:t>
            </a:r>
            <a:r>
              <a:rPr dirty="0" err="1"/>
              <a:t>eventos</a:t>
            </a:r>
            <a:r>
              <a:rPr dirty="0"/>
              <a:t> de </a:t>
            </a:r>
            <a:r>
              <a:rPr dirty="0" err="1"/>
              <a:t>inicio</a:t>
            </a:r>
            <a:r>
              <a:rPr dirty="0"/>
              <a:t> y fin, </a:t>
            </a:r>
            <a:r>
              <a:rPr dirty="0" err="1"/>
              <a:t>tareas</a:t>
            </a:r>
            <a:r>
              <a:rPr dirty="0"/>
              <a:t> de </a:t>
            </a:r>
            <a:r>
              <a:rPr dirty="0" err="1"/>
              <a:t>diagnóstico</a:t>
            </a:r>
            <a:r>
              <a:rPr dirty="0"/>
              <a:t>, </a:t>
            </a:r>
            <a:r>
              <a:rPr dirty="0" err="1"/>
              <a:t>reparación</a:t>
            </a:r>
            <a:r>
              <a:rPr dirty="0"/>
              <a:t> y </a:t>
            </a:r>
            <a:r>
              <a:rPr dirty="0" err="1"/>
              <a:t>entrega</a:t>
            </a:r>
            <a:r>
              <a:rPr dirty="0"/>
              <a:t> </a:t>
            </a:r>
            <a:r>
              <a:rPr dirty="0" err="1"/>
              <a:t>en</a:t>
            </a:r>
            <a:r>
              <a:rPr dirty="0"/>
              <a:t> las </a:t>
            </a:r>
            <a:r>
              <a:rPr dirty="0" err="1"/>
              <a:t>plataformas</a:t>
            </a:r>
            <a:r>
              <a:rPr dirty="0"/>
              <a:t> </a:t>
            </a:r>
            <a:r>
              <a:rPr dirty="0" err="1"/>
              <a:t>Bizagi</a:t>
            </a:r>
            <a:r>
              <a:rPr dirty="0"/>
              <a:t> Modeler, </a:t>
            </a:r>
            <a:r>
              <a:rPr dirty="0" err="1"/>
              <a:t>Camunda</a:t>
            </a:r>
            <a:r>
              <a:rPr dirty="0"/>
              <a:t> Modeler y Bonita Studio</a:t>
            </a:r>
            <a:r>
              <a:rPr dirty="0" smtClean="0"/>
              <a:t>.</a:t>
            </a:r>
            <a:endParaRPr dirty="0"/>
          </a:p>
          <a:p>
            <a:pPr>
              <a:spcAft>
                <a:spcPts val="700"/>
              </a:spcAft>
              <a:defRPr sz="1500" b="0">
                <a:solidFill>
                  <a:srgbClr val="232B32"/>
                </a:solidFill>
              </a:defRPr>
            </a:pPr>
            <a:r>
              <a:rPr dirty="0" err="1"/>
              <a:t>Evaluar</a:t>
            </a:r>
            <a:r>
              <a:rPr dirty="0"/>
              <a:t> y </a:t>
            </a:r>
            <a:r>
              <a:rPr dirty="0" err="1"/>
              <a:t>contrastar</a:t>
            </a:r>
            <a:r>
              <a:rPr dirty="0"/>
              <a:t> el </a:t>
            </a:r>
            <a:r>
              <a:rPr dirty="0" err="1"/>
              <a:t>comportamiento</a:t>
            </a:r>
            <a:r>
              <a:rPr dirty="0"/>
              <a:t>, la </a:t>
            </a:r>
            <a:r>
              <a:rPr dirty="0" err="1"/>
              <a:t>ejecución</a:t>
            </a:r>
            <a:r>
              <a:rPr dirty="0"/>
              <a:t> y las </a:t>
            </a:r>
            <a:r>
              <a:rPr dirty="0" err="1"/>
              <a:t>capacidades</a:t>
            </a:r>
            <a:r>
              <a:rPr dirty="0"/>
              <a:t> de </a:t>
            </a:r>
            <a:r>
              <a:rPr dirty="0" err="1"/>
              <a:t>simulación</a:t>
            </a:r>
            <a:r>
              <a:rPr dirty="0"/>
              <a:t> de </a:t>
            </a:r>
            <a:r>
              <a:rPr dirty="0" err="1"/>
              <a:t>flujos</a:t>
            </a:r>
            <a:r>
              <a:rPr dirty="0"/>
              <a:t> de </a:t>
            </a:r>
            <a:r>
              <a:rPr dirty="0" err="1"/>
              <a:t>trabajo</a:t>
            </a:r>
            <a:r>
              <a:rPr dirty="0"/>
              <a:t> </a:t>
            </a:r>
            <a:r>
              <a:rPr dirty="0" err="1"/>
              <a:t>en</a:t>
            </a:r>
            <a:r>
              <a:rPr dirty="0"/>
              <a:t> </a:t>
            </a:r>
            <a:r>
              <a:rPr dirty="0" err="1"/>
              <a:t>los</a:t>
            </a:r>
            <a:r>
              <a:rPr dirty="0"/>
              <a:t> </a:t>
            </a:r>
            <a:r>
              <a:rPr dirty="0" err="1"/>
              <a:t>tres</a:t>
            </a:r>
            <a:r>
              <a:rPr dirty="0"/>
              <a:t> </a:t>
            </a:r>
            <a:r>
              <a:rPr dirty="0" err="1"/>
              <a:t>entornos</a:t>
            </a:r>
            <a:r>
              <a:rPr dirty="0"/>
              <a:t> BPMN </a:t>
            </a:r>
            <a:r>
              <a:rPr dirty="0" err="1"/>
              <a:t>seleccionados</a:t>
            </a:r>
            <a:r>
              <a:rPr dirty="0"/>
              <a:t> </a:t>
            </a:r>
            <a:r>
              <a:rPr dirty="0" err="1"/>
              <a:t>mediante</a:t>
            </a:r>
            <a:r>
              <a:rPr dirty="0"/>
              <a:t> un </a:t>
            </a:r>
            <a:r>
              <a:rPr dirty="0" err="1"/>
              <a:t>análisis</a:t>
            </a:r>
            <a:r>
              <a:rPr dirty="0"/>
              <a:t> </a:t>
            </a:r>
            <a:r>
              <a:rPr dirty="0" err="1" smtClean="0"/>
              <a:t>comparativo</a:t>
            </a:r>
            <a:r>
              <a:rPr dirty="0" smtClean="0"/>
              <a:t>.</a:t>
            </a:r>
          </a:p>
          <a:p>
            <a:pPr>
              <a:spcAft>
                <a:spcPts val="700"/>
              </a:spcAft>
              <a:defRPr sz="1500" b="0">
                <a:solidFill>
                  <a:srgbClr val="232B32"/>
                </a:solidFill>
              </a:defRPr>
            </a:pPr>
            <a:r>
              <a:rPr dirty="0" err="1" smtClean="0"/>
              <a:t>Desarrollar</a:t>
            </a:r>
            <a:r>
              <a:rPr dirty="0" smtClean="0"/>
              <a:t> </a:t>
            </a:r>
            <a:r>
              <a:rPr dirty="0"/>
              <a:t>un </a:t>
            </a:r>
            <a:r>
              <a:rPr dirty="0" err="1"/>
              <a:t>programa</a:t>
            </a:r>
            <a:r>
              <a:rPr dirty="0"/>
              <a:t> modular </a:t>
            </a:r>
            <a:r>
              <a:rPr dirty="0" err="1"/>
              <a:t>en</a:t>
            </a:r>
            <a:r>
              <a:rPr dirty="0"/>
              <a:t> el </a:t>
            </a:r>
            <a:r>
              <a:rPr dirty="0" err="1"/>
              <a:t>entorno</a:t>
            </a:r>
            <a:r>
              <a:rPr dirty="0"/>
              <a:t> de </a:t>
            </a:r>
            <a:r>
              <a:rPr dirty="0" err="1"/>
              <a:t>desarrollo</a:t>
            </a:r>
            <a:r>
              <a:rPr dirty="0"/>
              <a:t> IntelliJ IDEA que combine las </a:t>
            </a:r>
            <a:r>
              <a:rPr dirty="0" err="1"/>
              <a:t>capacidades</a:t>
            </a:r>
            <a:r>
              <a:rPr dirty="0"/>
              <a:t> </a:t>
            </a:r>
            <a:r>
              <a:rPr dirty="0" err="1"/>
              <a:t>analíticas</a:t>
            </a:r>
            <a:r>
              <a:rPr dirty="0"/>
              <a:t> de Python y R para la </a:t>
            </a:r>
            <a:r>
              <a:rPr dirty="0" err="1"/>
              <a:t>generación</a:t>
            </a:r>
            <a:r>
              <a:rPr dirty="0"/>
              <a:t> de variables </a:t>
            </a:r>
            <a:r>
              <a:rPr dirty="0" err="1"/>
              <a:t>aleatorias</a:t>
            </a:r>
            <a:r>
              <a:rPr dirty="0"/>
              <a:t> </a:t>
            </a:r>
            <a:r>
              <a:rPr dirty="0" err="1"/>
              <a:t>bajo</a:t>
            </a:r>
            <a:r>
              <a:rPr dirty="0"/>
              <a:t> </a:t>
            </a:r>
            <a:r>
              <a:rPr dirty="0" err="1"/>
              <a:t>distribuciones</a:t>
            </a:r>
            <a:r>
              <a:rPr dirty="0"/>
              <a:t> </a:t>
            </a:r>
            <a:r>
              <a:rPr dirty="0" err="1"/>
              <a:t>específicas</a:t>
            </a:r>
            <a:r>
              <a:rPr dirty="0"/>
              <a:t> y el </a:t>
            </a:r>
            <a:r>
              <a:rPr dirty="0" err="1"/>
              <a:t>cálculo</a:t>
            </a:r>
            <a:r>
              <a:rPr dirty="0"/>
              <a:t> de </a:t>
            </a:r>
            <a:r>
              <a:rPr dirty="0" err="1"/>
              <a:t>métricas</a:t>
            </a:r>
            <a:r>
              <a:rPr dirty="0"/>
              <a:t> de </a:t>
            </a:r>
            <a:r>
              <a:rPr dirty="0" err="1"/>
              <a:t>desempeño</a:t>
            </a:r>
            <a:r>
              <a:rPr dirty="0"/>
              <a:t> </a:t>
            </a:r>
            <a:r>
              <a:rPr dirty="0" err="1"/>
              <a:t>operacional</a:t>
            </a:r>
            <a:r>
              <a:rPr dirty="0"/>
              <a:t> del taller</a:t>
            </a:r>
            <a:r>
              <a:rPr dirty="0" smtClean="0"/>
              <a:t>.</a:t>
            </a:r>
            <a:endParaRPr dirty="0"/>
          </a:p>
          <a:p>
            <a:pPr>
              <a:spcAft>
                <a:spcPts val="700"/>
              </a:spcAft>
              <a:defRPr sz="1500" b="0">
                <a:solidFill>
                  <a:srgbClr val="232B32"/>
                </a:solidFill>
              </a:defRPr>
            </a:pPr>
            <a:r>
              <a:rPr dirty="0" err="1"/>
              <a:t>Integrar</a:t>
            </a:r>
            <a:r>
              <a:rPr dirty="0"/>
              <a:t> </a:t>
            </a:r>
            <a:r>
              <a:rPr dirty="0" err="1"/>
              <a:t>los</a:t>
            </a:r>
            <a:r>
              <a:rPr dirty="0"/>
              <a:t> </a:t>
            </a:r>
            <a:r>
              <a:rPr dirty="0" err="1"/>
              <a:t>diagramas</a:t>
            </a:r>
            <a:r>
              <a:rPr dirty="0"/>
              <a:t> de </a:t>
            </a:r>
            <a:r>
              <a:rPr dirty="0" err="1"/>
              <a:t>procesos</a:t>
            </a:r>
            <a:r>
              <a:rPr dirty="0"/>
              <a:t>, </a:t>
            </a:r>
            <a:r>
              <a:rPr dirty="0" err="1"/>
              <a:t>fragmentos</a:t>
            </a:r>
            <a:r>
              <a:rPr dirty="0"/>
              <a:t> de </a:t>
            </a:r>
            <a:r>
              <a:rPr dirty="0" err="1"/>
              <a:t>código</a:t>
            </a:r>
            <a:r>
              <a:rPr dirty="0"/>
              <a:t> </a:t>
            </a:r>
            <a:r>
              <a:rPr dirty="0" err="1"/>
              <a:t>fuente</a:t>
            </a:r>
            <a:r>
              <a:rPr dirty="0"/>
              <a:t>, </a:t>
            </a:r>
            <a:r>
              <a:rPr dirty="0" err="1"/>
              <a:t>capturas</a:t>
            </a:r>
            <a:r>
              <a:rPr dirty="0"/>
              <a:t> de </a:t>
            </a:r>
            <a:r>
              <a:rPr dirty="0" err="1"/>
              <a:t>pantalla</a:t>
            </a:r>
            <a:r>
              <a:rPr dirty="0"/>
              <a:t> de </a:t>
            </a:r>
            <a:r>
              <a:rPr dirty="0" err="1"/>
              <a:t>ejecuciones</a:t>
            </a:r>
            <a:r>
              <a:rPr dirty="0"/>
              <a:t> y </a:t>
            </a:r>
            <a:r>
              <a:rPr dirty="0" err="1"/>
              <a:t>análisis</a:t>
            </a:r>
            <a:r>
              <a:rPr dirty="0"/>
              <a:t> de </a:t>
            </a:r>
            <a:r>
              <a:rPr dirty="0" err="1"/>
              <a:t>resultados</a:t>
            </a:r>
            <a:r>
              <a:rPr dirty="0"/>
              <a:t> </a:t>
            </a:r>
            <a:r>
              <a:rPr dirty="0" err="1"/>
              <a:t>en</a:t>
            </a:r>
            <a:r>
              <a:rPr dirty="0"/>
              <a:t> un </a:t>
            </a:r>
            <a:r>
              <a:rPr dirty="0" err="1"/>
              <a:t>documento</a:t>
            </a:r>
            <a:r>
              <a:rPr dirty="0"/>
              <a:t> </a:t>
            </a:r>
            <a:r>
              <a:rPr dirty="0" err="1"/>
              <a:t>técnico</a:t>
            </a:r>
            <a:r>
              <a:rPr dirty="0"/>
              <a:t> formal </a:t>
            </a:r>
            <a:r>
              <a:rPr dirty="0" err="1"/>
              <a:t>estructurado</a:t>
            </a:r>
            <a:r>
              <a:rPr dirty="0"/>
              <a:t> </a:t>
            </a:r>
            <a:r>
              <a:rPr dirty="0" err="1"/>
              <a:t>bajo</a:t>
            </a:r>
            <a:r>
              <a:rPr dirty="0"/>
              <a:t> </a:t>
            </a:r>
            <a:r>
              <a:rPr dirty="0" err="1"/>
              <a:t>los</a:t>
            </a:r>
            <a:r>
              <a:rPr dirty="0"/>
              <a:t> </a:t>
            </a:r>
            <a:r>
              <a:rPr dirty="0" err="1"/>
              <a:t>lineamientos</a:t>
            </a:r>
            <a:r>
              <a:rPr dirty="0"/>
              <a:t> </a:t>
            </a:r>
            <a:r>
              <a:rPr dirty="0" err="1"/>
              <a:t>institucionales</a:t>
            </a:r>
            <a:r>
              <a:rPr dirty="0"/>
              <a:t> de un </a:t>
            </a:r>
            <a:r>
              <a:rPr dirty="0" err="1"/>
              <a:t>proyecto</a:t>
            </a:r>
            <a:r>
              <a:rPr dirty="0"/>
              <a:t> </a:t>
            </a:r>
            <a:r>
              <a:rPr dirty="0" err="1"/>
              <a:t>integrador</a:t>
            </a:r>
            <a:r>
              <a:rPr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85144" y="274320"/>
            <a:ext cx="3791231" cy="477054"/>
          </a:xfrm>
          <a:prstGeom prst="rect">
            <a:avLst/>
          </a:prstGeom>
          <a:noFill/>
        </p:spPr>
        <p:txBody>
          <a:bodyPr wrap="none">
            <a:spAutoFit/>
          </a:bodyPr>
          <a:lstStyle/>
          <a:p>
            <a:pPr algn="ctr">
              <a:defRPr sz="2500" b="1">
                <a:solidFill>
                  <a:srgbClr val="123048"/>
                </a:solidFill>
              </a:defRPr>
            </a:pPr>
            <a:r>
              <a:rPr dirty="0"/>
              <a:t>1.5 </a:t>
            </a:r>
            <a:r>
              <a:rPr dirty="0" err="1"/>
              <a:t>Alcances</a:t>
            </a:r>
            <a:r>
              <a:rPr dirty="0"/>
              <a:t> y </a:t>
            </a:r>
            <a:r>
              <a:rPr dirty="0" err="1"/>
              <a:t>Limitaciones</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1: PLANTEAMIENTO DEL PROBLEMA</a:t>
            </a:r>
          </a:p>
        </p:txBody>
      </p:sp>
      <p:sp>
        <p:nvSpPr>
          <p:cNvPr id="6" name="TextBox 5"/>
          <p:cNvSpPr txBox="1"/>
          <p:nvPr/>
        </p:nvSpPr>
        <p:spPr>
          <a:xfrm>
            <a:off x="731520" y="1234440"/>
            <a:ext cx="10698480" cy="4824398"/>
          </a:xfrm>
          <a:prstGeom prst="rect">
            <a:avLst/>
          </a:prstGeom>
          <a:noFill/>
        </p:spPr>
        <p:txBody>
          <a:bodyPr wrap="square" lIns="73152" rIns="73152">
            <a:spAutoFit/>
          </a:bodyPr>
          <a:lstStyle/>
          <a:p>
            <a:pPr>
              <a:spcAft>
                <a:spcPts val="700"/>
              </a:spcAft>
              <a:defRPr sz="1500" b="0">
                <a:solidFill>
                  <a:srgbClr val="232B32"/>
                </a:solidFill>
              </a:defRPr>
            </a:pPr>
            <a:r>
              <a:rPr b="1" dirty="0" err="1"/>
              <a:t>Alcances</a:t>
            </a:r>
            <a:endParaRPr b="1" dirty="0"/>
          </a:p>
          <a:p>
            <a:pPr>
              <a:spcAft>
                <a:spcPts val="700"/>
              </a:spcAft>
              <a:defRPr sz="1500" b="0">
                <a:solidFill>
                  <a:srgbClr val="232B32"/>
                </a:solidFill>
              </a:defRPr>
            </a:pPr>
            <a:endParaRPr dirty="0"/>
          </a:p>
          <a:p>
            <a:pPr>
              <a:spcAft>
                <a:spcPts val="700"/>
              </a:spcAft>
              <a:defRPr sz="1500" b="0">
                <a:solidFill>
                  <a:srgbClr val="232B32"/>
                </a:solidFill>
              </a:defRPr>
            </a:pPr>
            <a:r>
              <a:rPr dirty="0" err="1"/>
              <a:t>Modelado</a:t>
            </a:r>
            <a:r>
              <a:rPr dirty="0"/>
              <a:t> </a:t>
            </a:r>
            <a:r>
              <a:rPr dirty="0" err="1"/>
              <a:t>exhaustivo</a:t>
            </a:r>
            <a:r>
              <a:rPr dirty="0"/>
              <a:t> del </a:t>
            </a:r>
            <a:r>
              <a:rPr dirty="0" err="1"/>
              <a:t>flujo</a:t>
            </a:r>
            <a:r>
              <a:rPr dirty="0"/>
              <a:t> </a:t>
            </a:r>
            <a:r>
              <a:rPr dirty="0" err="1"/>
              <a:t>operativo</a:t>
            </a:r>
            <a:r>
              <a:rPr dirty="0"/>
              <a:t> </a:t>
            </a:r>
            <a:r>
              <a:rPr dirty="0" err="1"/>
              <a:t>completo</a:t>
            </a:r>
            <a:r>
              <a:rPr dirty="0"/>
              <a:t> de un taller de </a:t>
            </a:r>
            <a:r>
              <a:rPr dirty="0" err="1"/>
              <a:t>servicios</a:t>
            </a:r>
            <a:r>
              <a:rPr dirty="0"/>
              <a:t> (</a:t>
            </a:r>
            <a:r>
              <a:rPr dirty="0" err="1"/>
              <a:t>abarcando</a:t>
            </a:r>
            <a:r>
              <a:rPr dirty="0"/>
              <a:t> </a:t>
            </a:r>
            <a:r>
              <a:rPr dirty="0" err="1"/>
              <a:t>etapas</a:t>
            </a:r>
            <a:r>
              <a:rPr dirty="0"/>
              <a:t> de </a:t>
            </a:r>
            <a:r>
              <a:rPr dirty="0" err="1"/>
              <a:t>recepción</a:t>
            </a:r>
            <a:r>
              <a:rPr dirty="0"/>
              <a:t> de </a:t>
            </a:r>
            <a:r>
              <a:rPr dirty="0" err="1"/>
              <a:t>unidades</a:t>
            </a:r>
            <a:r>
              <a:rPr dirty="0"/>
              <a:t>, </a:t>
            </a:r>
            <a:r>
              <a:rPr dirty="0" err="1"/>
              <a:t>inspección</a:t>
            </a:r>
            <a:r>
              <a:rPr dirty="0"/>
              <a:t> y </a:t>
            </a:r>
            <a:r>
              <a:rPr dirty="0" err="1"/>
              <a:t>diagnóstico</a:t>
            </a:r>
            <a:r>
              <a:rPr dirty="0"/>
              <a:t>, </a:t>
            </a:r>
            <a:r>
              <a:rPr dirty="0" err="1"/>
              <a:t>asignación</a:t>
            </a:r>
            <a:r>
              <a:rPr dirty="0"/>
              <a:t> de </a:t>
            </a:r>
            <a:r>
              <a:rPr dirty="0" err="1"/>
              <a:t>bahías</a:t>
            </a:r>
            <a:r>
              <a:rPr dirty="0"/>
              <a:t> de </a:t>
            </a:r>
            <a:r>
              <a:rPr dirty="0" err="1"/>
              <a:t>trabajo</a:t>
            </a:r>
            <a:r>
              <a:rPr dirty="0"/>
              <a:t>, </a:t>
            </a:r>
            <a:r>
              <a:rPr dirty="0" err="1"/>
              <a:t>ejecución</a:t>
            </a:r>
            <a:r>
              <a:rPr dirty="0"/>
              <a:t> de </a:t>
            </a:r>
            <a:r>
              <a:rPr dirty="0" err="1"/>
              <a:t>reparaciones</a:t>
            </a:r>
            <a:r>
              <a:rPr dirty="0"/>
              <a:t>, control de </a:t>
            </a:r>
            <a:r>
              <a:rPr dirty="0" err="1"/>
              <a:t>calidad</a:t>
            </a:r>
            <a:r>
              <a:rPr dirty="0"/>
              <a:t> y </a:t>
            </a:r>
            <a:r>
              <a:rPr dirty="0" err="1"/>
              <a:t>entrega</a:t>
            </a:r>
            <a:r>
              <a:rPr dirty="0"/>
              <a:t> final) </a:t>
            </a:r>
            <a:r>
              <a:rPr dirty="0" err="1"/>
              <a:t>representado</a:t>
            </a:r>
            <a:r>
              <a:rPr dirty="0"/>
              <a:t> </a:t>
            </a:r>
            <a:r>
              <a:rPr dirty="0" err="1"/>
              <a:t>en</a:t>
            </a:r>
            <a:r>
              <a:rPr dirty="0"/>
              <a:t> </a:t>
            </a:r>
            <a:r>
              <a:rPr dirty="0" err="1"/>
              <a:t>tres</a:t>
            </a:r>
            <a:r>
              <a:rPr dirty="0"/>
              <a:t> </a:t>
            </a:r>
            <a:r>
              <a:rPr dirty="0" err="1"/>
              <a:t>plataformas</a:t>
            </a:r>
            <a:r>
              <a:rPr dirty="0"/>
              <a:t> BPMN </a:t>
            </a:r>
            <a:r>
              <a:rPr dirty="0" err="1"/>
              <a:t>diferentes</a:t>
            </a:r>
            <a:r>
              <a:rPr dirty="0" smtClean="0"/>
              <a:t>.</a:t>
            </a:r>
            <a:endParaRPr dirty="0"/>
          </a:p>
          <a:p>
            <a:pPr>
              <a:spcAft>
                <a:spcPts val="700"/>
              </a:spcAft>
              <a:defRPr sz="1500" b="0">
                <a:solidFill>
                  <a:srgbClr val="232B32"/>
                </a:solidFill>
              </a:defRPr>
            </a:pPr>
            <a:r>
              <a:rPr dirty="0" err="1"/>
              <a:t>Implementación</a:t>
            </a:r>
            <a:r>
              <a:rPr dirty="0"/>
              <a:t> de un script </a:t>
            </a:r>
            <a:r>
              <a:rPr dirty="0" err="1"/>
              <a:t>multiplataforma</a:t>
            </a:r>
            <a:r>
              <a:rPr dirty="0"/>
              <a:t> </a:t>
            </a:r>
            <a:r>
              <a:rPr dirty="0" err="1"/>
              <a:t>en</a:t>
            </a:r>
            <a:r>
              <a:rPr dirty="0"/>
              <a:t> IntelliJ IDEA que vincula la </a:t>
            </a:r>
            <a:r>
              <a:rPr dirty="0" err="1"/>
              <a:t>ejecución</a:t>
            </a:r>
            <a:r>
              <a:rPr dirty="0"/>
              <a:t> </a:t>
            </a:r>
            <a:r>
              <a:rPr dirty="0" err="1"/>
              <a:t>lógica</a:t>
            </a:r>
            <a:r>
              <a:rPr dirty="0"/>
              <a:t> de Python y R para la </a:t>
            </a:r>
            <a:r>
              <a:rPr dirty="0" err="1"/>
              <a:t>generación</a:t>
            </a:r>
            <a:r>
              <a:rPr dirty="0"/>
              <a:t> </a:t>
            </a:r>
            <a:r>
              <a:rPr dirty="0" err="1"/>
              <a:t>automatizada</a:t>
            </a:r>
            <a:r>
              <a:rPr dirty="0"/>
              <a:t> de </a:t>
            </a:r>
            <a:r>
              <a:rPr dirty="0" err="1"/>
              <a:t>secuencias</a:t>
            </a:r>
            <a:r>
              <a:rPr dirty="0"/>
              <a:t> </a:t>
            </a:r>
            <a:r>
              <a:rPr dirty="0" err="1"/>
              <a:t>numéricas</a:t>
            </a:r>
            <a:r>
              <a:rPr dirty="0"/>
              <a:t> </a:t>
            </a:r>
            <a:r>
              <a:rPr dirty="0" err="1"/>
              <a:t>aleatorias</a:t>
            </a:r>
            <a:r>
              <a:rPr dirty="0"/>
              <a:t> y </a:t>
            </a:r>
            <a:r>
              <a:rPr dirty="0" err="1"/>
              <a:t>su</a:t>
            </a:r>
            <a:r>
              <a:rPr dirty="0"/>
              <a:t> </a:t>
            </a:r>
            <a:r>
              <a:rPr dirty="0" err="1"/>
              <a:t>respectiva</a:t>
            </a:r>
            <a:r>
              <a:rPr dirty="0"/>
              <a:t> </a:t>
            </a:r>
            <a:r>
              <a:rPr dirty="0" err="1"/>
              <a:t>evaluación</a:t>
            </a:r>
            <a:r>
              <a:rPr dirty="0"/>
              <a:t> </a:t>
            </a:r>
            <a:r>
              <a:rPr dirty="0" err="1"/>
              <a:t>estadística</a:t>
            </a:r>
            <a:r>
              <a:rPr dirty="0" smtClean="0"/>
              <a:t>.</a:t>
            </a:r>
            <a:endParaRPr dirty="0"/>
          </a:p>
          <a:p>
            <a:pPr>
              <a:spcAft>
                <a:spcPts val="700"/>
              </a:spcAft>
              <a:defRPr sz="1500" b="0">
                <a:solidFill>
                  <a:srgbClr val="232B32"/>
                </a:solidFill>
              </a:defRPr>
            </a:pPr>
            <a:r>
              <a:rPr dirty="0" err="1"/>
              <a:t>Análisis</a:t>
            </a:r>
            <a:r>
              <a:rPr dirty="0"/>
              <a:t> </a:t>
            </a:r>
            <a:r>
              <a:rPr dirty="0" err="1"/>
              <a:t>teórico</a:t>
            </a:r>
            <a:r>
              <a:rPr dirty="0"/>
              <a:t> y </a:t>
            </a:r>
            <a:r>
              <a:rPr dirty="0" err="1"/>
              <a:t>práctico</a:t>
            </a:r>
            <a:r>
              <a:rPr dirty="0"/>
              <a:t> de </a:t>
            </a:r>
            <a:r>
              <a:rPr dirty="0" err="1"/>
              <a:t>los</a:t>
            </a:r>
            <a:r>
              <a:rPr dirty="0"/>
              <a:t> </a:t>
            </a:r>
            <a:r>
              <a:rPr dirty="0" err="1"/>
              <a:t>principales</a:t>
            </a:r>
            <a:r>
              <a:rPr dirty="0"/>
              <a:t> </a:t>
            </a:r>
            <a:r>
              <a:rPr dirty="0" err="1"/>
              <a:t>cuellos</a:t>
            </a:r>
            <a:r>
              <a:rPr dirty="0"/>
              <a:t> de </a:t>
            </a:r>
            <a:r>
              <a:rPr dirty="0" err="1"/>
              <a:t>botella</a:t>
            </a:r>
            <a:r>
              <a:rPr dirty="0"/>
              <a:t> e </a:t>
            </a:r>
            <a:r>
              <a:rPr dirty="0" err="1"/>
              <a:t>indicadores</a:t>
            </a:r>
            <a:r>
              <a:rPr dirty="0"/>
              <a:t> de </a:t>
            </a:r>
            <a:r>
              <a:rPr dirty="0" err="1"/>
              <a:t>rendimiento</a:t>
            </a:r>
            <a:r>
              <a:rPr dirty="0"/>
              <a:t> (</a:t>
            </a:r>
            <a:r>
              <a:rPr dirty="0" err="1"/>
              <a:t>como</a:t>
            </a:r>
            <a:r>
              <a:rPr dirty="0"/>
              <a:t> </a:t>
            </a:r>
            <a:r>
              <a:rPr dirty="0" err="1"/>
              <a:t>tiempos</a:t>
            </a:r>
            <a:r>
              <a:rPr dirty="0"/>
              <a:t> de </a:t>
            </a:r>
            <a:r>
              <a:rPr dirty="0" err="1"/>
              <a:t>espera</a:t>
            </a:r>
            <a:r>
              <a:rPr dirty="0"/>
              <a:t> </a:t>
            </a:r>
            <a:r>
              <a:rPr dirty="0" err="1"/>
              <a:t>en</a:t>
            </a:r>
            <a:r>
              <a:rPr dirty="0"/>
              <a:t> cola y </a:t>
            </a:r>
            <a:r>
              <a:rPr dirty="0" err="1"/>
              <a:t>tasas</a:t>
            </a:r>
            <a:r>
              <a:rPr dirty="0"/>
              <a:t> de </a:t>
            </a:r>
            <a:r>
              <a:rPr dirty="0" err="1"/>
              <a:t>ocupación</a:t>
            </a:r>
            <a:r>
              <a:rPr dirty="0"/>
              <a:t> de </a:t>
            </a:r>
            <a:r>
              <a:rPr dirty="0" err="1"/>
              <a:t>recursos</a:t>
            </a:r>
            <a:r>
              <a:rPr dirty="0"/>
              <a:t>) </a:t>
            </a:r>
            <a:r>
              <a:rPr dirty="0" err="1"/>
              <a:t>derivados</a:t>
            </a:r>
            <a:r>
              <a:rPr dirty="0"/>
              <a:t> de las </a:t>
            </a:r>
            <a:r>
              <a:rPr dirty="0" err="1"/>
              <a:t>simulaciones</a:t>
            </a:r>
            <a:r>
              <a:rPr dirty="0"/>
              <a:t>.</a:t>
            </a:r>
          </a:p>
          <a:p>
            <a:pPr>
              <a:spcAft>
                <a:spcPts val="700"/>
              </a:spcAft>
              <a:defRPr sz="1500" b="0">
                <a:solidFill>
                  <a:srgbClr val="232B32"/>
                </a:solidFill>
              </a:defRPr>
            </a:pPr>
            <a:endParaRPr dirty="0"/>
          </a:p>
          <a:p>
            <a:pPr>
              <a:spcAft>
                <a:spcPts val="700"/>
              </a:spcAft>
              <a:defRPr sz="1500" b="0">
                <a:solidFill>
                  <a:srgbClr val="232B32"/>
                </a:solidFill>
              </a:defRPr>
            </a:pPr>
            <a:r>
              <a:rPr b="1" dirty="0" err="1"/>
              <a:t>Limitaciones</a:t>
            </a:r>
            <a:endParaRPr b="1" dirty="0"/>
          </a:p>
          <a:p>
            <a:pPr>
              <a:spcAft>
                <a:spcPts val="700"/>
              </a:spcAft>
              <a:defRPr sz="1500" b="0">
                <a:solidFill>
                  <a:srgbClr val="232B32"/>
                </a:solidFill>
              </a:defRPr>
            </a:pPr>
            <a:endParaRPr dirty="0"/>
          </a:p>
          <a:p>
            <a:pPr>
              <a:spcAft>
                <a:spcPts val="700"/>
              </a:spcAft>
              <a:defRPr sz="1500" b="0">
                <a:solidFill>
                  <a:srgbClr val="232B32"/>
                </a:solidFill>
              </a:defRPr>
            </a:pPr>
            <a:r>
              <a:rPr dirty="0"/>
              <a:t>El </a:t>
            </a:r>
            <a:r>
              <a:rPr dirty="0" err="1"/>
              <a:t>modelo</a:t>
            </a:r>
            <a:r>
              <a:rPr dirty="0"/>
              <a:t> de </a:t>
            </a:r>
            <a:r>
              <a:rPr dirty="0" err="1"/>
              <a:t>simulación</a:t>
            </a:r>
            <a:r>
              <a:rPr dirty="0"/>
              <a:t> se </a:t>
            </a:r>
            <a:r>
              <a:rPr dirty="0" err="1"/>
              <a:t>encuentra</a:t>
            </a:r>
            <a:r>
              <a:rPr dirty="0"/>
              <a:t> </a:t>
            </a:r>
            <a:r>
              <a:rPr dirty="0" err="1"/>
              <a:t>acotado</a:t>
            </a:r>
            <a:r>
              <a:rPr dirty="0"/>
              <a:t> a un </a:t>
            </a:r>
            <a:r>
              <a:rPr dirty="0" err="1"/>
              <a:t>entorno</a:t>
            </a:r>
            <a:r>
              <a:rPr dirty="0"/>
              <a:t> </a:t>
            </a:r>
            <a:r>
              <a:rPr dirty="0" err="1"/>
              <a:t>abstracto</a:t>
            </a:r>
            <a:r>
              <a:rPr dirty="0"/>
              <a:t> </a:t>
            </a:r>
            <a:r>
              <a:rPr dirty="0" err="1"/>
              <a:t>controlado</a:t>
            </a:r>
            <a:r>
              <a:rPr dirty="0"/>
              <a:t> del taller, </a:t>
            </a:r>
            <a:r>
              <a:rPr dirty="0" err="1"/>
              <a:t>por</a:t>
            </a:r>
            <a:r>
              <a:rPr dirty="0"/>
              <a:t> lo que se </a:t>
            </a:r>
            <a:r>
              <a:rPr dirty="0" err="1"/>
              <a:t>omiten</a:t>
            </a:r>
            <a:r>
              <a:rPr dirty="0"/>
              <a:t> variables </a:t>
            </a:r>
            <a:r>
              <a:rPr dirty="0" err="1"/>
              <a:t>macroeconómicas</a:t>
            </a:r>
            <a:r>
              <a:rPr dirty="0"/>
              <a:t> </a:t>
            </a:r>
            <a:r>
              <a:rPr dirty="0" err="1"/>
              <a:t>externas</a:t>
            </a:r>
            <a:r>
              <a:rPr dirty="0"/>
              <a:t> e </a:t>
            </a:r>
            <a:r>
              <a:rPr dirty="0" err="1"/>
              <a:t>imprevistos</a:t>
            </a:r>
            <a:r>
              <a:rPr dirty="0"/>
              <a:t> de </a:t>
            </a:r>
            <a:r>
              <a:rPr dirty="0" err="1"/>
              <a:t>fuerza</a:t>
            </a:r>
            <a:r>
              <a:rPr dirty="0"/>
              <a:t> mayor (tales </a:t>
            </a:r>
            <a:r>
              <a:rPr dirty="0" err="1"/>
              <a:t>como</a:t>
            </a:r>
            <a:r>
              <a:rPr dirty="0"/>
              <a:t> </a:t>
            </a:r>
            <a:r>
              <a:rPr dirty="0" err="1"/>
              <a:t>desastres</a:t>
            </a:r>
            <a:r>
              <a:rPr dirty="0"/>
              <a:t> </a:t>
            </a:r>
            <a:r>
              <a:rPr dirty="0" err="1"/>
              <a:t>naturales</a:t>
            </a:r>
            <a:r>
              <a:rPr dirty="0"/>
              <a:t>, </a:t>
            </a:r>
            <a:r>
              <a:rPr dirty="0" err="1"/>
              <a:t>huelgas</a:t>
            </a:r>
            <a:r>
              <a:rPr dirty="0"/>
              <a:t> de </a:t>
            </a:r>
            <a:r>
              <a:rPr dirty="0" err="1"/>
              <a:t>proveedores</a:t>
            </a:r>
            <a:r>
              <a:rPr dirty="0"/>
              <a:t> de </a:t>
            </a:r>
            <a:r>
              <a:rPr dirty="0" err="1"/>
              <a:t>refacciones</a:t>
            </a:r>
            <a:r>
              <a:rPr dirty="0"/>
              <a:t> o </a:t>
            </a:r>
            <a:r>
              <a:rPr dirty="0" err="1"/>
              <a:t>cortes</a:t>
            </a:r>
            <a:r>
              <a:rPr dirty="0"/>
              <a:t> </a:t>
            </a:r>
            <a:r>
              <a:rPr dirty="0" err="1"/>
              <a:t>prolongados</a:t>
            </a:r>
            <a:r>
              <a:rPr dirty="0"/>
              <a:t> de </a:t>
            </a:r>
            <a:r>
              <a:rPr dirty="0" err="1"/>
              <a:t>energía</a:t>
            </a:r>
            <a:r>
              <a:rPr dirty="0"/>
              <a:t> </a:t>
            </a:r>
            <a:r>
              <a:rPr dirty="0" err="1"/>
              <a:t>eléctrica</a:t>
            </a:r>
            <a:r>
              <a:rPr dirty="0" smtClean="0"/>
              <a:t>).</a:t>
            </a:r>
            <a:endParaRPr dirty="0"/>
          </a:p>
          <a:p>
            <a:pPr>
              <a:spcAft>
                <a:spcPts val="700"/>
              </a:spcAft>
              <a:defRPr sz="1500" b="0">
                <a:solidFill>
                  <a:srgbClr val="232B32"/>
                </a:solidFill>
              </a:defRPr>
            </a:pPr>
            <a:r>
              <a:rPr dirty="0"/>
              <a:t>El </a:t>
            </a:r>
            <a:r>
              <a:rPr dirty="0" err="1"/>
              <a:t>intercambio</a:t>
            </a:r>
            <a:r>
              <a:rPr dirty="0"/>
              <a:t> de </a:t>
            </a:r>
            <a:r>
              <a:rPr dirty="0" err="1"/>
              <a:t>datos</a:t>
            </a:r>
            <a:r>
              <a:rPr dirty="0"/>
              <a:t> e </a:t>
            </a:r>
            <a:r>
              <a:rPr dirty="0" err="1"/>
              <a:t>interoperabilidad</a:t>
            </a:r>
            <a:r>
              <a:rPr dirty="0"/>
              <a:t> entre </a:t>
            </a:r>
            <a:r>
              <a:rPr dirty="0" err="1"/>
              <a:t>los</a:t>
            </a:r>
            <a:r>
              <a:rPr dirty="0"/>
              <a:t> scripts de Python y R se </a:t>
            </a:r>
            <a:r>
              <a:rPr dirty="0" err="1"/>
              <a:t>ejecuta</a:t>
            </a:r>
            <a:r>
              <a:rPr dirty="0"/>
              <a:t> de </a:t>
            </a:r>
            <a:r>
              <a:rPr dirty="0" err="1"/>
              <a:t>manera</a:t>
            </a:r>
            <a:r>
              <a:rPr dirty="0"/>
              <a:t> local </a:t>
            </a:r>
            <a:r>
              <a:rPr dirty="0" err="1"/>
              <a:t>dentro</a:t>
            </a:r>
            <a:r>
              <a:rPr dirty="0"/>
              <a:t> del </a:t>
            </a:r>
            <a:r>
              <a:rPr dirty="0" err="1"/>
              <a:t>entorno</a:t>
            </a:r>
            <a:r>
              <a:rPr dirty="0"/>
              <a:t> del IDE, sin </a:t>
            </a:r>
            <a:r>
              <a:rPr dirty="0" err="1"/>
              <a:t>requerir</a:t>
            </a:r>
            <a:r>
              <a:rPr dirty="0"/>
              <a:t> </a:t>
            </a:r>
            <a:r>
              <a:rPr dirty="0" err="1"/>
              <a:t>despliegues</a:t>
            </a:r>
            <a:r>
              <a:rPr dirty="0"/>
              <a:t> </a:t>
            </a:r>
            <a:r>
              <a:rPr dirty="0" err="1"/>
              <a:t>en</a:t>
            </a:r>
            <a:r>
              <a:rPr dirty="0"/>
              <a:t> </a:t>
            </a:r>
            <a:r>
              <a:rPr dirty="0" err="1"/>
              <a:t>servidores</a:t>
            </a:r>
            <a:r>
              <a:rPr dirty="0"/>
              <a:t> </a:t>
            </a:r>
            <a:r>
              <a:rPr dirty="0" err="1"/>
              <a:t>en</a:t>
            </a:r>
            <a:r>
              <a:rPr dirty="0"/>
              <a:t> la </a:t>
            </a:r>
            <a:r>
              <a:rPr dirty="0" err="1"/>
              <a:t>nube</a:t>
            </a:r>
            <a:r>
              <a:rPr dirty="0"/>
              <a:t> o </a:t>
            </a:r>
            <a:r>
              <a:rPr dirty="0" err="1"/>
              <a:t>arquitecturas</a:t>
            </a:r>
            <a:r>
              <a:rPr dirty="0"/>
              <a:t> de </a:t>
            </a:r>
            <a:r>
              <a:rPr dirty="0" err="1"/>
              <a:t>microservicios</a:t>
            </a:r>
            <a:r>
              <a:rPr dirty="0"/>
              <a:t> </a:t>
            </a:r>
            <a:r>
              <a:rPr dirty="0" err="1"/>
              <a:t>distribuidos</a:t>
            </a:r>
            <a:r>
              <a:rPr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06558" y="274320"/>
            <a:ext cx="7748403" cy="477054"/>
          </a:xfrm>
          <a:prstGeom prst="rect">
            <a:avLst/>
          </a:prstGeom>
          <a:noFill/>
        </p:spPr>
        <p:txBody>
          <a:bodyPr wrap="none">
            <a:spAutoFit/>
          </a:bodyPr>
          <a:lstStyle/>
          <a:p>
            <a:pPr algn="ctr">
              <a:defRPr sz="2500" b="1">
                <a:solidFill>
                  <a:srgbClr val="123048"/>
                </a:solidFill>
              </a:defRPr>
            </a:pPr>
            <a:r>
              <a:rPr dirty="0"/>
              <a:t>2.1 </a:t>
            </a:r>
            <a:r>
              <a:rPr dirty="0" err="1"/>
              <a:t>Simulación</a:t>
            </a:r>
            <a:r>
              <a:rPr dirty="0"/>
              <a:t> de </a:t>
            </a:r>
            <a:r>
              <a:rPr dirty="0" err="1"/>
              <a:t>Sistemas</a:t>
            </a:r>
            <a:r>
              <a:rPr dirty="0"/>
              <a:t> </a:t>
            </a:r>
            <a:r>
              <a:rPr dirty="0" err="1"/>
              <a:t>Estocásticos</a:t>
            </a:r>
            <a:r>
              <a:rPr dirty="0"/>
              <a:t> y </a:t>
            </a:r>
            <a:r>
              <a:rPr dirty="0" err="1"/>
              <a:t>Teoría</a:t>
            </a:r>
            <a:r>
              <a:rPr dirty="0"/>
              <a:t> de Colas</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2: MARCO TEÓRICO</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La simulación de sistemas es una técnica numérica que permite experimentada con modelos matemáticos y lógicos de un sistema real en una computadora digital. En el ámbito de la ingeniería, los sistemas operativos de un taller se comportan de manera estocástica, es decir, su evolución a lo largo del tiempo no es determinista, sino que está gobernada por leyes probabilísticas.</a:t>
            </a:r>
          </a:p>
          <a:p>
            <a:pPr>
              <a:spcAft>
                <a:spcPts val="700"/>
              </a:spcAft>
              <a:defRPr sz="1500" b="0">
                <a:solidFill>
                  <a:srgbClr val="232B32"/>
                </a:solidFill>
              </a:defRPr>
            </a:pPr>
            <a:endParaRPr/>
          </a:p>
          <a:p>
            <a:pPr>
              <a:spcAft>
                <a:spcPts val="700"/>
              </a:spcAft>
              <a:defRPr sz="1500" b="0">
                <a:solidFill>
                  <a:srgbClr val="232B32"/>
                </a:solidFill>
              </a:defRPr>
            </a:pPr>
            <a:r>
              <a:t>Para modelar la interacción entre los clientes que solicitan un servicio y los recursos limitados del taller (mecánicos, herramientas, estaciones de trabajo), se emplea la Teoría de Colas (o líneas de espera). Los componentes fundamentales de este modelo estocástico son:</a:t>
            </a:r>
          </a:p>
          <a:p>
            <a:pPr>
              <a:spcAft>
                <a:spcPts val="700"/>
              </a:spcAft>
              <a:defRPr sz="1500" b="0">
                <a:solidFill>
                  <a:srgbClr val="232B32"/>
                </a:solidFill>
              </a:defRPr>
            </a:pPr>
            <a:endParaRPr/>
          </a:p>
          <a:p>
            <a:pPr>
              <a:spcAft>
                <a:spcPts val="700"/>
              </a:spcAft>
              <a:defRPr sz="1500" b="0">
                <a:solidFill>
                  <a:srgbClr val="232B32"/>
                </a:solidFill>
              </a:defRPr>
            </a:pPr>
            <a:r>
              <a:t>Proceso de llegada: La frecuencia y el patrón con el que ingresan las solicitudes de servicio al taller (habitualmente modelado mediante distribuciones de Poisson o exponenciales).</a:t>
            </a:r>
          </a:p>
          <a:p>
            <a:pPr>
              <a:spcAft>
                <a:spcPts val="700"/>
              </a:spcAft>
              <a:defRPr sz="1500" b="0">
                <a:solidFill>
                  <a:srgbClr val="232B32"/>
                </a:solidFill>
              </a:defRPr>
            </a:pPr>
            <a:endParaRPr/>
          </a:p>
          <a:p>
            <a:pPr>
              <a:spcAft>
                <a:spcPts val="700"/>
              </a:spcAft>
              <a:defRPr sz="1500" b="0">
                <a:solidFill>
                  <a:srgbClr val="232B32"/>
                </a:solidFill>
              </a:defRPr>
            </a:pPr>
            <a:r>
              <a:t>Disciplina de la cola: El orden en que se atienden los requerimientos (por lo general, bajo el esquema FIFO: First In, First Out - Primero en entrar, primero en salir).</a:t>
            </a:r>
          </a:p>
          <a:p>
            <a:pPr>
              <a:spcAft>
                <a:spcPts val="700"/>
              </a:spcAft>
              <a:defRPr sz="1500" b="0">
                <a:solidFill>
                  <a:srgbClr val="232B32"/>
                </a:solidFill>
              </a:defRPr>
            </a:pPr>
            <a:endParaRPr/>
          </a:p>
          <a:p>
            <a:pPr>
              <a:spcAft>
                <a:spcPts val="700"/>
              </a:spcAft>
              <a:defRPr sz="1500" b="0">
                <a:solidFill>
                  <a:srgbClr val="232B32"/>
                </a:solidFill>
              </a:defRPr>
            </a:pPr>
            <a:r>
              <a:t>Mecanismo de servicio: El tiempo que requiere el personal técnico para diagnosticar y reparar una unidad, el cual presenta una alta variabilidad y se representa mediante funciones de densidad de probabilidad continuas.</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28511" y="274320"/>
            <a:ext cx="10104497" cy="477054"/>
          </a:xfrm>
          <a:prstGeom prst="rect">
            <a:avLst/>
          </a:prstGeom>
          <a:noFill/>
        </p:spPr>
        <p:txBody>
          <a:bodyPr wrap="none">
            <a:spAutoFit/>
          </a:bodyPr>
          <a:lstStyle/>
          <a:p>
            <a:pPr algn="ctr">
              <a:defRPr sz="2500" b="1">
                <a:solidFill>
                  <a:srgbClr val="123048"/>
                </a:solidFill>
              </a:defRPr>
            </a:pPr>
            <a:r>
              <a:rPr dirty="0"/>
              <a:t>2.2 </a:t>
            </a:r>
            <a:r>
              <a:rPr dirty="0" err="1"/>
              <a:t>Lenguajes</a:t>
            </a:r>
            <a:r>
              <a:rPr dirty="0"/>
              <a:t> de </a:t>
            </a:r>
            <a:r>
              <a:rPr dirty="0" err="1"/>
              <a:t>Modelado</a:t>
            </a:r>
            <a:r>
              <a:rPr dirty="0"/>
              <a:t> de </a:t>
            </a:r>
            <a:r>
              <a:rPr dirty="0" err="1"/>
              <a:t>Procesos</a:t>
            </a:r>
            <a:r>
              <a:rPr dirty="0"/>
              <a:t> (BPMN) y </a:t>
            </a:r>
            <a:r>
              <a:rPr dirty="0" err="1"/>
              <a:t>Herramientas</a:t>
            </a:r>
            <a:r>
              <a:rPr dirty="0"/>
              <a:t> </a:t>
            </a:r>
            <a:r>
              <a:rPr dirty="0" err="1"/>
              <a:t>Evaluadas</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2: MARCO TEÓRICO</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El estándar BPMN (Business Process Model and Notation), administrado por el Object Management Group (OMG), proporciona una notación gráfica comprensible para todos los actores de un negocio, desde losanalistas de procesos hasta los desarrolladores técnicos.</a:t>
            </a:r>
          </a:p>
          <a:p>
            <a:pPr>
              <a:spcAft>
                <a:spcPts val="700"/>
              </a:spcAft>
              <a:defRPr sz="1500" b="0">
                <a:solidFill>
                  <a:srgbClr val="232B32"/>
                </a:solidFill>
              </a:defRPr>
            </a:pPr>
            <a:endParaRPr/>
          </a:p>
          <a:p>
            <a:pPr>
              <a:spcAft>
                <a:spcPts val="700"/>
              </a:spcAft>
              <a:defRPr sz="1500" b="0">
                <a:solidFill>
                  <a:srgbClr val="232B32"/>
                </a:solidFill>
              </a:defRPr>
            </a:pPr>
            <a:r>
              <a:t>Permite estandarizar la representación de flujos de trabajo mediante elementos como eventos (inicio, intermedios, fin), actividades (tareas), compuertas (exclusivas, paralelas, inclusivas) y flujos de secuencia. Para este proyecto, se implementó el mismo modelo operativo del taller en tres plataformas líderes:</a:t>
            </a:r>
          </a:p>
          <a:p>
            <a:pPr>
              <a:spcAft>
                <a:spcPts val="700"/>
              </a:spcAft>
              <a:defRPr sz="1500" b="0">
                <a:solidFill>
                  <a:srgbClr val="232B32"/>
                </a:solidFill>
              </a:defRPr>
            </a:pPr>
            <a:endParaRPr/>
          </a:p>
          <a:p>
            <a:pPr>
              <a:spcAft>
                <a:spcPts val="700"/>
              </a:spcAft>
              <a:defRPr sz="1500" b="0">
                <a:solidFill>
                  <a:srgbClr val="232B32"/>
                </a:solidFill>
              </a:defRPr>
            </a:pPr>
            <a:r>
              <a:t>Bizagi Modeler: Una herramienta orientada al diseño y documentación ágil de procesos, destacada por su facilidad de uso, su capacidad para generar diagramas limpios y su motor básico de simulación para calcular utilización de recursos y tiempos de ciclo.</a:t>
            </a:r>
          </a:p>
          <a:p>
            <a:pPr>
              <a:spcAft>
                <a:spcPts val="700"/>
              </a:spcAft>
              <a:defRPr sz="1500" b="0">
                <a:solidFill>
                  <a:srgbClr val="232B32"/>
                </a:solidFill>
              </a:defRPr>
            </a:pPr>
            <a:endParaRPr/>
          </a:p>
          <a:p>
            <a:pPr>
              <a:spcAft>
                <a:spcPts val="700"/>
              </a:spcAft>
              <a:defRPr sz="1500" b="0">
                <a:solidFill>
                  <a:srgbClr val="232B32"/>
                </a:solidFill>
              </a:defRPr>
            </a:pPr>
            <a:r>
              <a:t>Camunda Modeler: Un entorno robusto enfocado en la automatización y ejecución de flujos de trabajo basados en estándares abiertos. Utiliza motores de ejecución altamente eficientes y es ampliamente valorado por su compatibilidad con la simulación basada en tokens (camunda-modeler-token-simulation) para validar caminos lógicos en tiempo de diseño.</a:t>
            </a:r>
          </a:p>
          <a:p>
            <a:pPr>
              <a:spcAft>
                <a:spcPts val="700"/>
              </a:spcAft>
              <a:defRPr sz="1500" b="0">
                <a:solidFill>
                  <a:srgbClr val="232B32"/>
                </a:solidFill>
              </a:defRPr>
            </a:pPr>
            <a:endParaRPr/>
          </a:p>
          <a:p>
            <a:pPr>
              <a:spcAft>
                <a:spcPts val="700"/>
              </a:spcAft>
              <a:defRPr sz="1500" b="0">
                <a:solidFill>
                  <a:srgbClr val="232B32"/>
                </a:solidFill>
              </a:defRPr>
            </a:pPr>
            <a:r>
              <a:t>Bonita Studio: Una plataforma de desarrollo de procesos de negocio (Low-Code) que permite no solo el modelado gráfico, sino también la construcción de interfaces de usuario y la integración con servicios externos, facilitando una visión completa de la arquitectura empresarial.</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399014" y="274320"/>
            <a:ext cx="7363491" cy="477054"/>
          </a:xfrm>
          <a:prstGeom prst="rect">
            <a:avLst/>
          </a:prstGeom>
          <a:noFill/>
        </p:spPr>
        <p:txBody>
          <a:bodyPr wrap="none">
            <a:spAutoFit/>
          </a:bodyPr>
          <a:lstStyle/>
          <a:p>
            <a:pPr algn="ctr">
              <a:defRPr sz="2500" b="1">
                <a:solidFill>
                  <a:srgbClr val="123048"/>
                </a:solidFill>
              </a:defRPr>
            </a:pPr>
            <a:r>
              <a:rPr dirty="0"/>
              <a:t>2.3 </a:t>
            </a:r>
            <a:r>
              <a:rPr dirty="0" err="1"/>
              <a:t>Fundamentos</a:t>
            </a:r>
            <a:r>
              <a:rPr dirty="0"/>
              <a:t> de </a:t>
            </a:r>
            <a:r>
              <a:rPr dirty="0" err="1"/>
              <a:t>Simulación</a:t>
            </a:r>
            <a:r>
              <a:rPr dirty="0"/>
              <a:t> y Variables </a:t>
            </a:r>
            <a:r>
              <a:rPr dirty="0" err="1"/>
              <a:t>Aleatorias</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2: MARCO TEÓRICO</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rPr dirty="0"/>
              <a:t>La </a:t>
            </a:r>
            <a:r>
              <a:rPr dirty="0" err="1"/>
              <a:t>simulación</a:t>
            </a:r>
            <a:r>
              <a:rPr dirty="0"/>
              <a:t> </a:t>
            </a:r>
            <a:r>
              <a:rPr dirty="0" err="1"/>
              <a:t>por</a:t>
            </a:r>
            <a:r>
              <a:rPr dirty="0"/>
              <a:t> </a:t>
            </a:r>
            <a:r>
              <a:rPr dirty="0" err="1"/>
              <a:t>computadora</a:t>
            </a:r>
            <a:r>
              <a:rPr dirty="0"/>
              <a:t> </a:t>
            </a:r>
            <a:r>
              <a:rPr dirty="0" err="1"/>
              <a:t>requiere</a:t>
            </a:r>
            <a:r>
              <a:rPr dirty="0"/>
              <a:t> la </a:t>
            </a:r>
            <a:r>
              <a:rPr dirty="0" err="1"/>
              <a:t>capacidad</a:t>
            </a:r>
            <a:r>
              <a:rPr dirty="0"/>
              <a:t> de </a:t>
            </a:r>
            <a:r>
              <a:rPr dirty="0" err="1"/>
              <a:t>imitar</a:t>
            </a:r>
            <a:r>
              <a:rPr dirty="0"/>
              <a:t> la </a:t>
            </a:r>
            <a:r>
              <a:rPr dirty="0" err="1"/>
              <a:t>aleatoriedad</a:t>
            </a:r>
            <a:r>
              <a:rPr dirty="0"/>
              <a:t> del </a:t>
            </a:r>
            <a:r>
              <a:rPr dirty="0" err="1"/>
              <a:t>mundo</a:t>
            </a:r>
            <a:r>
              <a:rPr dirty="0"/>
              <a:t> real. </a:t>
            </a:r>
            <a:r>
              <a:rPr dirty="0" err="1"/>
              <a:t>Esto</a:t>
            </a:r>
            <a:r>
              <a:rPr dirty="0"/>
              <a:t> se </a:t>
            </a:r>
            <a:r>
              <a:rPr dirty="0" err="1"/>
              <a:t>logra</a:t>
            </a:r>
            <a:r>
              <a:rPr dirty="0"/>
              <a:t> </a:t>
            </a:r>
            <a:r>
              <a:rPr dirty="0" err="1"/>
              <a:t>mediante</a:t>
            </a:r>
            <a:r>
              <a:rPr dirty="0"/>
              <a:t> la </a:t>
            </a:r>
            <a:r>
              <a:rPr dirty="0" err="1"/>
              <a:t>generación</a:t>
            </a:r>
            <a:r>
              <a:rPr dirty="0"/>
              <a:t> de </a:t>
            </a:r>
            <a:r>
              <a:rPr dirty="0" err="1"/>
              <a:t>secuencias</a:t>
            </a:r>
            <a:r>
              <a:rPr dirty="0"/>
              <a:t> </a:t>
            </a:r>
            <a:r>
              <a:rPr dirty="0" err="1"/>
              <a:t>numéricas</a:t>
            </a:r>
            <a:r>
              <a:rPr dirty="0"/>
              <a:t> que </a:t>
            </a:r>
            <a:r>
              <a:rPr dirty="0" err="1"/>
              <a:t>simulan</a:t>
            </a:r>
            <a:r>
              <a:rPr dirty="0"/>
              <a:t> </a:t>
            </a:r>
            <a:r>
              <a:rPr dirty="0" err="1"/>
              <a:t>cumplir</a:t>
            </a:r>
            <a:r>
              <a:rPr dirty="0"/>
              <a:t> con </a:t>
            </a:r>
            <a:r>
              <a:rPr dirty="0" err="1"/>
              <a:t>propiedades</a:t>
            </a:r>
            <a:r>
              <a:rPr dirty="0"/>
              <a:t> de </a:t>
            </a:r>
            <a:r>
              <a:rPr dirty="0" err="1"/>
              <a:t>independencia</a:t>
            </a:r>
            <a:r>
              <a:rPr dirty="0"/>
              <a:t> y </a:t>
            </a:r>
            <a:r>
              <a:rPr dirty="0" err="1"/>
              <a:t>uniformidad</a:t>
            </a:r>
            <a:r>
              <a:rPr dirty="0"/>
              <a:t>, </a:t>
            </a:r>
            <a:r>
              <a:rPr dirty="0" err="1"/>
              <a:t>conocidas</a:t>
            </a:r>
            <a:r>
              <a:rPr dirty="0"/>
              <a:t> </a:t>
            </a:r>
            <a:r>
              <a:rPr dirty="0" err="1"/>
              <a:t>como</a:t>
            </a:r>
            <a:r>
              <a:rPr dirty="0"/>
              <a:t> </a:t>
            </a:r>
            <a:r>
              <a:rPr dirty="0" err="1"/>
              <a:t>números</a:t>
            </a:r>
            <a:r>
              <a:rPr dirty="0"/>
              <a:t> </a:t>
            </a:r>
            <a:r>
              <a:rPr dirty="0" err="1"/>
              <a:t>pseudoaleatorios</a:t>
            </a:r>
            <a:r>
              <a:rPr dirty="0"/>
              <a:t> $U \sim \text{</a:t>
            </a:r>
            <a:r>
              <a:rPr dirty="0" err="1"/>
              <a:t>Uniforme</a:t>
            </a:r>
            <a:r>
              <a:rPr dirty="0"/>
              <a:t>}(0, 1)$. A </a:t>
            </a:r>
            <a:r>
              <a:rPr dirty="0" err="1"/>
              <a:t>partir</a:t>
            </a:r>
            <a:r>
              <a:rPr dirty="0"/>
              <a:t> de </a:t>
            </a:r>
            <a:r>
              <a:rPr dirty="0" err="1"/>
              <a:t>estos</a:t>
            </a:r>
            <a:r>
              <a:rPr dirty="0"/>
              <a:t> </a:t>
            </a:r>
            <a:r>
              <a:rPr dirty="0" err="1"/>
              <a:t>valores</a:t>
            </a:r>
            <a:r>
              <a:rPr dirty="0"/>
              <a:t> base, se </a:t>
            </a:r>
            <a:r>
              <a:rPr dirty="0" err="1"/>
              <a:t>construyen</a:t>
            </a:r>
            <a:r>
              <a:rPr dirty="0"/>
              <a:t> variables </a:t>
            </a:r>
            <a:r>
              <a:rPr dirty="0" err="1"/>
              <a:t>aleatorias</a:t>
            </a:r>
            <a:r>
              <a:rPr dirty="0"/>
              <a:t> que </a:t>
            </a:r>
            <a:r>
              <a:rPr dirty="0" err="1"/>
              <a:t>representan</a:t>
            </a:r>
            <a:r>
              <a:rPr dirty="0"/>
              <a:t> </a:t>
            </a:r>
            <a:r>
              <a:rPr dirty="0" err="1"/>
              <a:t>los</a:t>
            </a:r>
            <a:r>
              <a:rPr dirty="0"/>
              <a:t> </a:t>
            </a:r>
            <a:r>
              <a:rPr dirty="0" err="1"/>
              <a:t>tiempos</a:t>
            </a:r>
            <a:r>
              <a:rPr dirty="0"/>
              <a:t> y </a:t>
            </a:r>
            <a:r>
              <a:rPr dirty="0" err="1"/>
              <a:t>sucesos</a:t>
            </a:r>
            <a:r>
              <a:rPr dirty="0"/>
              <a:t> del taller.</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62790" y="274320"/>
            <a:ext cx="4835939" cy="477054"/>
          </a:xfrm>
          <a:prstGeom prst="rect">
            <a:avLst/>
          </a:prstGeom>
          <a:noFill/>
        </p:spPr>
        <p:txBody>
          <a:bodyPr wrap="none">
            <a:spAutoFit/>
          </a:bodyPr>
          <a:lstStyle/>
          <a:p>
            <a:pPr algn="ctr">
              <a:defRPr sz="2500" b="1">
                <a:solidFill>
                  <a:srgbClr val="123048"/>
                </a:solidFill>
              </a:defRPr>
            </a:pPr>
            <a:r>
              <a:rPr dirty="0"/>
              <a:t>2.3.1 Variables </a:t>
            </a:r>
            <a:r>
              <a:rPr dirty="0" err="1"/>
              <a:t>Aleatorias</a:t>
            </a:r>
            <a:r>
              <a:rPr dirty="0"/>
              <a:t> </a:t>
            </a:r>
            <a:r>
              <a:rPr dirty="0" err="1"/>
              <a:t>Discretas</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2: MARCO TEÓRICO</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Son aquellas que toman un conjunto de valores finitos o infinitos numerables. Su comportamiento se describe mediante una Función de Masa de Probabilidad (FMP) $P(X = x_i) = p_i$. Entre las más relevantes destacan:</a:t>
            </a:r>
          </a:p>
          <a:p>
            <a:pPr>
              <a:spcAft>
                <a:spcPts val="700"/>
              </a:spcAft>
              <a:defRPr sz="1500" b="0">
                <a:solidFill>
                  <a:srgbClr val="232B32"/>
                </a:solidFill>
              </a:defRPr>
            </a:pPr>
            <a:endParaRPr/>
          </a:p>
          <a:p>
            <a:pPr>
              <a:spcAft>
                <a:spcPts val="700"/>
              </a:spcAft>
              <a:defRPr sz="1500" b="0">
                <a:solidFill>
                  <a:srgbClr val="232B32"/>
                </a:solidFill>
              </a:defRPr>
            </a:pPr>
            <a:r>
              <a:t>Distribución de Poisson: Utilizada habitualmente para modelar el número de llegadas de clientes al taller en un intervalo de tiempo específico.</a:t>
            </a:r>
          </a:p>
          <a:p>
            <a:pPr>
              <a:spcAft>
                <a:spcPts val="700"/>
              </a:spcAft>
              <a:defRPr sz="1500" b="0">
                <a:solidFill>
                  <a:srgbClr val="232B32"/>
                </a:solidFill>
              </a:defRPr>
            </a:pPr>
            <a:endParaRPr/>
          </a:p>
          <a:p>
            <a:pPr>
              <a:spcAft>
                <a:spcPts val="700"/>
              </a:spcAft>
              <a:defRPr sz="1500" b="0">
                <a:solidFill>
                  <a:srgbClr val="232B32"/>
                </a:solidFill>
              </a:defRPr>
            </a:pPr>
            <a:r>
              <a:t>Distribución Binomial: Empleada para representar el número de éxitos o fallos en pruebas independientes de calidad o diagnóstico.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01299" y="274320"/>
            <a:ext cx="4958922" cy="477054"/>
          </a:xfrm>
          <a:prstGeom prst="rect">
            <a:avLst/>
          </a:prstGeom>
          <a:noFill/>
        </p:spPr>
        <p:txBody>
          <a:bodyPr wrap="none">
            <a:spAutoFit/>
          </a:bodyPr>
          <a:lstStyle/>
          <a:p>
            <a:pPr algn="ctr">
              <a:defRPr sz="2500" b="1">
                <a:solidFill>
                  <a:srgbClr val="123048"/>
                </a:solidFill>
              </a:defRPr>
            </a:pPr>
            <a:r>
              <a:rPr dirty="0"/>
              <a:t>2.3.2 Variables </a:t>
            </a:r>
            <a:r>
              <a:rPr dirty="0" err="1"/>
              <a:t>Aleatorias</a:t>
            </a:r>
            <a:r>
              <a:rPr dirty="0"/>
              <a:t> </a:t>
            </a:r>
            <a:r>
              <a:rPr dirty="0" err="1"/>
              <a:t>Continuas</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2: MARCO TEÓRICO</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Pueden tomar cualquier valor dentro de un intervalo real y se describen mediante una Función de Densidad de Probabilidad (FDP) $f(x)$ y su respectiva Función de Distribución Acumulada (FDA) $F(x)$. Las principales aplicaciones en el taller incluyen:</a:t>
            </a:r>
          </a:p>
          <a:p>
            <a:pPr>
              <a:spcAft>
                <a:spcPts val="700"/>
              </a:spcAft>
              <a:defRPr sz="1500" b="0">
                <a:solidFill>
                  <a:srgbClr val="232B32"/>
                </a:solidFill>
              </a:defRPr>
            </a:pPr>
            <a:endParaRPr/>
          </a:p>
          <a:p>
            <a:pPr>
              <a:spcAft>
                <a:spcPts val="700"/>
              </a:spcAft>
              <a:defRPr sz="1500" b="0">
                <a:solidFill>
                  <a:srgbClr val="232B32"/>
                </a:solidFill>
              </a:defRPr>
            </a:pPr>
            <a:r>
              <a:t>Distribución Exponencial: Fundamental para modelar los tiempos entre llegadas de vehículos o los tiempos de servicio cuando no existe "memoria" en el proceso.</a:t>
            </a:r>
          </a:p>
          <a:p>
            <a:pPr>
              <a:spcAft>
                <a:spcPts val="700"/>
              </a:spcAft>
              <a:defRPr sz="1500" b="0">
                <a:solidFill>
                  <a:srgbClr val="232B32"/>
                </a:solidFill>
              </a:defRPr>
            </a:pPr>
            <a:endParaRPr/>
          </a:p>
          <a:p>
            <a:pPr>
              <a:spcAft>
                <a:spcPts val="700"/>
              </a:spcAft>
              <a:defRPr sz="1500" b="0">
                <a:solidFill>
                  <a:srgbClr val="232B32"/>
                </a:solidFill>
              </a:defRPr>
            </a:pPr>
            <a:r>
              <a:t>Distribución Normal (Gaussiana): Aplicada en procesos de reparación o medición donde los errores y variaciones tienden a concentrarse simétricamente alrededor de una media.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590509" y="274320"/>
            <a:ext cx="6980501" cy="477054"/>
          </a:xfrm>
          <a:prstGeom prst="rect">
            <a:avLst/>
          </a:prstGeom>
          <a:noFill/>
        </p:spPr>
        <p:txBody>
          <a:bodyPr wrap="none">
            <a:spAutoFit/>
          </a:bodyPr>
          <a:lstStyle/>
          <a:p>
            <a:pPr algn="ctr">
              <a:defRPr sz="2500" b="1">
                <a:solidFill>
                  <a:srgbClr val="123048"/>
                </a:solidFill>
              </a:defRPr>
            </a:pPr>
            <a:r>
              <a:rPr dirty="0"/>
              <a:t>2.4 </a:t>
            </a:r>
            <a:r>
              <a:rPr dirty="0" err="1"/>
              <a:t>Métodos</a:t>
            </a:r>
            <a:r>
              <a:rPr dirty="0"/>
              <a:t> de </a:t>
            </a:r>
            <a:r>
              <a:rPr dirty="0" err="1"/>
              <a:t>Generación</a:t>
            </a:r>
            <a:r>
              <a:rPr dirty="0"/>
              <a:t> de Variables </a:t>
            </a:r>
            <a:r>
              <a:rPr dirty="0" err="1"/>
              <a:t>Aleatorias</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2: MARCO TEÓRICO</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rPr dirty="0"/>
              <a:t>Para </a:t>
            </a:r>
            <a:r>
              <a:rPr dirty="0" err="1"/>
              <a:t>transformar</a:t>
            </a:r>
            <a:r>
              <a:rPr dirty="0"/>
              <a:t> </a:t>
            </a:r>
            <a:r>
              <a:rPr dirty="0" err="1"/>
              <a:t>los</a:t>
            </a:r>
            <a:r>
              <a:rPr dirty="0"/>
              <a:t> </a:t>
            </a:r>
            <a:r>
              <a:rPr dirty="0" err="1"/>
              <a:t>números</a:t>
            </a:r>
            <a:r>
              <a:rPr dirty="0"/>
              <a:t> </a:t>
            </a:r>
            <a:r>
              <a:rPr dirty="0" err="1"/>
              <a:t>pseudoaleatorios</a:t>
            </a:r>
            <a:r>
              <a:rPr dirty="0"/>
              <a:t> </a:t>
            </a:r>
            <a:r>
              <a:rPr dirty="0" err="1"/>
              <a:t>uniformes</a:t>
            </a:r>
            <a:r>
              <a:rPr dirty="0"/>
              <a:t> $U(0,1)$ </a:t>
            </a:r>
            <a:r>
              <a:rPr dirty="0" err="1"/>
              <a:t>en</a:t>
            </a:r>
            <a:r>
              <a:rPr dirty="0"/>
              <a:t> </a:t>
            </a:r>
            <a:r>
              <a:rPr dirty="0" err="1"/>
              <a:t>valores</a:t>
            </a:r>
            <a:r>
              <a:rPr dirty="0"/>
              <a:t> que </a:t>
            </a:r>
            <a:r>
              <a:rPr dirty="0" err="1"/>
              <a:t>sigan</a:t>
            </a:r>
            <a:r>
              <a:rPr dirty="0"/>
              <a:t> las </a:t>
            </a:r>
            <a:r>
              <a:rPr dirty="0" err="1"/>
              <a:t>distribuciones</a:t>
            </a:r>
            <a:r>
              <a:rPr dirty="0"/>
              <a:t> </a:t>
            </a:r>
            <a:r>
              <a:rPr dirty="0" err="1"/>
              <a:t>requeridas</a:t>
            </a:r>
            <a:r>
              <a:rPr dirty="0"/>
              <a:t> </a:t>
            </a:r>
            <a:r>
              <a:rPr dirty="0" err="1"/>
              <a:t>por</a:t>
            </a:r>
            <a:r>
              <a:rPr dirty="0"/>
              <a:t> el </a:t>
            </a:r>
            <a:r>
              <a:rPr dirty="0" err="1"/>
              <a:t>modelo</a:t>
            </a:r>
            <a:r>
              <a:rPr dirty="0"/>
              <a:t> del taller, se </a:t>
            </a:r>
            <a:r>
              <a:rPr dirty="0" err="1"/>
              <a:t>utilizan</a:t>
            </a:r>
            <a:r>
              <a:rPr dirty="0"/>
              <a:t> </a:t>
            </a:r>
            <a:r>
              <a:rPr dirty="0" err="1"/>
              <a:t>métodos</a:t>
            </a:r>
            <a:r>
              <a:rPr dirty="0"/>
              <a:t> </a:t>
            </a:r>
            <a:r>
              <a:rPr dirty="0" err="1"/>
              <a:t>analíticos</a:t>
            </a:r>
            <a:r>
              <a:rPr dirty="0"/>
              <a:t> y </a:t>
            </a:r>
            <a:r>
              <a:rPr dirty="0" err="1"/>
              <a:t>algorítmicos</a:t>
            </a:r>
            <a:r>
              <a:rPr dirty="0"/>
              <a:t>:</a:t>
            </a:r>
          </a:p>
          <a:p>
            <a:pPr>
              <a:spcAft>
                <a:spcPts val="700"/>
              </a:spcAft>
              <a:defRPr sz="1500" b="0">
                <a:solidFill>
                  <a:srgbClr val="232B32"/>
                </a:solidFill>
              </a:defRPr>
            </a:pPr>
            <a:endParaRPr dirty="0"/>
          </a:p>
          <a:p>
            <a:pPr>
              <a:spcAft>
                <a:spcPts val="700"/>
              </a:spcAft>
              <a:defRPr sz="1500" b="0">
                <a:solidFill>
                  <a:srgbClr val="232B32"/>
                </a:solidFill>
              </a:defRPr>
            </a:pPr>
            <a:r>
              <a:rPr dirty="0" err="1"/>
              <a:t>Método</a:t>
            </a:r>
            <a:r>
              <a:rPr dirty="0"/>
              <a:t> de la </a:t>
            </a:r>
            <a:r>
              <a:rPr dirty="0" err="1"/>
              <a:t>Transformada</a:t>
            </a:r>
            <a:r>
              <a:rPr dirty="0"/>
              <a:t> </a:t>
            </a:r>
            <a:r>
              <a:rPr dirty="0" err="1"/>
              <a:t>Inversa</a:t>
            </a:r>
            <a:r>
              <a:rPr dirty="0"/>
              <a:t>: </a:t>
            </a:r>
            <a:r>
              <a:rPr dirty="0" err="1"/>
              <a:t>Es</a:t>
            </a:r>
            <a:r>
              <a:rPr dirty="0"/>
              <a:t> el </a:t>
            </a:r>
            <a:r>
              <a:rPr dirty="0" err="1"/>
              <a:t>enfoque</a:t>
            </a:r>
            <a:r>
              <a:rPr dirty="0"/>
              <a:t> </a:t>
            </a:r>
            <a:r>
              <a:rPr dirty="0" err="1"/>
              <a:t>más</a:t>
            </a:r>
            <a:r>
              <a:rPr dirty="0"/>
              <a:t> </a:t>
            </a:r>
            <a:r>
              <a:rPr dirty="0" err="1"/>
              <a:t>directo</a:t>
            </a:r>
            <a:r>
              <a:rPr dirty="0"/>
              <a:t>. Si $F(x)$ </a:t>
            </a:r>
            <a:r>
              <a:rPr dirty="0" err="1"/>
              <a:t>es</a:t>
            </a:r>
            <a:r>
              <a:rPr dirty="0"/>
              <a:t> la </a:t>
            </a:r>
            <a:r>
              <a:rPr dirty="0" err="1"/>
              <a:t>función</a:t>
            </a:r>
            <a:r>
              <a:rPr dirty="0"/>
              <a:t> de </a:t>
            </a:r>
            <a:r>
              <a:rPr dirty="0" err="1"/>
              <a:t>distribución</a:t>
            </a:r>
            <a:r>
              <a:rPr dirty="0"/>
              <a:t> </a:t>
            </a:r>
            <a:r>
              <a:rPr dirty="0" err="1"/>
              <a:t>acumulada</a:t>
            </a:r>
            <a:r>
              <a:rPr dirty="0"/>
              <a:t> continua de la variable </a:t>
            </a:r>
            <a:r>
              <a:rPr dirty="0" err="1"/>
              <a:t>aleatoria</a:t>
            </a:r>
            <a:r>
              <a:rPr dirty="0"/>
              <a:t> </a:t>
            </a:r>
            <a:r>
              <a:rPr dirty="0" err="1"/>
              <a:t>deseada</a:t>
            </a:r>
            <a:r>
              <a:rPr dirty="0"/>
              <a:t>, se </a:t>
            </a:r>
            <a:r>
              <a:rPr dirty="0" err="1"/>
              <a:t>iguala</a:t>
            </a:r>
            <a:r>
              <a:rPr dirty="0"/>
              <a:t> $F(x) = U$ y se </a:t>
            </a:r>
            <a:r>
              <a:rPr dirty="0" err="1"/>
              <a:t>despeja</a:t>
            </a:r>
            <a:r>
              <a:rPr dirty="0"/>
              <a:t> $x$ </a:t>
            </a:r>
            <a:r>
              <a:rPr dirty="0" err="1"/>
              <a:t>en</a:t>
            </a:r>
            <a:r>
              <a:rPr dirty="0"/>
              <a:t> </a:t>
            </a:r>
            <a:r>
              <a:rPr dirty="0" err="1"/>
              <a:t>función</a:t>
            </a:r>
            <a:r>
              <a:rPr dirty="0"/>
              <a:t> de $U$ </a:t>
            </a:r>
            <a:r>
              <a:rPr dirty="0" err="1"/>
              <a:t>mediante</a:t>
            </a:r>
            <a:r>
              <a:rPr dirty="0"/>
              <a:t> la </a:t>
            </a:r>
            <a:r>
              <a:rPr dirty="0" err="1"/>
              <a:t>función</a:t>
            </a:r>
            <a:r>
              <a:rPr dirty="0"/>
              <a:t> </a:t>
            </a:r>
            <a:r>
              <a:rPr dirty="0" err="1"/>
              <a:t>inversa</a:t>
            </a:r>
            <a:r>
              <a:rPr dirty="0"/>
              <a:t> $x = F^{-1}(U)$. </a:t>
            </a:r>
            <a:r>
              <a:rPr dirty="0" err="1"/>
              <a:t>Es</a:t>
            </a:r>
            <a:r>
              <a:rPr dirty="0"/>
              <a:t> </a:t>
            </a:r>
            <a:r>
              <a:rPr dirty="0" err="1"/>
              <a:t>altamente</a:t>
            </a:r>
            <a:r>
              <a:rPr dirty="0"/>
              <a:t> </a:t>
            </a:r>
            <a:r>
              <a:rPr dirty="0" err="1"/>
              <a:t>eficiente</a:t>
            </a:r>
            <a:r>
              <a:rPr dirty="0"/>
              <a:t> para </a:t>
            </a:r>
            <a:r>
              <a:rPr dirty="0" err="1"/>
              <a:t>distribuciones</a:t>
            </a:r>
            <a:r>
              <a:rPr dirty="0"/>
              <a:t> </a:t>
            </a:r>
            <a:r>
              <a:rPr dirty="0" err="1"/>
              <a:t>como</a:t>
            </a:r>
            <a:r>
              <a:rPr dirty="0"/>
              <a:t> la </a:t>
            </a:r>
            <a:r>
              <a:rPr dirty="0" err="1"/>
              <a:t>Uniforme</a:t>
            </a:r>
            <a:r>
              <a:rPr dirty="0"/>
              <a:t> y la </a:t>
            </a:r>
            <a:r>
              <a:rPr dirty="0" err="1"/>
              <a:t>Exponencial</a:t>
            </a:r>
            <a:r>
              <a:rPr dirty="0"/>
              <a:t>.</a:t>
            </a:r>
          </a:p>
          <a:p>
            <a:pPr>
              <a:spcAft>
                <a:spcPts val="700"/>
              </a:spcAft>
              <a:defRPr sz="1500" b="0">
                <a:solidFill>
                  <a:srgbClr val="232B32"/>
                </a:solidFill>
              </a:defRPr>
            </a:pPr>
            <a:endParaRPr dirty="0"/>
          </a:p>
          <a:p>
            <a:pPr>
              <a:spcAft>
                <a:spcPts val="700"/>
              </a:spcAft>
              <a:defRPr sz="1500" b="0">
                <a:solidFill>
                  <a:srgbClr val="232B32"/>
                </a:solidFill>
              </a:defRPr>
            </a:pPr>
            <a:r>
              <a:rPr dirty="0" err="1"/>
              <a:t>Método</a:t>
            </a:r>
            <a:r>
              <a:rPr dirty="0"/>
              <a:t> de </a:t>
            </a:r>
            <a:r>
              <a:rPr dirty="0" err="1"/>
              <a:t>Convolución</a:t>
            </a:r>
            <a:r>
              <a:rPr dirty="0"/>
              <a:t>: Se </a:t>
            </a:r>
            <a:r>
              <a:rPr dirty="0" err="1"/>
              <a:t>basa</a:t>
            </a:r>
            <a:r>
              <a:rPr dirty="0"/>
              <a:t> </a:t>
            </a:r>
            <a:r>
              <a:rPr dirty="0" err="1"/>
              <a:t>en</a:t>
            </a:r>
            <a:r>
              <a:rPr dirty="0"/>
              <a:t> el principio de que </a:t>
            </a:r>
            <a:r>
              <a:rPr dirty="0" err="1"/>
              <a:t>una</a:t>
            </a:r>
            <a:r>
              <a:rPr dirty="0"/>
              <a:t> variable </a:t>
            </a:r>
            <a:r>
              <a:rPr dirty="0" err="1"/>
              <a:t>aleatoria</a:t>
            </a:r>
            <a:r>
              <a:rPr dirty="0"/>
              <a:t> </a:t>
            </a:r>
            <a:r>
              <a:rPr dirty="0" err="1"/>
              <a:t>compleja</a:t>
            </a:r>
            <a:r>
              <a:rPr dirty="0"/>
              <a:t> </a:t>
            </a:r>
            <a:r>
              <a:rPr dirty="0" err="1"/>
              <a:t>puede</a:t>
            </a:r>
            <a:r>
              <a:rPr dirty="0"/>
              <a:t> </a:t>
            </a:r>
            <a:r>
              <a:rPr dirty="0" err="1"/>
              <a:t>obtenerse</a:t>
            </a:r>
            <a:r>
              <a:rPr dirty="0"/>
              <a:t> </a:t>
            </a:r>
            <a:r>
              <a:rPr dirty="0" err="1"/>
              <a:t>como</a:t>
            </a:r>
            <a:r>
              <a:rPr dirty="0"/>
              <a:t> la </a:t>
            </a:r>
            <a:r>
              <a:rPr dirty="0" err="1"/>
              <a:t>suma</a:t>
            </a:r>
            <a:r>
              <a:rPr dirty="0"/>
              <a:t> de </a:t>
            </a:r>
            <a:r>
              <a:rPr dirty="0" err="1"/>
              <a:t>varias</a:t>
            </a:r>
            <a:r>
              <a:rPr dirty="0"/>
              <a:t> variables </a:t>
            </a:r>
            <a:r>
              <a:rPr dirty="0" err="1"/>
              <a:t>aleatorias</a:t>
            </a:r>
            <a:r>
              <a:rPr dirty="0"/>
              <a:t> </a:t>
            </a:r>
            <a:r>
              <a:rPr dirty="0" err="1"/>
              <a:t>independientes</a:t>
            </a:r>
            <a:r>
              <a:rPr dirty="0"/>
              <a:t> </a:t>
            </a:r>
            <a:r>
              <a:rPr dirty="0" err="1"/>
              <a:t>más</a:t>
            </a:r>
            <a:r>
              <a:rPr dirty="0"/>
              <a:t> simples ($Y = X_1 + X_2 + \dots + </a:t>
            </a:r>
            <a:r>
              <a:rPr dirty="0" err="1"/>
              <a:t>X_n</a:t>
            </a:r>
            <a:r>
              <a:rPr dirty="0"/>
              <a:t>$).</a:t>
            </a:r>
          </a:p>
          <a:p>
            <a:pPr>
              <a:spcAft>
                <a:spcPts val="700"/>
              </a:spcAft>
              <a:defRPr sz="1500" b="0">
                <a:solidFill>
                  <a:srgbClr val="232B32"/>
                </a:solidFill>
              </a:defRPr>
            </a:pPr>
            <a:endParaRPr dirty="0"/>
          </a:p>
          <a:p>
            <a:pPr>
              <a:spcAft>
                <a:spcPts val="700"/>
              </a:spcAft>
              <a:defRPr sz="1500" b="0">
                <a:solidFill>
                  <a:srgbClr val="232B32"/>
                </a:solidFill>
              </a:defRPr>
            </a:pPr>
            <a:r>
              <a:rPr dirty="0" err="1"/>
              <a:t>útil</a:t>
            </a:r>
            <a:r>
              <a:rPr dirty="0"/>
              <a:t> para </a:t>
            </a:r>
            <a:r>
              <a:rPr dirty="0" err="1"/>
              <a:t>modelar</a:t>
            </a:r>
            <a:r>
              <a:rPr dirty="0"/>
              <a:t> </a:t>
            </a:r>
            <a:r>
              <a:rPr dirty="0" err="1"/>
              <a:t>distribuciones</a:t>
            </a:r>
            <a:r>
              <a:rPr dirty="0"/>
              <a:t> </a:t>
            </a:r>
            <a:r>
              <a:rPr dirty="0" err="1"/>
              <a:t>Erlang</a:t>
            </a:r>
            <a:r>
              <a:rPr dirty="0"/>
              <a:t> o </a:t>
            </a:r>
            <a:r>
              <a:rPr dirty="0" err="1"/>
              <a:t>aproximaciones</a:t>
            </a:r>
            <a:r>
              <a:rPr dirty="0"/>
              <a:t> a la </a:t>
            </a:r>
            <a:r>
              <a:rPr dirty="0" err="1"/>
              <a:t>normalidad</a:t>
            </a:r>
            <a:r>
              <a:rPr dirty="0"/>
              <a:t> </a:t>
            </a:r>
            <a:r>
              <a:rPr dirty="0" err="1"/>
              <a:t>mediante</a:t>
            </a:r>
            <a:r>
              <a:rPr dirty="0"/>
              <a:t> el </a:t>
            </a:r>
            <a:r>
              <a:rPr dirty="0" err="1"/>
              <a:t>Teorema</a:t>
            </a:r>
            <a:r>
              <a:rPr dirty="0"/>
              <a:t> del </a:t>
            </a:r>
            <a:r>
              <a:rPr dirty="0" err="1"/>
              <a:t>Límite</a:t>
            </a:r>
            <a:r>
              <a:rPr dirty="0"/>
              <a:t> Central.</a:t>
            </a:r>
          </a:p>
          <a:p>
            <a:pPr>
              <a:spcAft>
                <a:spcPts val="700"/>
              </a:spcAft>
              <a:defRPr sz="1500" b="0">
                <a:solidFill>
                  <a:srgbClr val="232B32"/>
                </a:solidFill>
              </a:defRPr>
            </a:pPr>
            <a:endParaRPr dirty="0"/>
          </a:p>
          <a:p>
            <a:pPr>
              <a:spcAft>
                <a:spcPts val="700"/>
              </a:spcAft>
              <a:defRPr sz="1500" b="0">
                <a:solidFill>
                  <a:srgbClr val="232B32"/>
                </a:solidFill>
              </a:defRPr>
            </a:pPr>
            <a:r>
              <a:rPr dirty="0" err="1"/>
              <a:t>Procedimientos</a:t>
            </a:r>
            <a:r>
              <a:rPr dirty="0"/>
              <a:t> </a:t>
            </a:r>
            <a:r>
              <a:rPr dirty="0" err="1"/>
              <a:t>Especiales</a:t>
            </a:r>
            <a:r>
              <a:rPr dirty="0"/>
              <a:t> (</a:t>
            </a:r>
            <a:r>
              <a:rPr dirty="0" err="1"/>
              <a:t>Algoritmo</a:t>
            </a:r>
            <a:r>
              <a:rPr dirty="0"/>
              <a:t> Box-Muller): </a:t>
            </a:r>
            <a:r>
              <a:rPr dirty="0" err="1"/>
              <a:t>Utilizado</a:t>
            </a:r>
            <a:r>
              <a:rPr dirty="0"/>
              <a:t> para </a:t>
            </a:r>
            <a:r>
              <a:rPr dirty="0" err="1"/>
              <a:t>generar</a:t>
            </a:r>
            <a:r>
              <a:rPr dirty="0"/>
              <a:t> variables </a:t>
            </a:r>
            <a:r>
              <a:rPr dirty="0" err="1"/>
              <a:t>aleatorias</a:t>
            </a:r>
            <a:r>
              <a:rPr dirty="0"/>
              <a:t> con </a:t>
            </a:r>
            <a:r>
              <a:rPr dirty="0" err="1"/>
              <a:t>distribución</a:t>
            </a:r>
            <a:r>
              <a:rPr dirty="0"/>
              <a:t> normal a </a:t>
            </a:r>
            <a:r>
              <a:rPr dirty="0" err="1"/>
              <a:t>partir</a:t>
            </a:r>
            <a:r>
              <a:rPr dirty="0"/>
              <a:t> de pares de </a:t>
            </a:r>
            <a:r>
              <a:rPr dirty="0" err="1"/>
              <a:t>números</a:t>
            </a:r>
            <a:r>
              <a:rPr dirty="0"/>
              <a:t> </a:t>
            </a:r>
            <a:r>
              <a:rPr dirty="0" err="1"/>
              <a:t>pseudoaleatorios</a:t>
            </a:r>
            <a:r>
              <a:rPr dirty="0"/>
              <a:t> </a:t>
            </a:r>
            <a:r>
              <a:rPr dirty="0" err="1"/>
              <a:t>uniformes</a:t>
            </a:r>
            <a:r>
              <a:rPr dirty="0"/>
              <a:t> </a:t>
            </a:r>
            <a:r>
              <a:rPr dirty="0" err="1"/>
              <a:t>independientes</a:t>
            </a:r>
            <a:r>
              <a:rPr dirty="0"/>
              <a:t>, </a:t>
            </a:r>
            <a:r>
              <a:rPr dirty="0" err="1"/>
              <a:t>mediante</a:t>
            </a:r>
            <a:r>
              <a:rPr dirty="0"/>
              <a:t> </a:t>
            </a:r>
            <a:r>
              <a:rPr dirty="0" err="1"/>
              <a:t>transformaciones</a:t>
            </a:r>
            <a:r>
              <a:rPr dirty="0"/>
              <a:t> </a:t>
            </a:r>
            <a:r>
              <a:rPr dirty="0" err="1"/>
              <a:t>en</a:t>
            </a:r>
            <a:r>
              <a:rPr dirty="0"/>
              <a:t> </a:t>
            </a:r>
            <a:r>
              <a:rPr dirty="0" err="1"/>
              <a:t>coordenadas</a:t>
            </a:r>
            <a:r>
              <a:rPr dirty="0"/>
              <a:t> </a:t>
            </a:r>
            <a:r>
              <a:rPr dirty="0" err="1"/>
              <a:t>polares</a:t>
            </a:r>
            <a:r>
              <a:rPr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88071" y="274320"/>
            <a:ext cx="10985379" cy="477054"/>
          </a:xfrm>
          <a:prstGeom prst="rect">
            <a:avLst/>
          </a:prstGeom>
          <a:noFill/>
        </p:spPr>
        <p:txBody>
          <a:bodyPr wrap="none">
            <a:spAutoFit/>
          </a:bodyPr>
          <a:lstStyle/>
          <a:p>
            <a:pPr algn="ctr">
              <a:defRPr sz="2500" b="1">
                <a:solidFill>
                  <a:srgbClr val="123048"/>
                </a:solidFill>
              </a:defRPr>
            </a:pPr>
            <a:r>
              <a:rPr dirty="0"/>
              <a:t>2.5 </a:t>
            </a:r>
            <a:r>
              <a:rPr dirty="0" err="1"/>
              <a:t>Entornos</a:t>
            </a:r>
            <a:r>
              <a:rPr dirty="0"/>
              <a:t> de </a:t>
            </a:r>
            <a:r>
              <a:rPr dirty="0" err="1"/>
              <a:t>Desarrollo</a:t>
            </a:r>
            <a:r>
              <a:rPr dirty="0"/>
              <a:t> e </a:t>
            </a:r>
            <a:r>
              <a:rPr dirty="0" err="1"/>
              <a:t>Integración</a:t>
            </a:r>
            <a:r>
              <a:rPr dirty="0"/>
              <a:t> Multi-</a:t>
            </a:r>
            <a:r>
              <a:rPr dirty="0" err="1"/>
              <a:t>lenguaje</a:t>
            </a:r>
            <a:r>
              <a:rPr dirty="0"/>
              <a:t> (IntelliJ IDEA: Python + R)</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2: MARCO TEÓRICO</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Para la construcción del motor computacional y de análisis estadístico del taller, se utilizó el entorno de desarrollo integrado IntelliJ IDEA, reconocido por su potencia en el desarrollo de software modular y profesional.</a:t>
            </a:r>
          </a:p>
          <a:p>
            <a:pPr>
              <a:spcAft>
                <a:spcPts val="700"/>
              </a:spcAft>
              <a:defRPr sz="1500" b="0">
                <a:solidFill>
                  <a:srgbClr val="232B32"/>
                </a:solidFill>
              </a:defRPr>
            </a:pPr>
            <a:endParaRPr/>
          </a:p>
          <a:p>
            <a:pPr>
              <a:spcAft>
                <a:spcPts val="700"/>
              </a:spcAft>
              <a:defRPr sz="1500" b="0">
                <a:solidFill>
                  <a:srgbClr val="232B32"/>
                </a:solidFill>
              </a:defRPr>
            </a:pPr>
            <a:r>
              <a:t>La solución implementa una arquitectura híbrida integrando dos lenguajes complementarios:</a:t>
            </a:r>
          </a:p>
          <a:p>
            <a:pPr>
              <a:spcAft>
                <a:spcPts val="700"/>
              </a:spcAft>
              <a:defRPr sz="1500" b="0">
                <a:solidFill>
                  <a:srgbClr val="232B32"/>
                </a:solidFill>
              </a:defRPr>
            </a:pPr>
            <a:endParaRPr/>
          </a:p>
          <a:p>
            <a:pPr>
              <a:spcAft>
                <a:spcPts val="700"/>
              </a:spcAft>
              <a:defRPr sz="1500" b="0">
                <a:solidFill>
                  <a:srgbClr val="232B32"/>
                </a:solidFill>
              </a:defRPr>
            </a:pPr>
            <a:r>
              <a:t>Python: Actúa como el lenguaje orquestador encargado de gestionar las estructuras de control, la simulación iterativa de los eventos del taller, la captura de métricas en tiempo de ejecución y la estructuración general del programa.</a:t>
            </a:r>
          </a:p>
          <a:p>
            <a:pPr>
              <a:spcAft>
                <a:spcPts val="700"/>
              </a:spcAft>
              <a:defRPr sz="1500" b="0">
                <a:solidFill>
                  <a:srgbClr val="232B32"/>
                </a:solidFill>
              </a:defRPr>
            </a:pPr>
            <a:endParaRPr/>
          </a:p>
          <a:p>
            <a:pPr>
              <a:spcAft>
                <a:spcPts val="700"/>
              </a:spcAft>
              <a:defRPr sz="1500" b="0">
                <a:solidFill>
                  <a:srgbClr val="232B32"/>
                </a:solidFill>
              </a:defRPr>
            </a:pPr>
            <a:r>
              <a:t>R: Funciona como el motor analítico y estadístico encargado de procesar los vectores numéricos, aplicar funciones de densidad complejas, verificar pruebas de bondad de ajuste y generar distribuciones estocásticas precisas que alimentan la simulación.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969652" y="274320"/>
            <a:ext cx="6222216" cy="477054"/>
          </a:xfrm>
          <a:prstGeom prst="rect">
            <a:avLst/>
          </a:prstGeom>
          <a:noFill/>
        </p:spPr>
        <p:txBody>
          <a:bodyPr wrap="none">
            <a:spAutoFit/>
          </a:bodyPr>
          <a:lstStyle/>
          <a:p>
            <a:pPr algn="ctr">
              <a:defRPr sz="2500" b="1">
                <a:solidFill>
                  <a:srgbClr val="123048"/>
                </a:solidFill>
              </a:defRPr>
            </a:pPr>
            <a:r>
              <a:rPr dirty="0"/>
              <a:t>3.1 </a:t>
            </a:r>
            <a:r>
              <a:rPr dirty="0" err="1"/>
              <a:t>Descripción</a:t>
            </a:r>
            <a:r>
              <a:rPr dirty="0"/>
              <a:t> </a:t>
            </a:r>
            <a:r>
              <a:rPr dirty="0" err="1"/>
              <a:t>Operativa</a:t>
            </a:r>
            <a:r>
              <a:rPr dirty="0"/>
              <a:t> </a:t>
            </a:r>
            <a:r>
              <a:rPr dirty="0" err="1"/>
              <a:t>Detallada</a:t>
            </a:r>
            <a:r>
              <a:rPr dirty="0"/>
              <a:t> del Taller</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3: MODELADO DE PROCESOS DEL TALLER (BPMN)</a:t>
            </a:r>
          </a:p>
        </p:txBody>
      </p:sp>
      <p:sp>
        <p:nvSpPr>
          <p:cNvPr id="6" name="TextBox 5"/>
          <p:cNvSpPr txBox="1"/>
          <p:nvPr/>
        </p:nvSpPr>
        <p:spPr>
          <a:xfrm>
            <a:off x="731520" y="1234440"/>
            <a:ext cx="10698480" cy="5262979"/>
          </a:xfrm>
          <a:prstGeom prst="rect">
            <a:avLst/>
          </a:prstGeom>
          <a:noFill/>
        </p:spPr>
        <p:txBody>
          <a:bodyPr wrap="square" lIns="73152" rIns="73152">
            <a:spAutoFit/>
          </a:bodyPr>
          <a:lstStyle/>
          <a:p>
            <a:pPr>
              <a:spcAft>
                <a:spcPts val="700"/>
              </a:spcAft>
              <a:defRPr sz="1350" b="0">
                <a:solidFill>
                  <a:srgbClr val="232B32"/>
                </a:solidFill>
              </a:defRPr>
            </a:pPr>
            <a:r>
              <a:rPr dirty="0"/>
              <a:t>Para </a:t>
            </a:r>
            <a:r>
              <a:rPr dirty="0" err="1"/>
              <a:t>lograr</a:t>
            </a:r>
            <a:r>
              <a:rPr dirty="0"/>
              <a:t> </a:t>
            </a:r>
            <a:r>
              <a:rPr dirty="0" err="1"/>
              <a:t>una</a:t>
            </a:r>
            <a:r>
              <a:rPr dirty="0"/>
              <a:t> </a:t>
            </a:r>
            <a:r>
              <a:rPr dirty="0" err="1"/>
              <a:t>simulación</a:t>
            </a:r>
            <a:r>
              <a:rPr dirty="0"/>
              <a:t> </a:t>
            </a:r>
            <a:r>
              <a:rPr dirty="0" err="1"/>
              <a:t>computacional</a:t>
            </a:r>
            <a:r>
              <a:rPr dirty="0"/>
              <a:t> </a:t>
            </a:r>
            <a:r>
              <a:rPr dirty="0" err="1"/>
              <a:t>precisa</a:t>
            </a:r>
            <a:r>
              <a:rPr dirty="0"/>
              <a:t> y </a:t>
            </a:r>
            <a:r>
              <a:rPr dirty="0" err="1"/>
              <a:t>representativa</a:t>
            </a:r>
            <a:r>
              <a:rPr dirty="0"/>
              <a:t> de la </a:t>
            </a:r>
            <a:r>
              <a:rPr dirty="0" err="1"/>
              <a:t>realidad</a:t>
            </a:r>
            <a:r>
              <a:rPr dirty="0"/>
              <a:t>, se </a:t>
            </a:r>
            <a:r>
              <a:rPr dirty="0" err="1"/>
              <a:t>diseñó</a:t>
            </a:r>
            <a:r>
              <a:rPr dirty="0"/>
              <a:t> un </a:t>
            </a:r>
            <a:r>
              <a:rPr dirty="0" err="1"/>
              <a:t>modelo</a:t>
            </a:r>
            <a:r>
              <a:rPr dirty="0"/>
              <a:t> de </a:t>
            </a:r>
            <a:r>
              <a:rPr dirty="0" err="1"/>
              <a:t>proceso</a:t>
            </a:r>
            <a:r>
              <a:rPr dirty="0"/>
              <a:t> </a:t>
            </a:r>
            <a:r>
              <a:rPr dirty="0" err="1"/>
              <a:t>estructurado</a:t>
            </a:r>
            <a:r>
              <a:rPr dirty="0"/>
              <a:t> que </a:t>
            </a:r>
            <a:r>
              <a:rPr dirty="0" err="1"/>
              <a:t>simula</a:t>
            </a:r>
            <a:r>
              <a:rPr dirty="0"/>
              <a:t> el </a:t>
            </a:r>
            <a:r>
              <a:rPr dirty="0" err="1"/>
              <a:t>ciclo</a:t>
            </a:r>
            <a:r>
              <a:rPr dirty="0"/>
              <a:t> de </a:t>
            </a:r>
            <a:r>
              <a:rPr dirty="0" err="1"/>
              <a:t>vida</a:t>
            </a:r>
            <a:r>
              <a:rPr dirty="0"/>
              <a:t> </a:t>
            </a:r>
            <a:r>
              <a:rPr dirty="0" err="1"/>
              <a:t>completo</a:t>
            </a:r>
            <a:r>
              <a:rPr dirty="0"/>
              <a:t> de un </a:t>
            </a:r>
            <a:r>
              <a:rPr dirty="0" err="1"/>
              <a:t>servicio</a:t>
            </a:r>
            <a:r>
              <a:rPr dirty="0"/>
              <a:t> de </a:t>
            </a:r>
            <a:r>
              <a:rPr dirty="0" err="1"/>
              <a:t>mantenimiento</a:t>
            </a:r>
            <a:r>
              <a:rPr dirty="0"/>
              <a:t> y </a:t>
            </a:r>
            <a:r>
              <a:rPr dirty="0" err="1"/>
              <a:t>reparación</a:t>
            </a:r>
            <a:r>
              <a:rPr dirty="0"/>
              <a:t> </a:t>
            </a:r>
            <a:r>
              <a:rPr dirty="0" err="1"/>
              <a:t>en</a:t>
            </a:r>
            <a:r>
              <a:rPr dirty="0"/>
              <a:t> un taller </a:t>
            </a:r>
            <a:r>
              <a:rPr dirty="0" err="1"/>
              <a:t>especializado</a:t>
            </a:r>
            <a:r>
              <a:rPr dirty="0"/>
              <a:t>. El </a:t>
            </a:r>
            <a:r>
              <a:rPr dirty="0" err="1"/>
              <a:t>flujo</a:t>
            </a:r>
            <a:r>
              <a:rPr dirty="0"/>
              <a:t> </a:t>
            </a:r>
            <a:r>
              <a:rPr dirty="0" err="1"/>
              <a:t>operativo</a:t>
            </a:r>
            <a:r>
              <a:rPr dirty="0"/>
              <a:t> se </a:t>
            </a:r>
            <a:r>
              <a:rPr dirty="0" err="1"/>
              <a:t>desglosa</a:t>
            </a:r>
            <a:r>
              <a:rPr dirty="0"/>
              <a:t> </a:t>
            </a:r>
            <a:r>
              <a:rPr dirty="0" err="1"/>
              <a:t>en</a:t>
            </a:r>
            <a:r>
              <a:rPr dirty="0"/>
              <a:t> las </a:t>
            </a:r>
            <a:r>
              <a:rPr dirty="0" err="1"/>
              <a:t>siguientes</a:t>
            </a:r>
            <a:r>
              <a:rPr dirty="0"/>
              <a:t> </a:t>
            </a:r>
            <a:r>
              <a:rPr dirty="0" err="1"/>
              <a:t>etapas</a:t>
            </a:r>
            <a:r>
              <a:rPr dirty="0"/>
              <a:t> </a:t>
            </a:r>
            <a:r>
              <a:rPr dirty="0" err="1"/>
              <a:t>estandarizadas</a:t>
            </a:r>
            <a:r>
              <a:rPr dirty="0" smtClean="0"/>
              <a:t>:</a:t>
            </a:r>
            <a:endParaRPr dirty="0"/>
          </a:p>
          <a:p>
            <a:pPr>
              <a:spcAft>
                <a:spcPts val="700"/>
              </a:spcAft>
              <a:defRPr sz="1350" b="0">
                <a:solidFill>
                  <a:srgbClr val="232B32"/>
                </a:solidFill>
              </a:defRPr>
            </a:pPr>
            <a:r>
              <a:rPr b="1" dirty="0" err="1"/>
              <a:t>Recepción</a:t>
            </a:r>
            <a:r>
              <a:rPr b="1" dirty="0"/>
              <a:t> y </a:t>
            </a:r>
            <a:r>
              <a:rPr b="1" dirty="0" err="1"/>
              <a:t>Registro</a:t>
            </a:r>
            <a:r>
              <a:rPr b="1" dirty="0"/>
              <a:t> de </a:t>
            </a:r>
            <a:r>
              <a:rPr b="1" dirty="0" err="1"/>
              <a:t>Ingreso</a:t>
            </a:r>
            <a:r>
              <a:rPr b="1" dirty="0"/>
              <a:t>: </a:t>
            </a:r>
            <a:r>
              <a:rPr dirty="0"/>
              <a:t>El </a:t>
            </a:r>
            <a:r>
              <a:rPr dirty="0" err="1"/>
              <a:t>proceso</a:t>
            </a:r>
            <a:r>
              <a:rPr dirty="0"/>
              <a:t> </a:t>
            </a:r>
            <a:r>
              <a:rPr dirty="0" err="1"/>
              <a:t>inicia</a:t>
            </a:r>
            <a:r>
              <a:rPr dirty="0"/>
              <a:t> </a:t>
            </a:r>
            <a:r>
              <a:rPr dirty="0" err="1"/>
              <a:t>cuando</a:t>
            </a:r>
            <a:r>
              <a:rPr dirty="0"/>
              <a:t> un </a:t>
            </a:r>
            <a:r>
              <a:rPr dirty="0" err="1"/>
              <a:t>cliente</a:t>
            </a:r>
            <a:r>
              <a:rPr dirty="0"/>
              <a:t> </a:t>
            </a:r>
            <a:r>
              <a:rPr dirty="0" err="1"/>
              <a:t>arriba</a:t>
            </a:r>
            <a:r>
              <a:rPr dirty="0"/>
              <a:t> al taller con </a:t>
            </a:r>
            <a:r>
              <a:rPr dirty="0" err="1"/>
              <a:t>una</a:t>
            </a:r>
            <a:r>
              <a:rPr dirty="0"/>
              <a:t> </a:t>
            </a:r>
            <a:r>
              <a:rPr dirty="0" err="1"/>
              <a:t>unidad</a:t>
            </a:r>
            <a:r>
              <a:rPr dirty="0"/>
              <a:t> que </a:t>
            </a:r>
            <a:r>
              <a:rPr dirty="0" err="1"/>
              <a:t>presenta</a:t>
            </a:r>
            <a:r>
              <a:rPr dirty="0"/>
              <a:t> </a:t>
            </a:r>
            <a:r>
              <a:rPr dirty="0" err="1"/>
              <a:t>fallas</a:t>
            </a:r>
            <a:r>
              <a:rPr dirty="0"/>
              <a:t>. El </a:t>
            </a:r>
            <a:r>
              <a:rPr dirty="0" err="1"/>
              <a:t>recepcionista</a:t>
            </a:r>
            <a:r>
              <a:rPr dirty="0"/>
              <a:t> </a:t>
            </a:r>
            <a:r>
              <a:rPr dirty="0" err="1"/>
              <a:t>interactúa</a:t>
            </a:r>
            <a:r>
              <a:rPr dirty="0"/>
              <a:t> con el </a:t>
            </a:r>
            <a:r>
              <a:rPr dirty="0" err="1"/>
              <a:t>sistema</a:t>
            </a:r>
            <a:r>
              <a:rPr dirty="0"/>
              <a:t> para registrar </a:t>
            </a:r>
            <a:r>
              <a:rPr dirty="0" err="1"/>
              <a:t>los</a:t>
            </a:r>
            <a:r>
              <a:rPr dirty="0"/>
              <a:t> </a:t>
            </a:r>
            <a:r>
              <a:rPr dirty="0" err="1"/>
              <a:t>datos</a:t>
            </a:r>
            <a:r>
              <a:rPr dirty="0"/>
              <a:t> </a:t>
            </a:r>
            <a:r>
              <a:rPr dirty="0" err="1"/>
              <a:t>generales</a:t>
            </a:r>
            <a:r>
              <a:rPr dirty="0"/>
              <a:t> del </a:t>
            </a:r>
            <a:r>
              <a:rPr dirty="0" err="1"/>
              <a:t>cliente</a:t>
            </a:r>
            <a:r>
              <a:rPr dirty="0"/>
              <a:t>, las </a:t>
            </a:r>
            <a:r>
              <a:rPr dirty="0" err="1"/>
              <a:t>características</a:t>
            </a:r>
            <a:r>
              <a:rPr dirty="0"/>
              <a:t> del </a:t>
            </a:r>
            <a:r>
              <a:rPr dirty="0" err="1"/>
              <a:t>vehículo</a:t>
            </a:r>
            <a:r>
              <a:rPr dirty="0"/>
              <a:t> y </a:t>
            </a:r>
            <a:r>
              <a:rPr dirty="0" err="1"/>
              <a:t>generar</a:t>
            </a:r>
            <a:r>
              <a:rPr dirty="0"/>
              <a:t> </a:t>
            </a:r>
            <a:r>
              <a:rPr dirty="0" err="1"/>
              <a:t>una</a:t>
            </a:r>
            <a:r>
              <a:rPr dirty="0"/>
              <a:t> </a:t>
            </a:r>
            <a:r>
              <a:rPr dirty="0" err="1"/>
              <a:t>Orden</a:t>
            </a:r>
            <a:r>
              <a:rPr dirty="0"/>
              <a:t> de </a:t>
            </a:r>
            <a:r>
              <a:rPr dirty="0" err="1"/>
              <a:t>Servicio</a:t>
            </a:r>
            <a:r>
              <a:rPr dirty="0"/>
              <a:t> (OS) </a:t>
            </a:r>
            <a:r>
              <a:rPr dirty="0" err="1"/>
              <a:t>única</a:t>
            </a:r>
            <a:r>
              <a:rPr dirty="0"/>
              <a:t>. </a:t>
            </a:r>
            <a:r>
              <a:rPr dirty="0" err="1"/>
              <a:t>En</a:t>
            </a:r>
            <a:r>
              <a:rPr dirty="0"/>
              <a:t> </a:t>
            </a:r>
            <a:r>
              <a:rPr dirty="0" err="1"/>
              <a:t>este</a:t>
            </a:r>
            <a:r>
              <a:rPr dirty="0"/>
              <a:t> </a:t>
            </a:r>
            <a:r>
              <a:rPr dirty="0" err="1"/>
              <a:t>punto</a:t>
            </a:r>
            <a:r>
              <a:rPr dirty="0"/>
              <a:t> se </a:t>
            </a:r>
            <a:r>
              <a:rPr dirty="0" err="1"/>
              <a:t>registra</a:t>
            </a:r>
            <a:r>
              <a:rPr dirty="0"/>
              <a:t> el </a:t>
            </a:r>
            <a:r>
              <a:rPr dirty="0" err="1"/>
              <a:t>tiempo</a:t>
            </a:r>
            <a:r>
              <a:rPr dirty="0"/>
              <a:t> de inter-</a:t>
            </a:r>
            <a:r>
              <a:rPr dirty="0" err="1"/>
              <a:t>llegada</a:t>
            </a:r>
            <a:r>
              <a:rPr dirty="0"/>
              <a:t>, </a:t>
            </a:r>
            <a:r>
              <a:rPr dirty="0" err="1"/>
              <a:t>modelado</a:t>
            </a:r>
            <a:r>
              <a:rPr dirty="0"/>
              <a:t> </a:t>
            </a:r>
            <a:r>
              <a:rPr dirty="0" err="1"/>
              <a:t>estadísticamente</a:t>
            </a:r>
            <a:r>
              <a:rPr dirty="0"/>
              <a:t> </a:t>
            </a:r>
            <a:r>
              <a:rPr dirty="0" err="1"/>
              <a:t>mediante</a:t>
            </a:r>
            <a:r>
              <a:rPr dirty="0"/>
              <a:t> </a:t>
            </a:r>
            <a:r>
              <a:rPr dirty="0" err="1"/>
              <a:t>una</a:t>
            </a:r>
            <a:r>
              <a:rPr dirty="0"/>
              <a:t> </a:t>
            </a:r>
            <a:r>
              <a:rPr dirty="0" err="1"/>
              <a:t>distribución</a:t>
            </a:r>
            <a:r>
              <a:rPr dirty="0"/>
              <a:t> </a:t>
            </a:r>
            <a:r>
              <a:rPr dirty="0" err="1"/>
              <a:t>exponencial</a:t>
            </a:r>
            <a:r>
              <a:rPr dirty="0"/>
              <a:t>.</a:t>
            </a:r>
          </a:p>
          <a:p>
            <a:pPr>
              <a:spcAft>
                <a:spcPts val="700"/>
              </a:spcAft>
              <a:defRPr sz="1350" b="0">
                <a:solidFill>
                  <a:srgbClr val="232B32"/>
                </a:solidFill>
              </a:defRPr>
            </a:pPr>
            <a:endParaRPr dirty="0"/>
          </a:p>
          <a:p>
            <a:pPr>
              <a:spcAft>
                <a:spcPts val="700"/>
              </a:spcAft>
              <a:defRPr sz="1350" b="0">
                <a:solidFill>
                  <a:srgbClr val="232B32"/>
                </a:solidFill>
              </a:defRPr>
            </a:pPr>
            <a:r>
              <a:rPr b="1" dirty="0" err="1"/>
              <a:t>Diagnóstico</a:t>
            </a:r>
            <a:r>
              <a:rPr b="1" dirty="0"/>
              <a:t> </a:t>
            </a:r>
            <a:r>
              <a:rPr b="1" dirty="0" err="1"/>
              <a:t>Técnico</a:t>
            </a:r>
            <a:r>
              <a:rPr b="1" dirty="0"/>
              <a:t> y </a:t>
            </a:r>
            <a:r>
              <a:rPr b="1" dirty="0" err="1"/>
              <a:t>Evaluación</a:t>
            </a:r>
            <a:r>
              <a:rPr b="1" dirty="0"/>
              <a:t>: </a:t>
            </a:r>
            <a:r>
              <a:rPr dirty="0"/>
              <a:t>La </a:t>
            </a:r>
            <a:r>
              <a:rPr dirty="0" err="1"/>
              <a:t>orden</a:t>
            </a:r>
            <a:r>
              <a:rPr dirty="0"/>
              <a:t> </a:t>
            </a:r>
            <a:r>
              <a:rPr dirty="0" err="1"/>
              <a:t>es</a:t>
            </a:r>
            <a:r>
              <a:rPr dirty="0"/>
              <a:t> </a:t>
            </a:r>
            <a:r>
              <a:rPr dirty="0" err="1"/>
              <a:t>derivada</a:t>
            </a:r>
            <a:r>
              <a:rPr dirty="0"/>
              <a:t> a un </a:t>
            </a:r>
            <a:r>
              <a:rPr dirty="0" err="1"/>
              <a:t>mecánico</a:t>
            </a:r>
            <a:r>
              <a:rPr dirty="0"/>
              <a:t> </a:t>
            </a:r>
            <a:r>
              <a:rPr dirty="0" err="1"/>
              <a:t>calificado</a:t>
            </a:r>
            <a:r>
              <a:rPr dirty="0"/>
              <a:t>, </a:t>
            </a:r>
            <a:r>
              <a:rPr dirty="0" err="1"/>
              <a:t>quien</a:t>
            </a:r>
            <a:r>
              <a:rPr dirty="0"/>
              <a:t> </a:t>
            </a:r>
            <a:r>
              <a:rPr dirty="0" err="1"/>
              <a:t>realiza</a:t>
            </a:r>
            <a:r>
              <a:rPr dirty="0"/>
              <a:t> </a:t>
            </a:r>
            <a:r>
              <a:rPr dirty="0" err="1"/>
              <a:t>una</a:t>
            </a:r>
            <a:r>
              <a:rPr dirty="0"/>
              <a:t> </a:t>
            </a:r>
            <a:r>
              <a:rPr dirty="0" err="1"/>
              <a:t>inspección</a:t>
            </a:r>
            <a:r>
              <a:rPr dirty="0"/>
              <a:t> </a:t>
            </a:r>
            <a:r>
              <a:rPr dirty="0" err="1"/>
              <a:t>física</a:t>
            </a:r>
            <a:r>
              <a:rPr dirty="0"/>
              <a:t> y </a:t>
            </a:r>
            <a:r>
              <a:rPr dirty="0" err="1"/>
              <a:t>computarizada</a:t>
            </a:r>
            <a:r>
              <a:rPr dirty="0"/>
              <a:t> del </a:t>
            </a:r>
            <a:r>
              <a:rPr dirty="0" err="1"/>
              <a:t>equipo</a:t>
            </a:r>
            <a:r>
              <a:rPr dirty="0"/>
              <a:t>. El </a:t>
            </a:r>
            <a:r>
              <a:rPr dirty="0" err="1"/>
              <a:t>técnico</a:t>
            </a:r>
            <a:r>
              <a:rPr dirty="0"/>
              <a:t> </a:t>
            </a:r>
            <a:r>
              <a:rPr dirty="0" err="1"/>
              <a:t>determina</a:t>
            </a:r>
            <a:r>
              <a:rPr dirty="0"/>
              <a:t> la </a:t>
            </a:r>
            <a:r>
              <a:rPr dirty="0" err="1"/>
              <a:t>tipología</a:t>
            </a:r>
            <a:r>
              <a:rPr dirty="0"/>
              <a:t> del </a:t>
            </a:r>
            <a:r>
              <a:rPr dirty="0" err="1"/>
              <a:t>fallo</a:t>
            </a:r>
            <a:r>
              <a:rPr dirty="0"/>
              <a:t>, </a:t>
            </a:r>
            <a:r>
              <a:rPr dirty="0" err="1"/>
              <a:t>estima</a:t>
            </a:r>
            <a:r>
              <a:rPr dirty="0"/>
              <a:t> el </a:t>
            </a:r>
            <a:r>
              <a:rPr dirty="0" err="1"/>
              <a:t>tiempo</a:t>
            </a:r>
            <a:r>
              <a:rPr dirty="0"/>
              <a:t> de </a:t>
            </a:r>
            <a:r>
              <a:rPr dirty="0" err="1"/>
              <a:t>reparación</a:t>
            </a:r>
            <a:r>
              <a:rPr dirty="0"/>
              <a:t> </a:t>
            </a:r>
            <a:r>
              <a:rPr dirty="0" err="1"/>
              <a:t>requerido</a:t>
            </a:r>
            <a:r>
              <a:rPr dirty="0"/>
              <a:t> (variable continua) y </a:t>
            </a:r>
            <a:r>
              <a:rPr dirty="0" err="1"/>
              <a:t>calcula</a:t>
            </a:r>
            <a:r>
              <a:rPr dirty="0"/>
              <a:t> las </a:t>
            </a:r>
            <a:r>
              <a:rPr dirty="0" err="1"/>
              <a:t>refacciones</a:t>
            </a:r>
            <a:r>
              <a:rPr dirty="0"/>
              <a:t> </a:t>
            </a:r>
            <a:r>
              <a:rPr dirty="0" err="1"/>
              <a:t>necesarias</a:t>
            </a:r>
            <a:r>
              <a:rPr dirty="0"/>
              <a:t>.</a:t>
            </a:r>
          </a:p>
          <a:p>
            <a:pPr>
              <a:spcAft>
                <a:spcPts val="700"/>
              </a:spcAft>
              <a:defRPr sz="1350" b="0">
                <a:solidFill>
                  <a:srgbClr val="232B32"/>
                </a:solidFill>
              </a:defRPr>
            </a:pPr>
            <a:endParaRPr dirty="0"/>
          </a:p>
          <a:p>
            <a:pPr>
              <a:spcAft>
                <a:spcPts val="700"/>
              </a:spcAft>
              <a:defRPr sz="1350" b="0">
                <a:solidFill>
                  <a:srgbClr val="232B32"/>
                </a:solidFill>
              </a:defRPr>
            </a:pPr>
            <a:r>
              <a:rPr b="1" dirty="0" err="1"/>
              <a:t>Validación</a:t>
            </a:r>
            <a:r>
              <a:rPr b="1" dirty="0"/>
              <a:t> y </a:t>
            </a:r>
            <a:r>
              <a:rPr b="1" dirty="0" err="1"/>
              <a:t>Aprobación</a:t>
            </a:r>
            <a:r>
              <a:rPr b="1" dirty="0"/>
              <a:t> del </a:t>
            </a:r>
            <a:r>
              <a:rPr b="1" dirty="0" err="1"/>
              <a:t>Presupuesto</a:t>
            </a:r>
            <a:r>
              <a:rPr b="1" dirty="0"/>
              <a:t>: </a:t>
            </a:r>
            <a:r>
              <a:rPr dirty="0"/>
              <a:t>Se </a:t>
            </a:r>
            <a:r>
              <a:rPr dirty="0" err="1"/>
              <a:t>emite</a:t>
            </a:r>
            <a:r>
              <a:rPr dirty="0"/>
              <a:t> un </a:t>
            </a:r>
            <a:r>
              <a:rPr dirty="0" err="1"/>
              <a:t>informe</a:t>
            </a:r>
            <a:r>
              <a:rPr dirty="0"/>
              <a:t> </a:t>
            </a:r>
            <a:r>
              <a:rPr dirty="0" err="1"/>
              <a:t>técnico</a:t>
            </a:r>
            <a:r>
              <a:rPr dirty="0"/>
              <a:t> y un </a:t>
            </a:r>
            <a:r>
              <a:rPr dirty="0" err="1"/>
              <a:t>presupuesto</a:t>
            </a:r>
            <a:r>
              <a:rPr dirty="0"/>
              <a:t> al </a:t>
            </a:r>
            <a:r>
              <a:rPr dirty="0" err="1"/>
              <a:t>cliente</a:t>
            </a:r>
            <a:r>
              <a:rPr dirty="0"/>
              <a:t>. Mediante </a:t>
            </a:r>
            <a:r>
              <a:rPr dirty="0" err="1"/>
              <a:t>una</a:t>
            </a:r>
            <a:r>
              <a:rPr dirty="0"/>
              <a:t> </a:t>
            </a:r>
            <a:r>
              <a:rPr dirty="0" err="1"/>
              <a:t>compuerta</a:t>
            </a:r>
            <a:r>
              <a:rPr dirty="0"/>
              <a:t> </a:t>
            </a:r>
            <a:r>
              <a:rPr dirty="0" err="1"/>
              <a:t>exclusiva</a:t>
            </a:r>
            <a:r>
              <a:rPr dirty="0"/>
              <a:t> (XOR), se </a:t>
            </a:r>
            <a:r>
              <a:rPr dirty="0" err="1"/>
              <a:t>evalúa</a:t>
            </a:r>
            <a:r>
              <a:rPr dirty="0"/>
              <a:t> la </a:t>
            </a:r>
            <a:r>
              <a:rPr dirty="0" err="1"/>
              <a:t>decisión</a:t>
            </a:r>
            <a:r>
              <a:rPr dirty="0"/>
              <a:t> del </a:t>
            </a:r>
            <a:r>
              <a:rPr dirty="0" err="1"/>
              <a:t>cliente</a:t>
            </a:r>
            <a:r>
              <a:rPr dirty="0"/>
              <a:t>: </a:t>
            </a:r>
            <a:r>
              <a:rPr dirty="0" err="1"/>
              <a:t>si</a:t>
            </a:r>
            <a:r>
              <a:rPr dirty="0"/>
              <a:t> </a:t>
            </a:r>
            <a:r>
              <a:rPr dirty="0" err="1"/>
              <a:t>acepta</a:t>
            </a:r>
            <a:r>
              <a:rPr dirty="0"/>
              <a:t> el </a:t>
            </a:r>
            <a:r>
              <a:rPr dirty="0" err="1"/>
              <a:t>presupuesto</a:t>
            </a:r>
            <a:r>
              <a:rPr dirty="0"/>
              <a:t>, el </a:t>
            </a:r>
            <a:r>
              <a:rPr dirty="0" err="1"/>
              <a:t>flujo</a:t>
            </a:r>
            <a:r>
              <a:rPr dirty="0"/>
              <a:t> </a:t>
            </a:r>
            <a:r>
              <a:rPr dirty="0" err="1"/>
              <a:t>continúa</a:t>
            </a:r>
            <a:r>
              <a:rPr dirty="0"/>
              <a:t> </a:t>
            </a:r>
            <a:r>
              <a:rPr dirty="0" err="1"/>
              <a:t>hacia</a:t>
            </a:r>
            <a:r>
              <a:rPr dirty="0"/>
              <a:t> la zona de </a:t>
            </a:r>
            <a:r>
              <a:rPr dirty="0" err="1"/>
              <a:t>reparación</a:t>
            </a:r>
            <a:r>
              <a:rPr dirty="0"/>
              <a:t>; </a:t>
            </a:r>
            <a:r>
              <a:rPr dirty="0" err="1"/>
              <a:t>en</a:t>
            </a:r>
            <a:r>
              <a:rPr dirty="0"/>
              <a:t> </a:t>
            </a:r>
            <a:r>
              <a:rPr dirty="0" err="1"/>
              <a:t>caso</a:t>
            </a:r>
            <a:r>
              <a:rPr dirty="0"/>
              <a:t> </a:t>
            </a:r>
            <a:r>
              <a:rPr dirty="0" err="1"/>
              <a:t>contrario</a:t>
            </a:r>
            <a:r>
              <a:rPr dirty="0"/>
              <a:t>, se </a:t>
            </a:r>
            <a:r>
              <a:rPr dirty="0" err="1"/>
              <a:t>activa</a:t>
            </a:r>
            <a:r>
              <a:rPr dirty="0"/>
              <a:t> </a:t>
            </a:r>
            <a:r>
              <a:rPr dirty="0" err="1"/>
              <a:t>una</a:t>
            </a:r>
            <a:r>
              <a:rPr dirty="0"/>
              <a:t> </a:t>
            </a:r>
            <a:r>
              <a:rPr dirty="0" err="1"/>
              <a:t>ruta</a:t>
            </a:r>
            <a:r>
              <a:rPr dirty="0"/>
              <a:t> </a:t>
            </a:r>
            <a:r>
              <a:rPr dirty="0" err="1"/>
              <a:t>alternativa</a:t>
            </a:r>
            <a:r>
              <a:rPr dirty="0"/>
              <a:t> para la </a:t>
            </a:r>
            <a:r>
              <a:rPr dirty="0" err="1"/>
              <a:t>devolución</a:t>
            </a:r>
            <a:r>
              <a:rPr dirty="0"/>
              <a:t> de la </a:t>
            </a:r>
            <a:r>
              <a:rPr dirty="0" err="1"/>
              <a:t>unidad</a:t>
            </a:r>
            <a:r>
              <a:rPr dirty="0"/>
              <a:t> sin </a:t>
            </a:r>
            <a:r>
              <a:rPr dirty="0" err="1"/>
              <a:t>reparación</a:t>
            </a:r>
            <a:r>
              <a:rPr dirty="0"/>
              <a:t>, </a:t>
            </a:r>
            <a:r>
              <a:rPr dirty="0" err="1"/>
              <a:t>cerrando</a:t>
            </a:r>
            <a:r>
              <a:rPr dirty="0"/>
              <a:t> la </a:t>
            </a:r>
            <a:r>
              <a:rPr dirty="0" err="1"/>
              <a:t>orden</a:t>
            </a:r>
            <a:r>
              <a:rPr dirty="0"/>
              <a:t> de </a:t>
            </a:r>
            <a:r>
              <a:rPr dirty="0" err="1"/>
              <a:t>manera</a:t>
            </a:r>
            <a:r>
              <a:rPr dirty="0"/>
              <a:t> </a:t>
            </a:r>
            <a:r>
              <a:rPr dirty="0" err="1"/>
              <a:t>anticipada</a:t>
            </a:r>
            <a:r>
              <a:rPr dirty="0"/>
              <a:t>.</a:t>
            </a:r>
          </a:p>
          <a:p>
            <a:pPr>
              <a:spcAft>
                <a:spcPts val="700"/>
              </a:spcAft>
              <a:defRPr sz="1350" b="0">
                <a:solidFill>
                  <a:srgbClr val="232B32"/>
                </a:solidFill>
              </a:defRPr>
            </a:pPr>
            <a:endParaRPr dirty="0"/>
          </a:p>
          <a:p>
            <a:pPr>
              <a:spcAft>
                <a:spcPts val="700"/>
              </a:spcAft>
              <a:defRPr sz="1350" b="0">
                <a:solidFill>
                  <a:srgbClr val="232B32"/>
                </a:solidFill>
              </a:defRPr>
            </a:pPr>
            <a:r>
              <a:rPr b="1" dirty="0" err="1"/>
              <a:t>Ejecución</a:t>
            </a:r>
            <a:r>
              <a:rPr b="1" dirty="0"/>
              <a:t> de la </a:t>
            </a:r>
            <a:r>
              <a:rPr b="1" dirty="0" err="1"/>
              <a:t>Reparación</a:t>
            </a:r>
            <a:r>
              <a:rPr b="1" dirty="0"/>
              <a:t> y </a:t>
            </a:r>
            <a:r>
              <a:rPr b="1" dirty="0" err="1"/>
              <a:t>Gestión</a:t>
            </a:r>
            <a:r>
              <a:rPr b="1" dirty="0"/>
              <a:t> de </a:t>
            </a:r>
            <a:r>
              <a:rPr b="1" dirty="0" err="1"/>
              <a:t>Refacciones</a:t>
            </a:r>
            <a:r>
              <a:rPr b="1" dirty="0"/>
              <a:t>: </a:t>
            </a:r>
            <a:r>
              <a:rPr dirty="0"/>
              <a:t>La </a:t>
            </a:r>
            <a:r>
              <a:rPr dirty="0" err="1"/>
              <a:t>unidad</a:t>
            </a:r>
            <a:r>
              <a:rPr dirty="0"/>
              <a:t> </a:t>
            </a:r>
            <a:r>
              <a:rPr dirty="0" err="1"/>
              <a:t>es</a:t>
            </a:r>
            <a:r>
              <a:rPr dirty="0"/>
              <a:t> </a:t>
            </a:r>
            <a:r>
              <a:rPr dirty="0" err="1"/>
              <a:t>trasladada</a:t>
            </a:r>
            <a:r>
              <a:rPr dirty="0"/>
              <a:t> a </a:t>
            </a:r>
            <a:r>
              <a:rPr dirty="0" err="1"/>
              <a:t>una</a:t>
            </a:r>
            <a:r>
              <a:rPr dirty="0"/>
              <a:t> </a:t>
            </a:r>
            <a:r>
              <a:rPr dirty="0" err="1"/>
              <a:t>bahía</a:t>
            </a:r>
            <a:r>
              <a:rPr dirty="0"/>
              <a:t> de </a:t>
            </a:r>
            <a:r>
              <a:rPr dirty="0" err="1"/>
              <a:t>trabajo</a:t>
            </a:r>
            <a:r>
              <a:rPr dirty="0"/>
              <a:t> </a:t>
            </a:r>
            <a:r>
              <a:rPr dirty="0" err="1"/>
              <a:t>disponible</a:t>
            </a:r>
            <a:r>
              <a:rPr dirty="0"/>
              <a:t>. Si se </a:t>
            </a:r>
            <a:r>
              <a:rPr dirty="0" err="1"/>
              <a:t>requieren</a:t>
            </a:r>
            <a:r>
              <a:rPr dirty="0"/>
              <a:t> </a:t>
            </a:r>
            <a:r>
              <a:rPr dirty="0" err="1"/>
              <a:t>componentes</a:t>
            </a:r>
            <a:r>
              <a:rPr dirty="0"/>
              <a:t> </a:t>
            </a:r>
            <a:r>
              <a:rPr dirty="0" err="1"/>
              <a:t>adicionales</a:t>
            </a:r>
            <a:r>
              <a:rPr dirty="0"/>
              <a:t>, se </a:t>
            </a:r>
            <a:r>
              <a:rPr dirty="0" err="1"/>
              <a:t>realiza</a:t>
            </a:r>
            <a:r>
              <a:rPr dirty="0"/>
              <a:t> </a:t>
            </a:r>
            <a:r>
              <a:rPr dirty="0" err="1"/>
              <a:t>una</a:t>
            </a:r>
            <a:r>
              <a:rPr dirty="0"/>
              <a:t> </a:t>
            </a:r>
            <a:r>
              <a:rPr dirty="0" err="1"/>
              <a:t>solicitud</a:t>
            </a:r>
            <a:r>
              <a:rPr dirty="0"/>
              <a:t> </a:t>
            </a:r>
            <a:r>
              <a:rPr dirty="0" err="1"/>
              <a:t>paralela</a:t>
            </a:r>
            <a:r>
              <a:rPr dirty="0"/>
              <a:t> al </a:t>
            </a:r>
            <a:r>
              <a:rPr dirty="0" err="1"/>
              <a:t>almacén</a:t>
            </a:r>
            <a:r>
              <a:rPr dirty="0"/>
              <a:t> (</a:t>
            </a:r>
            <a:r>
              <a:rPr dirty="0" err="1"/>
              <a:t>gestionada</a:t>
            </a:r>
            <a:r>
              <a:rPr dirty="0"/>
              <a:t> </a:t>
            </a:r>
            <a:r>
              <a:rPr dirty="0" err="1"/>
              <a:t>mediante</a:t>
            </a:r>
            <a:r>
              <a:rPr dirty="0"/>
              <a:t> </a:t>
            </a:r>
            <a:r>
              <a:rPr dirty="0" err="1"/>
              <a:t>una</a:t>
            </a:r>
            <a:r>
              <a:rPr dirty="0"/>
              <a:t> </a:t>
            </a:r>
            <a:r>
              <a:rPr dirty="0" err="1"/>
              <a:t>compuerta</a:t>
            </a:r>
            <a:r>
              <a:rPr dirty="0"/>
              <a:t> </a:t>
            </a:r>
            <a:r>
              <a:rPr dirty="0" err="1"/>
              <a:t>paralela</a:t>
            </a:r>
            <a:r>
              <a:rPr dirty="0"/>
              <a:t> AND). El personal </a:t>
            </a:r>
            <a:r>
              <a:rPr dirty="0" err="1"/>
              <a:t>técnico</a:t>
            </a:r>
            <a:r>
              <a:rPr dirty="0"/>
              <a:t> </a:t>
            </a:r>
            <a:r>
              <a:rPr dirty="0" err="1"/>
              <a:t>ejecuta</a:t>
            </a:r>
            <a:r>
              <a:rPr dirty="0"/>
              <a:t> las </a:t>
            </a:r>
            <a:r>
              <a:rPr dirty="0" err="1"/>
              <a:t>acciones</a:t>
            </a:r>
            <a:r>
              <a:rPr dirty="0"/>
              <a:t> </a:t>
            </a:r>
            <a:r>
              <a:rPr dirty="0" err="1"/>
              <a:t>correctivas</a:t>
            </a:r>
            <a:r>
              <a:rPr dirty="0"/>
              <a:t> o </a:t>
            </a:r>
            <a:r>
              <a:rPr dirty="0" err="1"/>
              <a:t>preventivas</a:t>
            </a:r>
            <a:r>
              <a:rPr dirty="0"/>
              <a:t> </a:t>
            </a:r>
            <a:r>
              <a:rPr dirty="0" err="1"/>
              <a:t>correspondientes</a:t>
            </a:r>
            <a:r>
              <a:rPr dirty="0"/>
              <a:t> </a:t>
            </a:r>
            <a:r>
              <a:rPr dirty="0" err="1"/>
              <a:t>dentro</a:t>
            </a:r>
            <a:r>
              <a:rPr dirty="0"/>
              <a:t> del </a:t>
            </a:r>
            <a:r>
              <a:rPr dirty="0" err="1"/>
              <a:t>tiempo</a:t>
            </a:r>
            <a:r>
              <a:rPr dirty="0"/>
              <a:t> </a:t>
            </a:r>
            <a:r>
              <a:rPr dirty="0" err="1"/>
              <a:t>estipulado</a:t>
            </a:r>
            <a:r>
              <a:rPr dirty="0"/>
              <a:t>.</a:t>
            </a:r>
          </a:p>
          <a:p>
            <a:pPr>
              <a:spcAft>
                <a:spcPts val="700"/>
              </a:spcAft>
              <a:defRPr sz="1350" b="0">
                <a:solidFill>
                  <a:srgbClr val="232B32"/>
                </a:solidFill>
              </a:defRPr>
            </a:pPr>
            <a:endParaRPr dirty="0"/>
          </a:p>
          <a:p>
            <a:pPr>
              <a:spcAft>
                <a:spcPts val="700"/>
              </a:spcAft>
              <a:defRPr sz="1350" b="0">
                <a:solidFill>
                  <a:srgbClr val="232B32"/>
                </a:solidFill>
              </a:defRPr>
            </a:pPr>
            <a:r>
              <a:rPr b="1" dirty="0"/>
              <a:t>Control de </a:t>
            </a:r>
            <a:r>
              <a:rPr b="1" dirty="0" err="1"/>
              <a:t>Calidad</a:t>
            </a:r>
            <a:r>
              <a:rPr b="1" dirty="0"/>
              <a:t> y </a:t>
            </a:r>
            <a:r>
              <a:rPr b="1" dirty="0" err="1"/>
              <a:t>Entrega</a:t>
            </a:r>
            <a:r>
              <a:rPr b="1" dirty="0"/>
              <a:t> Final: </a:t>
            </a:r>
            <a:r>
              <a:rPr dirty="0" err="1"/>
              <a:t>Concluida</a:t>
            </a:r>
            <a:r>
              <a:rPr dirty="0"/>
              <a:t> la </a:t>
            </a:r>
            <a:r>
              <a:rPr dirty="0" err="1"/>
              <a:t>intervención</a:t>
            </a:r>
            <a:r>
              <a:rPr dirty="0"/>
              <a:t> </a:t>
            </a:r>
            <a:r>
              <a:rPr dirty="0" err="1"/>
              <a:t>técnica</a:t>
            </a:r>
            <a:r>
              <a:rPr dirty="0"/>
              <a:t>, se </a:t>
            </a:r>
            <a:r>
              <a:rPr dirty="0" err="1"/>
              <a:t>realiza</a:t>
            </a:r>
            <a:r>
              <a:rPr dirty="0"/>
              <a:t> </a:t>
            </a:r>
            <a:r>
              <a:rPr dirty="0" err="1"/>
              <a:t>una</a:t>
            </a:r>
            <a:r>
              <a:rPr dirty="0"/>
              <a:t> </a:t>
            </a:r>
            <a:r>
              <a:rPr dirty="0" err="1"/>
              <a:t>prueba</a:t>
            </a:r>
            <a:r>
              <a:rPr dirty="0"/>
              <a:t> de </a:t>
            </a:r>
            <a:r>
              <a:rPr dirty="0" err="1"/>
              <a:t>calidad</a:t>
            </a:r>
            <a:r>
              <a:rPr dirty="0"/>
              <a:t> para </a:t>
            </a:r>
            <a:r>
              <a:rPr dirty="0" err="1"/>
              <a:t>verificar</a:t>
            </a:r>
            <a:r>
              <a:rPr dirty="0"/>
              <a:t> el </a:t>
            </a:r>
            <a:r>
              <a:rPr dirty="0" err="1"/>
              <a:t>correcto</a:t>
            </a:r>
            <a:r>
              <a:rPr dirty="0"/>
              <a:t> </a:t>
            </a:r>
            <a:r>
              <a:rPr dirty="0" err="1"/>
              <a:t>funcionamiento</a:t>
            </a:r>
            <a:r>
              <a:rPr dirty="0"/>
              <a:t> de la </a:t>
            </a:r>
            <a:r>
              <a:rPr dirty="0" err="1"/>
              <a:t>unidad</a:t>
            </a:r>
            <a:r>
              <a:rPr dirty="0"/>
              <a:t>. Si la </a:t>
            </a:r>
            <a:r>
              <a:rPr dirty="0" err="1"/>
              <a:t>prueba</a:t>
            </a:r>
            <a:r>
              <a:rPr dirty="0"/>
              <a:t> </a:t>
            </a:r>
            <a:r>
              <a:rPr dirty="0" err="1"/>
              <a:t>es</a:t>
            </a:r>
            <a:r>
              <a:rPr dirty="0"/>
              <a:t> </a:t>
            </a:r>
            <a:r>
              <a:rPr dirty="0" err="1"/>
              <a:t>exitosa</a:t>
            </a:r>
            <a:r>
              <a:rPr dirty="0"/>
              <a:t>, se </a:t>
            </a:r>
            <a:r>
              <a:rPr dirty="0" err="1"/>
              <a:t>procede</a:t>
            </a:r>
            <a:r>
              <a:rPr dirty="0"/>
              <a:t> a la </a:t>
            </a:r>
            <a:r>
              <a:rPr dirty="0" err="1"/>
              <a:t>facturación</a:t>
            </a:r>
            <a:r>
              <a:rPr dirty="0"/>
              <a:t>, el </a:t>
            </a:r>
            <a:r>
              <a:rPr dirty="0" err="1"/>
              <a:t>registro</a:t>
            </a:r>
            <a:r>
              <a:rPr dirty="0"/>
              <a:t> del </a:t>
            </a:r>
            <a:r>
              <a:rPr dirty="0" err="1"/>
              <a:t>pago</a:t>
            </a:r>
            <a:r>
              <a:rPr dirty="0"/>
              <a:t> y la </a:t>
            </a:r>
            <a:r>
              <a:rPr dirty="0" err="1"/>
              <a:t>entrega</a:t>
            </a:r>
            <a:r>
              <a:rPr dirty="0"/>
              <a:t> formal al </a:t>
            </a:r>
            <a:r>
              <a:rPr dirty="0" err="1"/>
              <a:t>cliente</a:t>
            </a:r>
            <a:r>
              <a:rPr dirty="0"/>
              <a:t>, </a:t>
            </a:r>
            <a:r>
              <a:rPr dirty="0" err="1"/>
              <a:t>concluyendo</a:t>
            </a:r>
            <a:r>
              <a:rPr dirty="0"/>
              <a:t> la </a:t>
            </a:r>
            <a:r>
              <a:rPr dirty="0" err="1"/>
              <a:t>instancia</a:t>
            </a:r>
            <a:r>
              <a:rPr dirty="0"/>
              <a:t> del </a:t>
            </a:r>
            <a:r>
              <a:rPr dirty="0" err="1"/>
              <a:t>proceso</a:t>
            </a:r>
            <a:r>
              <a:rPr dirty="0"/>
              <a:t> </a:t>
            </a:r>
            <a:r>
              <a:rPr dirty="0" err="1"/>
              <a:t>en</a:t>
            </a:r>
            <a:r>
              <a:rPr dirty="0"/>
              <a:t> el </a:t>
            </a:r>
            <a:r>
              <a:rPr dirty="0" err="1"/>
              <a:t>sistema</a:t>
            </a:r>
            <a:r>
              <a:rPr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955161" y="274320"/>
            <a:ext cx="6251198" cy="477054"/>
          </a:xfrm>
          <a:prstGeom prst="rect">
            <a:avLst/>
          </a:prstGeom>
          <a:noFill/>
        </p:spPr>
        <p:txBody>
          <a:bodyPr wrap="none">
            <a:spAutoFit/>
          </a:bodyPr>
          <a:lstStyle/>
          <a:p>
            <a:pPr algn="ctr">
              <a:defRPr sz="2500" b="1">
                <a:solidFill>
                  <a:srgbClr val="123048"/>
                </a:solidFill>
              </a:defRPr>
            </a:pPr>
            <a:r>
              <a:rPr dirty="0"/>
              <a:t>3.2 </a:t>
            </a:r>
            <a:r>
              <a:rPr dirty="0" err="1"/>
              <a:t>Modelado</a:t>
            </a:r>
            <a:r>
              <a:rPr dirty="0"/>
              <a:t> y </a:t>
            </a:r>
            <a:r>
              <a:rPr dirty="0" err="1"/>
              <a:t>Simulación</a:t>
            </a:r>
            <a:r>
              <a:rPr dirty="0"/>
              <a:t> </a:t>
            </a:r>
            <a:r>
              <a:rPr dirty="0" err="1"/>
              <a:t>en</a:t>
            </a:r>
            <a:r>
              <a:rPr dirty="0"/>
              <a:t> </a:t>
            </a:r>
            <a:r>
              <a:rPr dirty="0" err="1"/>
              <a:t>Bizagi</a:t>
            </a:r>
            <a:r>
              <a:rPr dirty="0"/>
              <a:t> Modeler</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3: MODELADO DE PROCESOS DEL TALLER (BPMN)</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rPr dirty="0" err="1"/>
              <a:t>Bizagi</a:t>
            </a:r>
            <a:r>
              <a:rPr dirty="0"/>
              <a:t> Modeler se </a:t>
            </a:r>
            <a:r>
              <a:rPr dirty="0" err="1"/>
              <a:t>empleó</a:t>
            </a:r>
            <a:r>
              <a:rPr dirty="0"/>
              <a:t> </a:t>
            </a:r>
            <a:r>
              <a:rPr dirty="0" err="1"/>
              <a:t>como</a:t>
            </a:r>
            <a:r>
              <a:rPr dirty="0"/>
              <a:t> la </a:t>
            </a:r>
            <a:r>
              <a:rPr dirty="0" err="1"/>
              <a:t>primera</a:t>
            </a:r>
            <a:r>
              <a:rPr dirty="0"/>
              <a:t> </a:t>
            </a:r>
            <a:r>
              <a:rPr dirty="0" err="1"/>
              <a:t>herramienta</a:t>
            </a:r>
            <a:r>
              <a:rPr dirty="0"/>
              <a:t> de </a:t>
            </a:r>
            <a:r>
              <a:rPr dirty="0" err="1"/>
              <a:t>diseño</a:t>
            </a:r>
            <a:r>
              <a:rPr dirty="0"/>
              <a:t> </a:t>
            </a:r>
            <a:r>
              <a:rPr dirty="0" err="1"/>
              <a:t>gráfico</a:t>
            </a:r>
            <a:r>
              <a:rPr dirty="0"/>
              <a:t> para </a:t>
            </a:r>
            <a:r>
              <a:rPr dirty="0" err="1"/>
              <a:t>plasmar</a:t>
            </a:r>
            <a:r>
              <a:rPr dirty="0"/>
              <a:t> el </a:t>
            </a:r>
            <a:r>
              <a:rPr dirty="0" err="1"/>
              <a:t>flujo</a:t>
            </a:r>
            <a:r>
              <a:rPr dirty="0"/>
              <a:t> del taller </a:t>
            </a:r>
            <a:r>
              <a:rPr dirty="0" err="1"/>
              <a:t>bajo</a:t>
            </a:r>
            <a:r>
              <a:rPr dirty="0"/>
              <a:t> la </a:t>
            </a:r>
            <a:r>
              <a:rPr dirty="0" err="1"/>
              <a:t>notación</a:t>
            </a:r>
            <a:r>
              <a:rPr dirty="0"/>
              <a:t> BPMN 2.0. Su </a:t>
            </a:r>
            <a:r>
              <a:rPr dirty="0" err="1"/>
              <a:t>entorno</a:t>
            </a:r>
            <a:r>
              <a:rPr dirty="0"/>
              <a:t> </a:t>
            </a:r>
            <a:r>
              <a:rPr dirty="0" err="1"/>
              <a:t>permitió</a:t>
            </a:r>
            <a:r>
              <a:rPr dirty="0"/>
              <a:t> </a:t>
            </a:r>
            <a:r>
              <a:rPr dirty="0" err="1"/>
              <a:t>definir</a:t>
            </a:r>
            <a:r>
              <a:rPr dirty="0"/>
              <a:t> de </a:t>
            </a:r>
            <a:r>
              <a:rPr dirty="0" err="1"/>
              <a:t>manera</a:t>
            </a:r>
            <a:r>
              <a:rPr dirty="0"/>
              <a:t> </a:t>
            </a:r>
            <a:r>
              <a:rPr dirty="0" err="1"/>
              <a:t>clara</a:t>
            </a:r>
            <a:r>
              <a:rPr dirty="0"/>
              <a:t> </a:t>
            </a:r>
            <a:r>
              <a:rPr dirty="0" err="1"/>
              <a:t>los</a:t>
            </a:r>
            <a:r>
              <a:rPr dirty="0"/>
              <a:t> </a:t>
            </a:r>
            <a:r>
              <a:rPr dirty="0" err="1"/>
              <a:t>carriles</a:t>
            </a:r>
            <a:r>
              <a:rPr dirty="0"/>
              <a:t> (Pools y Lanes) </a:t>
            </a:r>
            <a:r>
              <a:rPr dirty="0" err="1"/>
              <a:t>correspondientes</a:t>
            </a:r>
            <a:r>
              <a:rPr dirty="0"/>
              <a:t> a </a:t>
            </a:r>
            <a:r>
              <a:rPr dirty="0" err="1"/>
              <a:t>los</a:t>
            </a:r>
            <a:r>
              <a:rPr dirty="0"/>
              <a:t> roles clave: </a:t>
            </a:r>
            <a:r>
              <a:rPr dirty="0" err="1"/>
              <a:t>Recepción</a:t>
            </a:r>
            <a:r>
              <a:rPr dirty="0"/>
              <a:t>, </a:t>
            </a:r>
            <a:r>
              <a:rPr dirty="0" err="1"/>
              <a:t>Mecánicos</a:t>
            </a:r>
            <a:r>
              <a:rPr dirty="0"/>
              <a:t>, </a:t>
            </a:r>
            <a:r>
              <a:rPr dirty="0" err="1"/>
              <a:t>Almacén</a:t>
            </a:r>
            <a:r>
              <a:rPr dirty="0"/>
              <a:t> y </a:t>
            </a:r>
            <a:r>
              <a:rPr dirty="0" err="1"/>
              <a:t>Cliente</a:t>
            </a:r>
            <a:r>
              <a:rPr dirty="0"/>
              <a:t>. </a:t>
            </a:r>
            <a:r>
              <a:rPr dirty="0" err="1"/>
              <a:t>Asimismo</a:t>
            </a:r>
            <a:r>
              <a:rPr dirty="0"/>
              <a:t>, se </a:t>
            </a:r>
            <a:r>
              <a:rPr dirty="0" err="1"/>
              <a:t>configuraron</a:t>
            </a:r>
            <a:r>
              <a:rPr dirty="0"/>
              <a:t> </a:t>
            </a:r>
            <a:r>
              <a:rPr dirty="0" err="1"/>
              <a:t>los</a:t>
            </a:r>
            <a:r>
              <a:rPr dirty="0"/>
              <a:t> </a:t>
            </a:r>
            <a:r>
              <a:rPr dirty="0" err="1"/>
              <a:t>parámetros</a:t>
            </a:r>
            <a:r>
              <a:rPr dirty="0"/>
              <a:t> </a:t>
            </a:r>
            <a:r>
              <a:rPr dirty="0" err="1"/>
              <a:t>iniciales</a:t>
            </a:r>
            <a:r>
              <a:rPr dirty="0"/>
              <a:t> de </a:t>
            </a:r>
            <a:r>
              <a:rPr dirty="0" err="1"/>
              <a:t>recursos</a:t>
            </a:r>
            <a:r>
              <a:rPr dirty="0"/>
              <a:t> (</a:t>
            </a:r>
            <a:r>
              <a:rPr dirty="0" err="1"/>
              <a:t>número</a:t>
            </a:r>
            <a:r>
              <a:rPr dirty="0"/>
              <a:t> de </a:t>
            </a:r>
            <a:r>
              <a:rPr dirty="0" err="1"/>
              <a:t>mecánicos</a:t>
            </a:r>
            <a:r>
              <a:rPr dirty="0"/>
              <a:t> </a:t>
            </a:r>
            <a:r>
              <a:rPr dirty="0" err="1"/>
              <a:t>disponibles</a:t>
            </a:r>
            <a:r>
              <a:rPr dirty="0"/>
              <a:t> y </a:t>
            </a:r>
            <a:r>
              <a:rPr dirty="0" err="1"/>
              <a:t>capacidad</a:t>
            </a:r>
            <a:r>
              <a:rPr dirty="0"/>
              <a:t> de las </a:t>
            </a:r>
            <a:r>
              <a:rPr dirty="0" err="1"/>
              <a:t>bahías</a:t>
            </a:r>
            <a:r>
              <a:rPr dirty="0"/>
              <a:t>) y </a:t>
            </a:r>
            <a:r>
              <a:rPr dirty="0" err="1"/>
              <a:t>costos</a:t>
            </a:r>
            <a:r>
              <a:rPr dirty="0"/>
              <a:t> </a:t>
            </a:r>
            <a:r>
              <a:rPr dirty="0" err="1"/>
              <a:t>por</a:t>
            </a:r>
            <a:r>
              <a:rPr dirty="0"/>
              <a:t> hora, lo que </a:t>
            </a:r>
            <a:r>
              <a:rPr dirty="0" err="1"/>
              <a:t>facilitó</a:t>
            </a:r>
            <a:r>
              <a:rPr dirty="0"/>
              <a:t> </a:t>
            </a:r>
            <a:r>
              <a:rPr dirty="0" err="1"/>
              <a:t>realizar</a:t>
            </a:r>
            <a:r>
              <a:rPr dirty="0"/>
              <a:t> </a:t>
            </a:r>
            <a:r>
              <a:rPr dirty="0" err="1"/>
              <a:t>simulaciones</a:t>
            </a:r>
            <a:r>
              <a:rPr dirty="0"/>
              <a:t> </a:t>
            </a:r>
            <a:r>
              <a:rPr dirty="0" err="1"/>
              <a:t>preliminares</a:t>
            </a:r>
            <a:r>
              <a:rPr dirty="0"/>
              <a:t> de </a:t>
            </a:r>
            <a:r>
              <a:rPr dirty="0" err="1"/>
              <a:t>tiempos</a:t>
            </a:r>
            <a:r>
              <a:rPr dirty="0"/>
              <a:t> de </a:t>
            </a:r>
            <a:r>
              <a:rPr dirty="0" err="1"/>
              <a:t>ciclo</a:t>
            </a:r>
            <a:r>
              <a:rPr dirty="0"/>
              <a:t> y </a:t>
            </a:r>
            <a:r>
              <a:rPr dirty="0" err="1"/>
              <a:t>cuellos</a:t>
            </a:r>
            <a:r>
              <a:rPr dirty="0"/>
              <a:t> de </a:t>
            </a:r>
            <a:r>
              <a:rPr dirty="0" err="1"/>
              <a:t>botella</a:t>
            </a:r>
            <a:r>
              <a:rPr dirty="0"/>
              <a:t> </a:t>
            </a:r>
            <a:r>
              <a:rPr dirty="0" err="1"/>
              <a:t>operativos</a:t>
            </a:r>
            <a:r>
              <a:rPr dirty="0"/>
              <a:t> </a:t>
            </a:r>
            <a:r>
              <a:rPr dirty="0" err="1"/>
              <a:t>mediante</a:t>
            </a:r>
            <a:r>
              <a:rPr dirty="0"/>
              <a:t> la </a:t>
            </a:r>
            <a:r>
              <a:rPr dirty="0" err="1"/>
              <a:t>herramienta</a:t>
            </a:r>
            <a:r>
              <a:rPr dirty="0"/>
              <a:t> de </a:t>
            </a:r>
            <a:r>
              <a:rPr dirty="0" err="1"/>
              <a:t>análisis</a:t>
            </a:r>
            <a:r>
              <a:rPr dirty="0"/>
              <a:t> de </a:t>
            </a:r>
            <a:r>
              <a:rPr dirty="0" err="1"/>
              <a:t>recursos</a:t>
            </a:r>
            <a:r>
              <a:rPr dirty="0"/>
              <a:t> </a:t>
            </a:r>
            <a:r>
              <a:rPr dirty="0" err="1"/>
              <a:t>nativa</a:t>
            </a:r>
            <a:r>
              <a:rPr dirty="0"/>
              <a:t> de la </a:t>
            </a:r>
            <a:r>
              <a:rPr dirty="0" err="1"/>
              <a:t>plataforma</a:t>
            </a:r>
            <a:r>
              <a:rPr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54864"/>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367056" y="215160"/>
            <a:ext cx="4357027" cy="477054"/>
          </a:xfrm>
          <a:prstGeom prst="rect">
            <a:avLst/>
          </a:prstGeom>
          <a:noFill/>
        </p:spPr>
        <p:txBody>
          <a:bodyPr wrap="none">
            <a:spAutoFit/>
          </a:bodyPr>
          <a:lstStyle/>
          <a:p>
            <a:pPr algn="ctr">
              <a:defRPr sz="2500" b="1">
                <a:solidFill>
                  <a:srgbClr val="123048"/>
                </a:solidFill>
              </a:defRPr>
            </a:pPr>
            <a:r>
              <a:rPr dirty="0" err="1"/>
              <a:t>Figura</a:t>
            </a:r>
            <a:r>
              <a:rPr dirty="0"/>
              <a:t> / </a:t>
            </a:r>
            <a:r>
              <a:rPr dirty="0" err="1"/>
              <a:t>evidencia</a:t>
            </a:r>
            <a:r>
              <a:rPr dirty="0"/>
              <a:t> del </a:t>
            </a:r>
            <a:r>
              <a:rPr dirty="0" err="1" smtClean="0"/>
              <a:t>proyecto</a:t>
            </a:r>
            <a:r>
              <a:rPr lang="es-ES" dirty="0" smtClean="0"/>
              <a:t> </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3: MODELADO DE PROCESOS DEL TALLER (BPMN)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17</a:t>
            </a:r>
          </a:p>
        </p:txBody>
      </p:sp>
      <p:pic>
        <p:nvPicPr>
          <p:cNvPr id="10" name="Imagen 9"/>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0205" y="1120139"/>
            <a:ext cx="9350477" cy="525964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955161" y="274320"/>
            <a:ext cx="6251198" cy="477054"/>
          </a:xfrm>
          <a:prstGeom prst="rect">
            <a:avLst/>
          </a:prstGeom>
          <a:noFill/>
        </p:spPr>
        <p:txBody>
          <a:bodyPr wrap="none">
            <a:spAutoFit/>
          </a:bodyPr>
          <a:lstStyle/>
          <a:p>
            <a:pPr algn="ctr">
              <a:defRPr sz="2500" b="1">
                <a:solidFill>
                  <a:srgbClr val="123048"/>
                </a:solidFill>
              </a:defRPr>
            </a:pPr>
            <a:r>
              <a:rPr dirty="0"/>
              <a:t>3.2 </a:t>
            </a:r>
            <a:r>
              <a:rPr dirty="0" err="1"/>
              <a:t>Modelado</a:t>
            </a:r>
            <a:r>
              <a:rPr dirty="0"/>
              <a:t> y </a:t>
            </a:r>
            <a:r>
              <a:rPr dirty="0" err="1"/>
              <a:t>Simulación</a:t>
            </a:r>
            <a:r>
              <a:rPr dirty="0"/>
              <a:t> </a:t>
            </a:r>
            <a:r>
              <a:rPr dirty="0" err="1"/>
              <a:t>en</a:t>
            </a:r>
            <a:r>
              <a:rPr dirty="0"/>
              <a:t> </a:t>
            </a:r>
            <a:r>
              <a:rPr dirty="0" err="1"/>
              <a:t>Bizagi</a:t>
            </a:r>
            <a:r>
              <a:rPr dirty="0"/>
              <a:t> Modeler</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3: MODELADO DE PROCESOS DEL TALLER (BPMN)</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Figura 3.1: Diagrama de flujo operativo y asignación de carriles en Bizagi Modeler.</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r>
              <a:rPr dirty="0" smtClean="0"/>
              <a:t>18</a:t>
            </a:r>
            <a:endParaRPr dirty="0"/>
          </a:p>
        </p:txBody>
      </p:sp>
      <p:pic>
        <p:nvPicPr>
          <p:cNvPr id="9" name="Picture 5" descr="ima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37695" y="1485900"/>
            <a:ext cx="9128900" cy="463600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08683" y="274320"/>
            <a:ext cx="6744154" cy="477054"/>
          </a:xfrm>
          <a:prstGeom prst="rect">
            <a:avLst/>
          </a:prstGeom>
          <a:noFill/>
        </p:spPr>
        <p:txBody>
          <a:bodyPr wrap="none">
            <a:spAutoFit/>
          </a:bodyPr>
          <a:lstStyle/>
          <a:p>
            <a:pPr algn="ctr">
              <a:defRPr sz="2500" b="1">
                <a:solidFill>
                  <a:srgbClr val="123048"/>
                </a:solidFill>
              </a:defRPr>
            </a:pPr>
            <a:r>
              <a:rPr dirty="0"/>
              <a:t>3.3 </a:t>
            </a:r>
            <a:r>
              <a:rPr dirty="0" err="1"/>
              <a:t>Modelado</a:t>
            </a:r>
            <a:r>
              <a:rPr dirty="0"/>
              <a:t> y </a:t>
            </a:r>
            <a:r>
              <a:rPr dirty="0" err="1"/>
              <a:t>Simulación</a:t>
            </a:r>
            <a:r>
              <a:rPr dirty="0"/>
              <a:t> </a:t>
            </a:r>
            <a:r>
              <a:rPr dirty="0" err="1"/>
              <a:t>en</a:t>
            </a:r>
            <a:r>
              <a:rPr dirty="0"/>
              <a:t> </a:t>
            </a:r>
            <a:r>
              <a:rPr dirty="0" err="1"/>
              <a:t>Camunda</a:t>
            </a:r>
            <a:r>
              <a:rPr dirty="0"/>
              <a:t> Modeler</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3: MODELADO DE PROCESOS DEL TALLER (BPMN)</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Para garantizar el cumplimiento estricto de los estándares abiertos de ejecución, el proceso del taller se rediseñó en Camunda Modeler. Este entorno destacó por su rigurosidad sintáctica en las compuertas lógicas (XOR, AND, OR). Además, se aprovechó el complemento de simulación basado en tokens (Token Simulation), el cual permitió realizar una prueba visual interactiva del paso de las instancias a través de los diferentes caminos del taller, comprobando la ausencia de interbloqueos (deadlocks) y validando la robustez lógica del modelo antes de cualquier despliegue en un motor ejecutable.</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8314" y="274320"/>
            <a:ext cx="4284891" cy="477054"/>
          </a:xfrm>
          <a:prstGeom prst="rect">
            <a:avLst/>
          </a:prstGeom>
          <a:noFill/>
        </p:spPr>
        <p:txBody>
          <a:bodyPr wrap="none">
            <a:spAutoFit/>
          </a:bodyPr>
          <a:lstStyle/>
          <a:p>
            <a:pPr algn="ctr">
              <a:defRPr sz="2500" b="1">
                <a:solidFill>
                  <a:srgbClr val="123048"/>
                </a:solidFill>
              </a:defRPr>
            </a:pPr>
            <a:r>
              <a:rPr dirty="0" err="1"/>
              <a:t>Figura</a:t>
            </a:r>
            <a:r>
              <a:rPr dirty="0"/>
              <a:t> / </a:t>
            </a:r>
            <a:r>
              <a:rPr dirty="0" err="1"/>
              <a:t>evidencia</a:t>
            </a:r>
            <a:r>
              <a:rPr dirty="0"/>
              <a:t> del </a:t>
            </a:r>
            <a:r>
              <a:rPr dirty="0" err="1"/>
              <a:t>proyecto</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3: MODELADO DE PROCESOS DEL TALLER (BPMN)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20</a:t>
            </a:r>
          </a:p>
        </p:txBody>
      </p:sp>
      <p:pic>
        <p:nvPicPr>
          <p:cNvPr id="9" name="Imagen 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17522" y="1097280"/>
            <a:ext cx="9045677" cy="508819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08683" y="274320"/>
            <a:ext cx="6744154" cy="477054"/>
          </a:xfrm>
          <a:prstGeom prst="rect">
            <a:avLst/>
          </a:prstGeom>
          <a:noFill/>
        </p:spPr>
        <p:txBody>
          <a:bodyPr wrap="none">
            <a:spAutoFit/>
          </a:bodyPr>
          <a:lstStyle/>
          <a:p>
            <a:pPr algn="ctr">
              <a:defRPr sz="2500" b="1">
                <a:solidFill>
                  <a:srgbClr val="123048"/>
                </a:solidFill>
              </a:defRPr>
            </a:pPr>
            <a:r>
              <a:rPr dirty="0"/>
              <a:t>3.3 </a:t>
            </a:r>
            <a:r>
              <a:rPr dirty="0" err="1"/>
              <a:t>Modelado</a:t>
            </a:r>
            <a:r>
              <a:rPr dirty="0"/>
              <a:t> y </a:t>
            </a:r>
            <a:r>
              <a:rPr dirty="0" err="1"/>
              <a:t>Simulación</a:t>
            </a:r>
            <a:r>
              <a:rPr dirty="0"/>
              <a:t> </a:t>
            </a:r>
            <a:r>
              <a:rPr dirty="0" err="1"/>
              <a:t>en</a:t>
            </a:r>
            <a:r>
              <a:rPr dirty="0"/>
              <a:t> </a:t>
            </a:r>
            <a:r>
              <a:rPr dirty="0" err="1"/>
              <a:t>Camunda</a:t>
            </a:r>
            <a:r>
              <a:rPr dirty="0"/>
              <a:t> Modeler</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3: MODELADO DE PROCESOS DEL TALLER (BPMN)</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Figura 3.2: Modelo de procesos y validación interactiva de flujos mediante tokens en Camunda Modeler.</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21</a:t>
            </a:r>
          </a:p>
        </p:txBody>
      </p:sp>
      <p:pic>
        <p:nvPicPr>
          <p:cNvPr id="9" name="Picture 5" descr="image5.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48847" y="1645920"/>
            <a:ext cx="10853721" cy="437997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7686" y="274320"/>
            <a:ext cx="6066148" cy="477054"/>
          </a:xfrm>
          <a:prstGeom prst="rect">
            <a:avLst/>
          </a:prstGeom>
          <a:noFill/>
        </p:spPr>
        <p:txBody>
          <a:bodyPr wrap="none">
            <a:spAutoFit/>
          </a:bodyPr>
          <a:lstStyle/>
          <a:p>
            <a:pPr algn="ctr">
              <a:defRPr sz="2500" b="1">
                <a:solidFill>
                  <a:srgbClr val="123048"/>
                </a:solidFill>
              </a:defRPr>
            </a:pPr>
            <a:r>
              <a:rPr dirty="0"/>
              <a:t>3.4 </a:t>
            </a:r>
            <a:r>
              <a:rPr dirty="0" err="1"/>
              <a:t>Modelado</a:t>
            </a:r>
            <a:r>
              <a:rPr dirty="0"/>
              <a:t> y </a:t>
            </a:r>
            <a:r>
              <a:rPr dirty="0" err="1"/>
              <a:t>Simulación</a:t>
            </a:r>
            <a:r>
              <a:rPr dirty="0"/>
              <a:t> </a:t>
            </a:r>
            <a:r>
              <a:rPr dirty="0" err="1"/>
              <a:t>en</a:t>
            </a:r>
            <a:r>
              <a:rPr dirty="0"/>
              <a:t> Bonita Studio</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3: MODELADO DE PROCESOS DEL TALLER (BPMN)</a:t>
            </a:r>
          </a:p>
        </p:txBody>
      </p:sp>
      <p:sp>
        <p:nvSpPr>
          <p:cNvPr id="6" name="TextBox 5"/>
          <p:cNvSpPr txBox="1"/>
          <p:nvPr/>
        </p:nvSpPr>
        <p:spPr>
          <a:xfrm>
            <a:off x="731520" y="1234440"/>
            <a:ext cx="10698480" cy="1336263"/>
          </a:xfrm>
          <a:prstGeom prst="rect">
            <a:avLst/>
          </a:prstGeom>
          <a:noFill/>
        </p:spPr>
        <p:txBody>
          <a:bodyPr wrap="square" lIns="73152" rIns="73152">
            <a:spAutoFit/>
          </a:bodyPr>
          <a:lstStyle/>
          <a:p>
            <a:pPr>
              <a:spcAft>
                <a:spcPts val="700"/>
              </a:spcAft>
              <a:defRPr sz="1500" b="0">
                <a:solidFill>
                  <a:srgbClr val="232B32"/>
                </a:solidFill>
              </a:defRPr>
            </a:pPr>
            <a:r>
              <a:rPr dirty="0"/>
              <a:t>La </a:t>
            </a:r>
            <a:r>
              <a:rPr dirty="0" err="1"/>
              <a:t>tercera</a:t>
            </a:r>
            <a:r>
              <a:rPr dirty="0"/>
              <a:t> </a:t>
            </a:r>
            <a:r>
              <a:rPr dirty="0" err="1"/>
              <a:t>implementación</a:t>
            </a:r>
            <a:r>
              <a:rPr dirty="0"/>
              <a:t> se </a:t>
            </a:r>
            <a:r>
              <a:rPr dirty="0" err="1"/>
              <a:t>llevó</a:t>
            </a:r>
            <a:r>
              <a:rPr dirty="0"/>
              <a:t> a </a:t>
            </a:r>
            <a:r>
              <a:rPr dirty="0" err="1"/>
              <a:t>cabo</a:t>
            </a:r>
            <a:r>
              <a:rPr dirty="0"/>
              <a:t> </a:t>
            </a:r>
            <a:r>
              <a:rPr dirty="0" err="1"/>
              <a:t>en</a:t>
            </a:r>
            <a:r>
              <a:rPr dirty="0"/>
              <a:t> Bonita Studio, </a:t>
            </a:r>
            <a:r>
              <a:rPr dirty="0" err="1"/>
              <a:t>enfocándose</a:t>
            </a:r>
            <a:r>
              <a:rPr dirty="0"/>
              <a:t> </a:t>
            </a:r>
            <a:r>
              <a:rPr dirty="0" err="1"/>
              <a:t>en</a:t>
            </a:r>
            <a:r>
              <a:rPr dirty="0"/>
              <a:t> la </a:t>
            </a:r>
            <a:r>
              <a:rPr dirty="0" err="1"/>
              <a:t>arquitectura</a:t>
            </a:r>
            <a:r>
              <a:rPr dirty="0"/>
              <a:t> de </a:t>
            </a:r>
            <a:r>
              <a:rPr dirty="0" err="1"/>
              <a:t>procesos</a:t>
            </a:r>
            <a:r>
              <a:rPr dirty="0"/>
              <a:t> </a:t>
            </a:r>
            <a:r>
              <a:rPr dirty="0" err="1"/>
              <a:t>orientada</a:t>
            </a:r>
            <a:r>
              <a:rPr dirty="0"/>
              <a:t> a </a:t>
            </a:r>
            <a:r>
              <a:rPr dirty="0" err="1"/>
              <a:t>sistemas</a:t>
            </a:r>
            <a:r>
              <a:rPr dirty="0"/>
              <a:t> Low-Code e </a:t>
            </a:r>
            <a:r>
              <a:rPr dirty="0" err="1"/>
              <a:t>integración</a:t>
            </a:r>
            <a:r>
              <a:rPr dirty="0"/>
              <a:t> de </a:t>
            </a:r>
            <a:r>
              <a:rPr dirty="0" err="1"/>
              <a:t>datos</a:t>
            </a:r>
            <a:r>
              <a:rPr dirty="0"/>
              <a:t>. Este </a:t>
            </a:r>
            <a:r>
              <a:rPr dirty="0" err="1"/>
              <a:t>entorno</a:t>
            </a:r>
            <a:r>
              <a:rPr dirty="0"/>
              <a:t> </a:t>
            </a:r>
            <a:r>
              <a:rPr dirty="0" err="1"/>
              <a:t>permitió</a:t>
            </a:r>
            <a:r>
              <a:rPr dirty="0"/>
              <a:t> </a:t>
            </a:r>
            <a:r>
              <a:rPr dirty="0" err="1"/>
              <a:t>estructurar</a:t>
            </a:r>
            <a:r>
              <a:rPr dirty="0"/>
              <a:t> </a:t>
            </a:r>
            <a:r>
              <a:rPr dirty="0" err="1"/>
              <a:t>contratos</a:t>
            </a:r>
            <a:r>
              <a:rPr dirty="0"/>
              <a:t> de entrada y </a:t>
            </a:r>
            <a:r>
              <a:rPr dirty="0" err="1"/>
              <a:t>salida</a:t>
            </a:r>
            <a:r>
              <a:rPr dirty="0"/>
              <a:t> para </a:t>
            </a:r>
            <a:r>
              <a:rPr dirty="0" err="1"/>
              <a:t>cada</a:t>
            </a:r>
            <a:r>
              <a:rPr dirty="0"/>
              <a:t> </a:t>
            </a:r>
            <a:r>
              <a:rPr dirty="0" err="1"/>
              <a:t>tarea</a:t>
            </a:r>
            <a:r>
              <a:rPr dirty="0"/>
              <a:t>, </a:t>
            </a:r>
            <a:r>
              <a:rPr dirty="0" err="1"/>
              <a:t>asociando</a:t>
            </a:r>
            <a:r>
              <a:rPr dirty="0"/>
              <a:t> variables de </a:t>
            </a:r>
            <a:r>
              <a:rPr dirty="0" err="1"/>
              <a:t>negocio</a:t>
            </a:r>
            <a:r>
              <a:rPr dirty="0"/>
              <a:t> </a:t>
            </a:r>
            <a:r>
              <a:rPr dirty="0" err="1"/>
              <a:t>críticas</a:t>
            </a:r>
            <a:r>
              <a:rPr dirty="0"/>
              <a:t> (</a:t>
            </a:r>
            <a:r>
              <a:rPr dirty="0" err="1"/>
              <a:t>como</a:t>
            </a:r>
            <a:r>
              <a:rPr dirty="0"/>
              <a:t> el </a:t>
            </a:r>
            <a:r>
              <a:rPr dirty="0" err="1"/>
              <a:t>identificador</a:t>
            </a:r>
            <a:r>
              <a:rPr dirty="0"/>
              <a:t> de la </a:t>
            </a:r>
            <a:r>
              <a:rPr dirty="0" err="1"/>
              <a:t>orden</a:t>
            </a:r>
            <a:r>
              <a:rPr dirty="0"/>
              <a:t>, el </a:t>
            </a:r>
            <a:r>
              <a:rPr dirty="0" err="1"/>
              <a:t>costo</a:t>
            </a:r>
            <a:r>
              <a:rPr dirty="0"/>
              <a:t> de las </a:t>
            </a:r>
            <a:r>
              <a:rPr dirty="0" err="1"/>
              <a:t>refacciones</a:t>
            </a:r>
            <a:r>
              <a:rPr dirty="0"/>
              <a:t> y el </a:t>
            </a:r>
            <a:r>
              <a:rPr dirty="0" err="1"/>
              <a:t>estatus</a:t>
            </a:r>
            <a:r>
              <a:rPr dirty="0"/>
              <a:t> del </a:t>
            </a:r>
            <a:r>
              <a:rPr dirty="0" err="1"/>
              <a:t>diagnóstico</a:t>
            </a:r>
            <a:r>
              <a:rPr dirty="0"/>
              <a:t>). </a:t>
            </a:r>
            <a:r>
              <a:rPr dirty="0" err="1"/>
              <a:t>Esto</a:t>
            </a:r>
            <a:r>
              <a:rPr dirty="0"/>
              <a:t> </a:t>
            </a:r>
            <a:r>
              <a:rPr dirty="0" err="1"/>
              <a:t>aporta</a:t>
            </a:r>
            <a:r>
              <a:rPr dirty="0"/>
              <a:t> </a:t>
            </a:r>
            <a:r>
              <a:rPr dirty="0" err="1"/>
              <a:t>una</a:t>
            </a:r>
            <a:r>
              <a:rPr dirty="0"/>
              <a:t> </a:t>
            </a:r>
            <a:r>
              <a:rPr dirty="0" err="1"/>
              <a:t>perspectiva</a:t>
            </a:r>
            <a:r>
              <a:rPr dirty="0"/>
              <a:t> </a:t>
            </a:r>
            <a:r>
              <a:rPr dirty="0" err="1"/>
              <a:t>avanzada</a:t>
            </a:r>
            <a:r>
              <a:rPr dirty="0"/>
              <a:t> </a:t>
            </a:r>
            <a:r>
              <a:rPr dirty="0" err="1"/>
              <a:t>sobre</a:t>
            </a:r>
            <a:r>
              <a:rPr dirty="0"/>
              <a:t> </a:t>
            </a:r>
            <a:r>
              <a:rPr dirty="0" err="1"/>
              <a:t>cómo</a:t>
            </a:r>
            <a:r>
              <a:rPr dirty="0"/>
              <a:t> la </a:t>
            </a:r>
            <a:r>
              <a:rPr dirty="0" err="1"/>
              <a:t>información</a:t>
            </a:r>
            <a:r>
              <a:rPr dirty="0"/>
              <a:t> </a:t>
            </a:r>
            <a:r>
              <a:rPr dirty="0" err="1"/>
              <a:t>fluye</a:t>
            </a:r>
            <a:r>
              <a:rPr dirty="0"/>
              <a:t> y se </a:t>
            </a:r>
            <a:r>
              <a:rPr dirty="0" err="1"/>
              <a:t>almacena</a:t>
            </a:r>
            <a:r>
              <a:rPr dirty="0"/>
              <a:t> a lo largo de las </a:t>
            </a:r>
            <a:r>
              <a:rPr dirty="0" err="1"/>
              <a:t>etapas</a:t>
            </a:r>
            <a:r>
              <a:rPr dirty="0"/>
              <a:t> </a:t>
            </a:r>
            <a:r>
              <a:rPr dirty="0" err="1"/>
              <a:t>operativas</a:t>
            </a:r>
            <a:r>
              <a:rPr dirty="0"/>
              <a:t> del taller</a:t>
            </a:r>
            <a:r>
              <a:rPr dirty="0" smtClean="0"/>
              <a:t>.</a:t>
            </a:r>
            <a:endParaRPr dirty="0"/>
          </a:p>
          <a:p>
            <a:pPr>
              <a:spcAft>
                <a:spcPts val="700"/>
              </a:spcAft>
              <a:defRPr sz="1500" b="0">
                <a:solidFill>
                  <a:srgbClr val="232B32"/>
                </a:solidFill>
              </a:defRPr>
            </a:pPr>
            <a:r>
              <a:rPr dirty="0" err="1"/>
              <a:t>Figura</a:t>
            </a:r>
            <a:r>
              <a:rPr dirty="0"/>
              <a:t> 3.3: </a:t>
            </a:r>
            <a:r>
              <a:rPr dirty="0" err="1"/>
              <a:t>Arquitectura</a:t>
            </a:r>
            <a:r>
              <a:rPr dirty="0"/>
              <a:t> y </a:t>
            </a:r>
            <a:r>
              <a:rPr dirty="0" err="1"/>
              <a:t>modelado</a:t>
            </a:r>
            <a:r>
              <a:rPr dirty="0"/>
              <a:t> de </a:t>
            </a:r>
            <a:r>
              <a:rPr dirty="0" err="1"/>
              <a:t>procesos</a:t>
            </a:r>
            <a:r>
              <a:rPr dirty="0"/>
              <a:t> con </a:t>
            </a:r>
            <a:r>
              <a:rPr dirty="0" err="1"/>
              <a:t>gestión</a:t>
            </a:r>
            <a:r>
              <a:rPr dirty="0"/>
              <a:t> de </a:t>
            </a:r>
            <a:r>
              <a:rPr dirty="0" err="1"/>
              <a:t>datos</a:t>
            </a:r>
            <a:r>
              <a:rPr dirty="0"/>
              <a:t> </a:t>
            </a:r>
            <a:r>
              <a:rPr dirty="0" err="1"/>
              <a:t>en</a:t>
            </a:r>
            <a:r>
              <a:rPr dirty="0"/>
              <a:t> Bonita Studio.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22</a:t>
            </a:r>
          </a:p>
        </p:txBody>
      </p:sp>
      <p:pic>
        <p:nvPicPr>
          <p:cNvPr id="9" name="Imagen 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600730" y="2593563"/>
            <a:ext cx="6813756" cy="383273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234440"/>
          <a:ext cx="11155680" cy="4983480"/>
        </p:xfrm>
        <a:graphic>
          <a:graphicData uri="http://schemas.openxmlformats.org/drawingml/2006/table">
            <a:tbl>
              <a:tblPr firstRow="1" bandRow="1">
                <a:tableStyleId>{5C22544A-7EE6-4342-B048-85BDC9FD1C3A}</a:tableStyleId>
              </a:tblPr>
              <a:tblGrid>
                <a:gridCol w="2788920"/>
                <a:gridCol w="2788920"/>
                <a:gridCol w="2788920"/>
                <a:gridCol w="2788920"/>
              </a:tblGrid>
              <a:tr h="996696">
                <a:tc>
                  <a:txBody>
                    <a:bodyPr/>
                    <a:lstStyle/>
                    <a:p>
                      <a:pPr>
                        <a:defRPr sz="1150" b="1">
                          <a:solidFill>
                            <a:srgbClr val="FFFFFF"/>
                          </a:solidFill>
                        </a:defRPr>
                      </a:pPr>
                      <a:r>
                        <a:rPr dirty="0" err="1"/>
                        <a:t>Criterio</a:t>
                      </a:r>
                      <a:r>
                        <a:rPr dirty="0"/>
                        <a:t> de </a:t>
                      </a:r>
                      <a:r>
                        <a:rPr dirty="0" err="1"/>
                        <a:t>Evaluación</a:t>
                      </a:r>
                      <a:endParaRPr dirty="0"/>
                    </a:p>
                  </a:txBody>
                  <a:tcPr marL="54864" marR="36576" marT="36576">
                    <a:solidFill>
                      <a:srgbClr val="123048"/>
                    </a:solidFill>
                  </a:tcPr>
                </a:tc>
                <a:tc>
                  <a:txBody>
                    <a:bodyPr/>
                    <a:lstStyle/>
                    <a:p>
                      <a:pPr>
                        <a:defRPr sz="1150" b="1">
                          <a:solidFill>
                            <a:srgbClr val="FFFFFF"/>
                          </a:solidFill>
                        </a:defRPr>
                      </a:pPr>
                      <a:r>
                        <a:rPr dirty="0" err="1"/>
                        <a:t>Bizagi</a:t>
                      </a:r>
                      <a:r>
                        <a:rPr dirty="0"/>
                        <a:t> Modeler</a:t>
                      </a:r>
                    </a:p>
                  </a:txBody>
                  <a:tcPr marL="54864" marR="36576" marT="36576">
                    <a:solidFill>
                      <a:srgbClr val="123048"/>
                    </a:solidFill>
                  </a:tcPr>
                </a:tc>
                <a:tc>
                  <a:txBody>
                    <a:bodyPr/>
                    <a:lstStyle/>
                    <a:p>
                      <a:pPr>
                        <a:defRPr sz="1150" b="1">
                          <a:solidFill>
                            <a:srgbClr val="FFFFFF"/>
                          </a:solidFill>
                        </a:defRPr>
                      </a:pPr>
                      <a:r>
                        <a:t>Camunda Modeler</a:t>
                      </a:r>
                    </a:p>
                  </a:txBody>
                  <a:tcPr marL="54864" marR="36576" marT="36576">
                    <a:solidFill>
                      <a:srgbClr val="123048"/>
                    </a:solidFill>
                  </a:tcPr>
                </a:tc>
                <a:tc>
                  <a:txBody>
                    <a:bodyPr/>
                    <a:lstStyle/>
                    <a:p>
                      <a:pPr>
                        <a:defRPr sz="1150" b="1">
                          <a:solidFill>
                            <a:srgbClr val="FFFFFF"/>
                          </a:solidFill>
                        </a:defRPr>
                      </a:pPr>
                      <a:r>
                        <a:t>Bonita Studio</a:t>
                      </a:r>
                    </a:p>
                  </a:txBody>
                  <a:tcPr marL="54864" marR="36576" marT="36576">
                    <a:solidFill>
                      <a:srgbClr val="123048"/>
                    </a:solidFill>
                  </a:tcPr>
                </a:tc>
              </a:tr>
              <a:tr h="996696">
                <a:tc>
                  <a:txBody>
                    <a:bodyPr/>
                    <a:lstStyle/>
                    <a:p>
                      <a:pPr>
                        <a:defRPr sz="1050" b="1">
                          <a:solidFill>
                            <a:srgbClr val="232B32"/>
                          </a:solidFill>
                        </a:defRPr>
                      </a:pPr>
                      <a:r>
                        <a:t>Enfoque Principal</a:t>
                      </a:r>
                    </a:p>
                  </a:txBody>
                  <a:tcPr marL="54864" marR="36576" marT="36576">
                    <a:solidFill>
                      <a:srgbClr val="FFFFFF"/>
                    </a:solidFill>
                  </a:tcPr>
                </a:tc>
                <a:tc>
                  <a:txBody>
                    <a:bodyPr/>
                    <a:lstStyle/>
                    <a:p>
                      <a:pPr>
                        <a:defRPr sz="1050" b="0">
                          <a:solidFill>
                            <a:srgbClr val="232B32"/>
                          </a:solidFill>
                        </a:defRPr>
                      </a:pPr>
                      <a:r>
                        <a:t>Documentación ágil, diseño colaborativo y análisis básico de tiempos de ciclo.</a:t>
                      </a:r>
                    </a:p>
                  </a:txBody>
                  <a:tcPr marL="54864" marR="36576" marT="36576">
                    <a:solidFill>
                      <a:srgbClr val="FFFFFF"/>
                    </a:solidFill>
                  </a:tcPr>
                </a:tc>
                <a:tc>
                  <a:txBody>
                    <a:bodyPr/>
                    <a:lstStyle/>
                    <a:p>
                      <a:pPr>
                        <a:defRPr sz="1050" b="0">
                          <a:solidFill>
                            <a:srgbClr val="232B32"/>
                          </a:solidFill>
                        </a:defRPr>
                      </a:pPr>
                      <a:r>
                        <a:t>Automatización estricta de flujos y preparación para motores de ejecución Java.</a:t>
                      </a:r>
                    </a:p>
                  </a:txBody>
                  <a:tcPr marL="54864" marR="36576" marT="36576">
                    <a:solidFill>
                      <a:srgbClr val="FFFFFF"/>
                    </a:solidFill>
                  </a:tcPr>
                </a:tc>
                <a:tc>
                  <a:txBody>
                    <a:bodyPr/>
                    <a:lstStyle/>
                    <a:p>
                      <a:pPr>
                        <a:defRPr sz="1050" b="0">
                          <a:solidFill>
                            <a:srgbClr val="232B32"/>
                          </a:solidFill>
                        </a:defRPr>
                      </a:pPr>
                      <a:r>
                        <a:t>Desarrollo integral de aplicaciones corporativas de tipo Low-Code.</a:t>
                      </a:r>
                    </a:p>
                  </a:txBody>
                  <a:tcPr marL="54864" marR="36576" marT="36576">
                    <a:solidFill>
                      <a:srgbClr val="FFFFFF"/>
                    </a:solidFill>
                  </a:tcPr>
                </a:tc>
              </a:tr>
              <a:tr h="996696">
                <a:tc>
                  <a:txBody>
                    <a:bodyPr/>
                    <a:lstStyle/>
                    <a:p>
                      <a:pPr>
                        <a:defRPr sz="1050" b="1">
                          <a:solidFill>
                            <a:srgbClr val="232B32"/>
                          </a:solidFill>
                        </a:defRPr>
                      </a:pPr>
                      <a:r>
                        <a:t>Estándar BPMN 2.0</a:t>
                      </a:r>
                    </a:p>
                  </a:txBody>
                  <a:tcPr marL="54864" marR="36576" marT="36576">
                    <a:solidFill>
                      <a:srgbClr val="EBF1F5"/>
                    </a:solidFill>
                  </a:tcPr>
                </a:tc>
                <a:tc>
                  <a:txBody>
                    <a:bodyPr/>
                    <a:lstStyle/>
                    <a:p>
                      <a:pPr>
                        <a:defRPr sz="1050" b="0">
                          <a:solidFill>
                            <a:srgbClr val="232B32"/>
                          </a:solidFill>
                        </a:defRPr>
                      </a:pPr>
                      <a:r>
                        <a:t>Soporte visual completo y amigable para usuarios de negocio.</a:t>
                      </a:r>
                    </a:p>
                  </a:txBody>
                  <a:tcPr marL="54864" marR="36576" marT="36576">
                    <a:solidFill>
                      <a:srgbClr val="EBF1F5"/>
                    </a:solidFill>
                  </a:tcPr>
                </a:tc>
                <a:tc>
                  <a:txBody>
                    <a:bodyPr/>
                    <a:lstStyle/>
                    <a:p>
                      <a:pPr>
                        <a:defRPr sz="1050" b="0">
                          <a:solidFill>
                            <a:srgbClr val="232B32"/>
                          </a:solidFill>
                        </a:defRPr>
                      </a:pPr>
                      <a:r>
                        <a:t>Altamente riguroso, sin tolerancia a errores sintácticos de modelado.</a:t>
                      </a:r>
                    </a:p>
                  </a:txBody>
                  <a:tcPr marL="54864" marR="36576" marT="36576">
                    <a:solidFill>
                      <a:srgbClr val="EBF1F5"/>
                    </a:solidFill>
                  </a:tcPr>
                </a:tc>
                <a:tc>
                  <a:txBody>
                    <a:bodyPr/>
                    <a:lstStyle/>
                    <a:p>
                      <a:pPr>
                        <a:defRPr sz="1050" b="0">
                          <a:solidFill>
                            <a:srgbClr val="232B32"/>
                          </a:solidFill>
                        </a:defRPr>
                      </a:pPr>
                      <a:r>
                        <a:t>Completo, complementado con gestión de contratos, formularios y bases de datos.</a:t>
                      </a:r>
                    </a:p>
                  </a:txBody>
                  <a:tcPr marL="54864" marR="36576" marT="36576">
                    <a:solidFill>
                      <a:srgbClr val="EBF1F5"/>
                    </a:solidFill>
                  </a:tcPr>
                </a:tc>
              </a:tr>
              <a:tr h="996696">
                <a:tc>
                  <a:txBody>
                    <a:bodyPr/>
                    <a:lstStyle/>
                    <a:p>
                      <a:pPr>
                        <a:defRPr sz="1050" b="1">
                          <a:solidFill>
                            <a:srgbClr val="232B32"/>
                          </a:solidFill>
                        </a:defRPr>
                      </a:pPr>
                      <a:r>
                        <a:t>Capacidades de Simulación</a:t>
                      </a:r>
                    </a:p>
                  </a:txBody>
                  <a:tcPr marL="54864" marR="36576" marT="36576">
                    <a:solidFill>
                      <a:srgbClr val="FFFFFF"/>
                    </a:solidFill>
                  </a:tcPr>
                </a:tc>
                <a:tc>
                  <a:txBody>
                    <a:bodyPr/>
                    <a:lstStyle/>
                    <a:p>
                      <a:pPr>
                        <a:defRPr sz="1050" b="0">
                          <a:solidFill>
                            <a:srgbClr val="232B32"/>
                          </a:solidFill>
                        </a:defRPr>
                      </a:pPr>
                      <a:r>
                        <a:t>Análisis de costos y utilización de recursos por medio de parámetros configurables.</a:t>
                      </a:r>
                    </a:p>
                  </a:txBody>
                  <a:tcPr marL="54864" marR="36576" marT="36576">
                    <a:solidFill>
                      <a:srgbClr val="FFFFFF"/>
                    </a:solidFill>
                  </a:tcPr>
                </a:tc>
                <a:tc>
                  <a:txBody>
                    <a:bodyPr/>
                    <a:lstStyle/>
                    <a:p>
                      <a:pPr>
                        <a:defRPr sz="1050" b="0">
                          <a:solidFill>
                            <a:srgbClr val="232B32"/>
                          </a:solidFill>
                        </a:defRPr>
                      </a:pPr>
                      <a:r>
                        <a:t>Simulación visual por tokens (Token Simulation) para validación de rutas lógicas.</a:t>
                      </a:r>
                    </a:p>
                  </a:txBody>
                  <a:tcPr marL="54864" marR="36576" marT="36576">
                    <a:solidFill>
                      <a:srgbClr val="FFFFFF"/>
                    </a:solidFill>
                  </a:tcPr>
                </a:tc>
                <a:tc>
                  <a:txBody>
                    <a:bodyPr/>
                    <a:lstStyle/>
                    <a:p>
                      <a:pPr>
                        <a:defRPr sz="1050" b="0">
                          <a:solidFill>
                            <a:srgbClr val="232B32"/>
                          </a:solidFill>
                        </a:defRPr>
                      </a:pPr>
                      <a:r>
                        <a:t>Pruebas de integración de servicios, manejo de variables y despliegue de interfaces.</a:t>
                      </a:r>
                    </a:p>
                  </a:txBody>
                  <a:tcPr marL="54864" marR="36576" marT="36576">
                    <a:solidFill>
                      <a:srgbClr val="FFFFFF"/>
                    </a:solidFill>
                  </a:tcPr>
                </a:tc>
              </a:tr>
              <a:tr h="996696">
                <a:tc>
                  <a:txBody>
                    <a:bodyPr/>
                    <a:lstStyle/>
                    <a:p>
                      <a:pPr>
                        <a:defRPr sz="1050" b="1">
                          <a:solidFill>
                            <a:srgbClr val="232B32"/>
                          </a:solidFill>
                        </a:defRPr>
                      </a:pPr>
                      <a:r>
                        <a:t>Curva de Aprendizaje</a:t>
                      </a:r>
                    </a:p>
                  </a:txBody>
                  <a:tcPr marL="54864" marR="36576" marT="36576">
                    <a:solidFill>
                      <a:srgbClr val="EBF1F5"/>
                    </a:solidFill>
                  </a:tcPr>
                </a:tc>
                <a:tc>
                  <a:txBody>
                    <a:bodyPr/>
                    <a:lstStyle/>
                    <a:p>
                      <a:pPr>
                        <a:defRPr sz="1050" b="0">
                          <a:solidFill>
                            <a:srgbClr val="232B32"/>
                          </a:solidFill>
                        </a:defRPr>
                      </a:pPr>
                      <a:r>
                        <a:t>Baja, ideal para un diseño rápido y presentación ejecutiva.</a:t>
                      </a:r>
                    </a:p>
                  </a:txBody>
                  <a:tcPr marL="54864" marR="36576" marT="36576">
                    <a:solidFill>
                      <a:srgbClr val="EBF1F5"/>
                    </a:solidFill>
                  </a:tcPr>
                </a:tc>
                <a:tc>
                  <a:txBody>
                    <a:bodyPr/>
                    <a:lstStyle/>
                    <a:p>
                      <a:pPr>
                        <a:defRPr sz="1050" b="0">
                          <a:solidFill>
                            <a:srgbClr val="232B32"/>
                          </a:solidFill>
                        </a:defRPr>
                      </a:pPr>
                      <a:r>
                        <a:t>Moderada, orientada a ingenieros de procesos y desarrolladores técnicos.</a:t>
                      </a:r>
                    </a:p>
                  </a:txBody>
                  <a:tcPr marL="54864" marR="36576" marT="36576">
                    <a:solidFill>
                      <a:srgbClr val="EBF1F5"/>
                    </a:solidFill>
                  </a:tcPr>
                </a:tc>
                <a:tc>
                  <a:txBody>
                    <a:bodyPr/>
                    <a:lstStyle/>
                    <a:p>
                      <a:pPr>
                        <a:defRPr sz="1050" b="0">
                          <a:solidFill>
                            <a:srgbClr val="232B32"/>
                          </a:solidFill>
                        </a:defRPr>
                      </a:pPr>
                      <a:r>
                        <a:rPr dirty="0" err="1"/>
                        <a:t>Avanzada</a:t>
                      </a:r>
                      <a:r>
                        <a:rPr dirty="0"/>
                        <a:t>, </a:t>
                      </a:r>
                      <a:r>
                        <a:rPr dirty="0" err="1"/>
                        <a:t>requiere</a:t>
                      </a:r>
                      <a:r>
                        <a:rPr dirty="0"/>
                        <a:t> </a:t>
                      </a:r>
                      <a:r>
                        <a:rPr dirty="0" err="1"/>
                        <a:t>conocimientos</a:t>
                      </a:r>
                      <a:r>
                        <a:rPr dirty="0"/>
                        <a:t> de </a:t>
                      </a:r>
                      <a:r>
                        <a:rPr dirty="0" err="1"/>
                        <a:t>estructuración</a:t>
                      </a:r>
                      <a:r>
                        <a:rPr dirty="0"/>
                        <a:t> de </a:t>
                      </a:r>
                      <a:r>
                        <a:rPr dirty="0" err="1"/>
                        <a:t>datos</a:t>
                      </a:r>
                      <a:r>
                        <a:rPr dirty="0"/>
                        <a:t> y </a:t>
                      </a:r>
                      <a:r>
                        <a:rPr dirty="0" err="1"/>
                        <a:t>lógica</a:t>
                      </a:r>
                      <a:r>
                        <a:rPr dirty="0"/>
                        <a:t> de software.</a:t>
                      </a:r>
                    </a:p>
                  </a:txBody>
                  <a:tcPr marL="54864" marR="36576" marT="36576">
                    <a:solidFill>
                      <a:srgbClr val="EBF1F5"/>
                    </a:solidFill>
                  </a:tcPr>
                </a:tc>
              </a:tr>
            </a:tbl>
          </a:graphicData>
        </a:graphic>
      </p:graphicFrame>
      <p:sp>
        <p:nvSpPr>
          <p:cNvPr id="6" name="Rectangle 5"/>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47104"/>
            <a:ext cx="2738250"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r>
              <a:rPr lang="es-ES" dirty="0" smtClean="0"/>
              <a:t>23</a:t>
            </a:r>
            <a:endParaRPr dirty="0"/>
          </a:p>
        </p:txBody>
      </p:sp>
      <p:sp>
        <p:nvSpPr>
          <p:cNvPr id="8" name="TextBox 3"/>
          <p:cNvSpPr txBox="1"/>
          <p:nvPr/>
        </p:nvSpPr>
        <p:spPr>
          <a:xfrm>
            <a:off x="2353259" y="433557"/>
            <a:ext cx="7651645" cy="477054"/>
          </a:xfrm>
          <a:prstGeom prst="rect">
            <a:avLst/>
          </a:prstGeom>
          <a:noFill/>
        </p:spPr>
        <p:txBody>
          <a:bodyPr wrap="none">
            <a:spAutoFit/>
          </a:bodyPr>
          <a:lstStyle/>
          <a:p>
            <a:pPr algn="ctr">
              <a:defRPr sz="2500" b="1">
                <a:solidFill>
                  <a:srgbClr val="123048"/>
                </a:solidFill>
              </a:defRPr>
            </a:pPr>
            <a:r>
              <a:rPr dirty="0" smtClean="0"/>
              <a:t>3.5 </a:t>
            </a:r>
            <a:r>
              <a:rPr dirty="0" err="1" smtClean="0"/>
              <a:t>Tabla</a:t>
            </a:r>
            <a:r>
              <a:rPr dirty="0" smtClean="0"/>
              <a:t> </a:t>
            </a:r>
            <a:r>
              <a:rPr dirty="0" err="1" smtClean="0"/>
              <a:t>Comparativa</a:t>
            </a:r>
            <a:r>
              <a:rPr dirty="0" smtClean="0"/>
              <a:t> Integral de las </a:t>
            </a:r>
            <a:r>
              <a:rPr dirty="0" err="1" smtClean="0"/>
              <a:t>Plataformas</a:t>
            </a:r>
            <a:r>
              <a:rPr dirty="0" smtClean="0"/>
              <a:t> BPMN</a:t>
            </a:r>
            <a:endParaRPr dirty="0"/>
          </a:p>
        </p:txBody>
      </p:sp>
    </p:spTree>
    <p:extLst>
      <p:ext uri="{BB962C8B-B14F-4D97-AF65-F5344CB8AC3E}">
        <p14:creationId xmlns:p14="http://schemas.microsoft.com/office/powerpoint/2010/main" val="2933647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126247" y="274320"/>
            <a:ext cx="7909025" cy="477054"/>
          </a:xfrm>
          <a:prstGeom prst="rect">
            <a:avLst/>
          </a:prstGeom>
          <a:noFill/>
        </p:spPr>
        <p:txBody>
          <a:bodyPr wrap="none">
            <a:spAutoFit/>
          </a:bodyPr>
          <a:lstStyle/>
          <a:p>
            <a:pPr algn="ctr">
              <a:defRPr sz="2500" b="1">
                <a:solidFill>
                  <a:srgbClr val="123048"/>
                </a:solidFill>
              </a:defRPr>
            </a:pPr>
            <a:r>
              <a:rPr dirty="0"/>
              <a:t>4.1 </a:t>
            </a:r>
            <a:r>
              <a:rPr dirty="0" err="1"/>
              <a:t>Arquitectura</a:t>
            </a:r>
            <a:r>
              <a:rPr dirty="0"/>
              <a:t> e </a:t>
            </a:r>
            <a:r>
              <a:rPr dirty="0" err="1"/>
              <a:t>Integración</a:t>
            </a:r>
            <a:r>
              <a:rPr dirty="0"/>
              <a:t> de Python y R </a:t>
            </a:r>
            <a:r>
              <a:rPr dirty="0" err="1"/>
              <a:t>en</a:t>
            </a:r>
            <a:r>
              <a:rPr dirty="0"/>
              <a:t> el </a:t>
            </a:r>
            <a:r>
              <a:rPr dirty="0" err="1"/>
              <a:t>Entorno</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4: IMPLEMENTACIÓN DEL MOTOR DE SIMULACIÓN (INTELLIJ IDEA: PYTHON + R)</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Para respaldar el modelo gráfico del taller con un motor matemático y de procesamiento estocástico robusto, se desarrolló un programa modular dentro del entorno de desarrollo integrado IntelliJ IDEA. La elección de este IDE se debió a su potente gestión de proyectos, soporte para múltiples lenguajes y capacidad para integrar flujos de trabajo avanzados.</a:t>
            </a:r>
          </a:p>
          <a:p>
            <a:pPr>
              <a:spcAft>
                <a:spcPts val="700"/>
              </a:spcAft>
              <a:defRPr sz="1500" b="0">
                <a:solidFill>
                  <a:srgbClr val="232B32"/>
                </a:solidFill>
              </a:defRPr>
            </a:pPr>
            <a:endParaRPr/>
          </a:p>
          <a:p>
            <a:pPr>
              <a:spcAft>
                <a:spcPts val="700"/>
              </a:spcAft>
              <a:defRPr sz="1500" b="0">
                <a:solidFill>
                  <a:srgbClr val="232B32"/>
                </a:solidFill>
              </a:defRPr>
            </a:pPr>
            <a:r>
              <a:t>La arquitectura de la solución se diseñó bajo un esquema de interoperabilidad híbrida:</a:t>
            </a:r>
          </a:p>
          <a:p>
            <a:pPr>
              <a:spcAft>
                <a:spcPts val="700"/>
              </a:spcAft>
              <a:defRPr sz="1500" b="0">
                <a:solidFill>
                  <a:srgbClr val="232B32"/>
                </a:solidFill>
              </a:defRPr>
            </a:pPr>
            <a:endParaRPr/>
          </a:p>
          <a:p>
            <a:pPr>
              <a:spcAft>
                <a:spcPts val="700"/>
              </a:spcAft>
              <a:defRPr sz="1500" b="0">
                <a:solidFill>
                  <a:srgbClr val="232B32"/>
                </a:solidFill>
              </a:defRPr>
            </a:pPr>
            <a:r>
              <a:t>Python como Orquestador Lógico: Se encarga de gobernar el ciclo principal de la simulación de eventos discretos, gestionar las estructuras de datos de las órdenes de servicio, controlar el flujo de las iteraciones temporales y coordinar la recepción de resultados.</a:t>
            </a:r>
          </a:p>
          <a:p>
            <a:pPr>
              <a:spcAft>
                <a:spcPts val="700"/>
              </a:spcAft>
              <a:defRPr sz="1500" b="0">
                <a:solidFill>
                  <a:srgbClr val="232B32"/>
                </a:solidFill>
              </a:defRPr>
            </a:pPr>
            <a:endParaRPr/>
          </a:p>
          <a:p>
            <a:pPr>
              <a:spcAft>
                <a:spcPts val="700"/>
              </a:spcAft>
              <a:defRPr sz="1500" b="0">
                <a:solidFill>
                  <a:srgbClr val="232B32"/>
                </a:solidFill>
              </a:defRPr>
            </a:pPr>
            <a:r>
              <a:t>R como Motor Estadístico: Funciona como el co-procesador analítico encargado de calcular las distribuciones de probabilidad (como las funciones exponenciales para llegadas y normales para los tiempos de servicio), generar las secuencias de números pseudoaleatorios bajo pruebas de uniformidad y retornar los vectores de datos limpios hacia el núcleo en Python.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723317" y="274320"/>
            <a:ext cx="8714886" cy="477054"/>
          </a:xfrm>
          <a:prstGeom prst="rect">
            <a:avLst/>
          </a:prstGeom>
          <a:noFill/>
        </p:spPr>
        <p:txBody>
          <a:bodyPr wrap="none">
            <a:spAutoFit/>
          </a:bodyPr>
          <a:lstStyle/>
          <a:p>
            <a:pPr algn="ctr">
              <a:defRPr sz="2500" b="1">
                <a:solidFill>
                  <a:srgbClr val="123048"/>
                </a:solidFill>
              </a:defRPr>
            </a:pPr>
            <a:r>
              <a:rPr dirty="0"/>
              <a:t>4.2 </a:t>
            </a:r>
            <a:r>
              <a:rPr dirty="0" err="1"/>
              <a:t>Código</a:t>
            </a:r>
            <a:r>
              <a:rPr dirty="0"/>
              <a:t> Fuente del Motor de </a:t>
            </a:r>
            <a:r>
              <a:rPr dirty="0" err="1"/>
              <a:t>Simulación</a:t>
            </a:r>
            <a:r>
              <a:rPr dirty="0"/>
              <a:t> y </a:t>
            </a:r>
            <a:r>
              <a:rPr dirty="0" err="1"/>
              <a:t>Análisis</a:t>
            </a:r>
            <a:r>
              <a:rPr dirty="0"/>
              <a:t> </a:t>
            </a:r>
            <a:r>
              <a:rPr dirty="0" err="1"/>
              <a:t>Estadístico</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4: IMPLEMENTACIÓN DEL MOTOR DE SIMULACIÓN (INTELLIJ IDEA: PYTHON + R)</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A continuación se presentan los fragmentos clave que componen la lógica de programación implementada en el proyecto dentro de IntelliJ IDEA, estructurados para la generación de variables aleatorias y el análisis de comportamiento del taller:</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25</a:t>
            </a:r>
          </a:p>
        </p:txBody>
      </p:sp>
      <p:pic>
        <p:nvPicPr>
          <p:cNvPr id="9" name="Imagen 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09136" y="1825039"/>
            <a:ext cx="8150942" cy="458490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23059" y="274320"/>
            <a:ext cx="5915402" cy="477054"/>
          </a:xfrm>
          <a:prstGeom prst="rect">
            <a:avLst/>
          </a:prstGeom>
          <a:noFill/>
        </p:spPr>
        <p:txBody>
          <a:bodyPr wrap="none">
            <a:spAutoFit/>
          </a:bodyPr>
          <a:lstStyle/>
          <a:p>
            <a:pPr algn="ctr">
              <a:defRPr sz="2500" b="1">
                <a:solidFill>
                  <a:srgbClr val="123048"/>
                </a:solidFill>
              </a:defRPr>
            </a:pPr>
            <a:r>
              <a:rPr dirty="0"/>
              <a:t>4.3 </a:t>
            </a:r>
            <a:r>
              <a:rPr dirty="0" err="1"/>
              <a:t>Ejecución</a:t>
            </a:r>
            <a:r>
              <a:rPr dirty="0"/>
              <a:t>, </a:t>
            </a:r>
            <a:r>
              <a:rPr dirty="0" err="1"/>
              <a:t>Pruebas</a:t>
            </a:r>
            <a:r>
              <a:rPr dirty="0"/>
              <a:t> y </a:t>
            </a:r>
            <a:r>
              <a:rPr dirty="0" err="1"/>
              <a:t>Salidas</a:t>
            </a:r>
            <a:r>
              <a:rPr dirty="0"/>
              <a:t> </a:t>
            </a:r>
            <a:r>
              <a:rPr dirty="0" err="1"/>
              <a:t>en</a:t>
            </a:r>
            <a:r>
              <a:rPr dirty="0"/>
              <a:t> </a:t>
            </a:r>
            <a:r>
              <a:rPr dirty="0" err="1"/>
              <a:t>Consola</a:t>
            </a:r>
            <a:endParaRPr dirty="0"/>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4: IMPLEMENTACIÓN DEL MOTOR DE SIMULACIÓN (INTELLIJ IDEA: PYTHON + R)</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rPr dirty="0"/>
              <a:t>Para </a:t>
            </a:r>
            <a:r>
              <a:rPr dirty="0" err="1"/>
              <a:t>verificar</a:t>
            </a:r>
            <a:r>
              <a:rPr dirty="0"/>
              <a:t> el </a:t>
            </a:r>
            <a:r>
              <a:rPr dirty="0" err="1"/>
              <a:t>correcto</a:t>
            </a:r>
            <a:r>
              <a:rPr dirty="0"/>
              <a:t> </a:t>
            </a:r>
            <a:r>
              <a:rPr dirty="0" err="1"/>
              <a:t>funcionamiento</a:t>
            </a:r>
            <a:r>
              <a:rPr dirty="0"/>
              <a:t> del </a:t>
            </a:r>
            <a:r>
              <a:rPr dirty="0" err="1"/>
              <a:t>programa</a:t>
            </a:r>
            <a:r>
              <a:rPr dirty="0"/>
              <a:t>, se </a:t>
            </a:r>
            <a:r>
              <a:rPr dirty="0" err="1"/>
              <a:t>realizaron</a:t>
            </a:r>
            <a:r>
              <a:rPr dirty="0"/>
              <a:t> </a:t>
            </a:r>
            <a:r>
              <a:rPr dirty="0" err="1"/>
              <a:t>múltiples</a:t>
            </a:r>
            <a:r>
              <a:rPr dirty="0"/>
              <a:t> corridas de </a:t>
            </a:r>
            <a:r>
              <a:rPr dirty="0" err="1"/>
              <a:t>prueba</a:t>
            </a:r>
            <a:r>
              <a:rPr dirty="0"/>
              <a:t> </a:t>
            </a:r>
            <a:r>
              <a:rPr dirty="0" err="1"/>
              <a:t>en</a:t>
            </a:r>
            <a:r>
              <a:rPr dirty="0"/>
              <a:t> la terminal de IntelliJ IDEA. Las </a:t>
            </a:r>
            <a:r>
              <a:rPr dirty="0" err="1"/>
              <a:t>ejecuciones</a:t>
            </a:r>
            <a:r>
              <a:rPr dirty="0"/>
              <a:t> </a:t>
            </a:r>
            <a:r>
              <a:rPr dirty="0" err="1"/>
              <a:t>permitieron</a:t>
            </a:r>
            <a:r>
              <a:rPr dirty="0"/>
              <a:t> </a:t>
            </a:r>
            <a:r>
              <a:rPr dirty="0" err="1"/>
              <a:t>comprobar</a:t>
            </a:r>
            <a:r>
              <a:rPr dirty="0"/>
              <a:t> que </a:t>
            </a:r>
            <a:r>
              <a:rPr dirty="0" err="1"/>
              <a:t>los</a:t>
            </a:r>
            <a:r>
              <a:rPr dirty="0"/>
              <a:t> </a:t>
            </a:r>
            <a:r>
              <a:rPr dirty="0" err="1"/>
              <a:t>algoritmos</a:t>
            </a:r>
            <a:r>
              <a:rPr dirty="0"/>
              <a:t> de </a:t>
            </a:r>
            <a:r>
              <a:rPr dirty="0" err="1"/>
              <a:t>generación</a:t>
            </a:r>
            <a:r>
              <a:rPr dirty="0"/>
              <a:t> de variables </a:t>
            </a:r>
            <a:r>
              <a:rPr dirty="0" err="1"/>
              <a:t>aleatorias</a:t>
            </a:r>
            <a:r>
              <a:rPr dirty="0"/>
              <a:t> </a:t>
            </a:r>
            <a:r>
              <a:rPr dirty="0" err="1"/>
              <a:t>procesaban</a:t>
            </a:r>
            <a:r>
              <a:rPr dirty="0"/>
              <a:t> </a:t>
            </a:r>
            <a:r>
              <a:rPr dirty="0" err="1"/>
              <a:t>correctamente</a:t>
            </a:r>
            <a:r>
              <a:rPr dirty="0"/>
              <a:t> las </a:t>
            </a:r>
            <a:r>
              <a:rPr dirty="0" err="1"/>
              <a:t>distribuciones</a:t>
            </a:r>
            <a:r>
              <a:rPr dirty="0"/>
              <a:t> </a:t>
            </a:r>
            <a:r>
              <a:rPr dirty="0" err="1"/>
              <a:t>estadísticas</a:t>
            </a:r>
            <a:r>
              <a:rPr dirty="0"/>
              <a:t> </a:t>
            </a:r>
            <a:r>
              <a:rPr dirty="0" err="1"/>
              <a:t>requeridas</a:t>
            </a:r>
            <a:r>
              <a:rPr dirty="0"/>
              <a:t> para </a:t>
            </a:r>
            <a:r>
              <a:rPr dirty="0" err="1"/>
              <a:t>simular</a:t>
            </a:r>
            <a:r>
              <a:rPr dirty="0"/>
              <a:t> las </a:t>
            </a:r>
            <a:r>
              <a:rPr dirty="0" err="1"/>
              <a:t>llegadas</a:t>
            </a:r>
            <a:r>
              <a:rPr dirty="0"/>
              <a:t> de </a:t>
            </a:r>
            <a:r>
              <a:rPr dirty="0" err="1"/>
              <a:t>los</a:t>
            </a:r>
            <a:r>
              <a:rPr dirty="0"/>
              <a:t> </a:t>
            </a:r>
            <a:r>
              <a:rPr dirty="0" err="1"/>
              <a:t>vehículos</a:t>
            </a:r>
            <a:r>
              <a:rPr dirty="0"/>
              <a:t> y </a:t>
            </a:r>
            <a:r>
              <a:rPr dirty="0" err="1"/>
              <a:t>los</a:t>
            </a:r>
            <a:r>
              <a:rPr dirty="0"/>
              <a:t> </a:t>
            </a:r>
            <a:r>
              <a:rPr dirty="0" err="1"/>
              <a:t>tiempos</a:t>
            </a:r>
            <a:r>
              <a:rPr dirty="0"/>
              <a:t> de </a:t>
            </a:r>
            <a:r>
              <a:rPr dirty="0" err="1"/>
              <a:t>reparación</a:t>
            </a:r>
            <a:r>
              <a:rPr dirty="0"/>
              <a:t> </a:t>
            </a:r>
            <a:r>
              <a:rPr dirty="0" err="1"/>
              <a:t>en</a:t>
            </a:r>
            <a:r>
              <a:rPr dirty="0"/>
              <a:t> las </a:t>
            </a:r>
            <a:r>
              <a:rPr dirty="0" err="1"/>
              <a:t>bahías</a:t>
            </a:r>
            <a:r>
              <a:rPr dirty="0"/>
              <a:t> del taller.</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26</a:t>
            </a:r>
          </a:p>
        </p:txBody>
      </p:sp>
      <p:pic>
        <p:nvPicPr>
          <p:cNvPr id="9" name="Imagen 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58860" y="2356424"/>
            <a:ext cx="5348748" cy="3008671"/>
          </a:xfrm>
          <a:prstGeom prst="rect">
            <a:avLst/>
          </a:prstGeom>
        </p:spPr>
      </p:pic>
      <p:pic>
        <p:nvPicPr>
          <p:cNvPr id="10" name="Imagen 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09977" y="2356424"/>
            <a:ext cx="5348749" cy="300867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63928" y="274320"/>
            <a:ext cx="9633663" cy="477054"/>
          </a:xfrm>
          <a:prstGeom prst="rect">
            <a:avLst/>
          </a:prstGeom>
          <a:noFill/>
        </p:spPr>
        <p:txBody>
          <a:bodyPr wrap="none">
            <a:spAutoFit/>
          </a:bodyPr>
          <a:lstStyle/>
          <a:p>
            <a:pPr algn="ctr">
              <a:defRPr sz="2500" b="1">
                <a:solidFill>
                  <a:srgbClr val="123048"/>
                </a:solidFill>
              </a:defRPr>
            </a:pPr>
            <a:r>
              <a:rPr dirty="0"/>
              <a:t>5.1 </a:t>
            </a:r>
            <a:r>
              <a:rPr dirty="0" err="1"/>
              <a:t>Análisis</a:t>
            </a:r>
            <a:r>
              <a:rPr dirty="0"/>
              <a:t> </a:t>
            </a:r>
            <a:r>
              <a:rPr dirty="0" err="1"/>
              <a:t>Cuantitativo</a:t>
            </a:r>
            <a:r>
              <a:rPr dirty="0"/>
              <a:t> del </a:t>
            </a:r>
            <a:r>
              <a:rPr dirty="0" err="1"/>
              <a:t>Comportamiento</a:t>
            </a:r>
            <a:r>
              <a:rPr dirty="0"/>
              <a:t> </a:t>
            </a:r>
            <a:r>
              <a:rPr dirty="0" err="1"/>
              <a:t>Operativo</a:t>
            </a:r>
            <a:r>
              <a:rPr dirty="0"/>
              <a:t> del Taller (1/2)</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5: RESULTADOS Y DISCUSIÓN</a:t>
            </a:r>
          </a:p>
        </p:txBody>
      </p:sp>
      <p:sp>
        <p:nvSpPr>
          <p:cNvPr id="6" name="TextBox 5"/>
          <p:cNvSpPr txBox="1"/>
          <p:nvPr/>
        </p:nvSpPr>
        <p:spPr>
          <a:xfrm>
            <a:off x="731520" y="1234440"/>
            <a:ext cx="10698480" cy="4667945"/>
          </a:xfrm>
          <a:prstGeom prst="rect">
            <a:avLst/>
          </a:prstGeom>
          <a:noFill/>
        </p:spPr>
        <p:txBody>
          <a:bodyPr wrap="square" lIns="73152" rIns="73152">
            <a:spAutoFit/>
          </a:bodyPr>
          <a:lstStyle/>
          <a:p>
            <a:pPr>
              <a:spcAft>
                <a:spcPts val="700"/>
              </a:spcAft>
              <a:defRPr sz="1350" b="0">
                <a:solidFill>
                  <a:srgbClr val="232B32"/>
                </a:solidFill>
              </a:defRPr>
            </a:pPr>
            <a:r>
              <a:rPr dirty="0" err="1"/>
              <a:t>Tras</a:t>
            </a:r>
            <a:r>
              <a:rPr dirty="0"/>
              <a:t> la </a:t>
            </a:r>
            <a:r>
              <a:rPr dirty="0" err="1"/>
              <a:t>ejecución</a:t>
            </a:r>
            <a:r>
              <a:rPr dirty="0"/>
              <a:t> </a:t>
            </a:r>
            <a:r>
              <a:rPr dirty="0" err="1"/>
              <a:t>sistemática</a:t>
            </a:r>
            <a:r>
              <a:rPr dirty="0"/>
              <a:t> de </a:t>
            </a:r>
            <a:r>
              <a:rPr dirty="0" err="1"/>
              <a:t>los</a:t>
            </a:r>
            <a:r>
              <a:rPr dirty="0"/>
              <a:t> </a:t>
            </a:r>
            <a:r>
              <a:rPr dirty="0" err="1"/>
              <a:t>modelos</a:t>
            </a:r>
            <a:r>
              <a:rPr dirty="0"/>
              <a:t> de </a:t>
            </a:r>
            <a:r>
              <a:rPr dirty="0" err="1"/>
              <a:t>procesos</a:t>
            </a:r>
            <a:r>
              <a:rPr dirty="0"/>
              <a:t> </a:t>
            </a:r>
            <a:r>
              <a:rPr dirty="0" err="1"/>
              <a:t>en</a:t>
            </a:r>
            <a:r>
              <a:rPr dirty="0"/>
              <a:t> las </a:t>
            </a:r>
            <a:r>
              <a:rPr dirty="0" err="1"/>
              <a:t>plataformas</a:t>
            </a:r>
            <a:r>
              <a:rPr dirty="0"/>
              <a:t> BPMN (</a:t>
            </a:r>
            <a:r>
              <a:rPr dirty="0" err="1"/>
              <a:t>Bizagi</a:t>
            </a:r>
            <a:r>
              <a:rPr dirty="0"/>
              <a:t>, </a:t>
            </a:r>
            <a:r>
              <a:rPr dirty="0" err="1"/>
              <a:t>Camunda</a:t>
            </a:r>
            <a:r>
              <a:rPr dirty="0"/>
              <a:t> y Bonita) y el </a:t>
            </a:r>
            <a:r>
              <a:rPr dirty="0" err="1"/>
              <a:t>procesamiento</a:t>
            </a:r>
            <a:r>
              <a:rPr dirty="0"/>
              <a:t> </a:t>
            </a:r>
            <a:r>
              <a:rPr dirty="0" err="1"/>
              <a:t>intensivo</a:t>
            </a:r>
            <a:r>
              <a:rPr dirty="0"/>
              <a:t> de las corridas </a:t>
            </a:r>
            <a:r>
              <a:rPr dirty="0" err="1"/>
              <a:t>estocásticas</a:t>
            </a:r>
            <a:r>
              <a:rPr dirty="0"/>
              <a:t> a </a:t>
            </a:r>
            <a:r>
              <a:rPr dirty="0" err="1"/>
              <a:t>través</a:t>
            </a:r>
            <a:r>
              <a:rPr dirty="0"/>
              <a:t> del motor </a:t>
            </a:r>
            <a:r>
              <a:rPr dirty="0" err="1"/>
              <a:t>computacional</a:t>
            </a:r>
            <a:r>
              <a:rPr dirty="0"/>
              <a:t> </a:t>
            </a:r>
            <a:r>
              <a:rPr dirty="0" err="1"/>
              <a:t>desarrollado</a:t>
            </a:r>
            <a:r>
              <a:rPr dirty="0"/>
              <a:t> </a:t>
            </a:r>
            <a:r>
              <a:rPr dirty="0" err="1"/>
              <a:t>en</a:t>
            </a:r>
            <a:r>
              <a:rPr dirty="0"/>
              <a:t> IntelliJ IDEA </a:t>
            </a:r>
            <a:r>
              <a:rPr dirty="0" err="1"/>
              <a:t>mediante</a:t>
            </a:r>
            <a:r>
              <a:rPr dirty="0"/>
              <a:t> la </a:t>
            </a:r>
            <a:r>
              <a:rPr dirty="0" err="1"/>
              <a:t>integración</a:t>
            </a:r>
            <a:r>
              <a:rPr dirty="0"/>
              <a:t> de Python y R, se </a:t>
            </a:r>
            <a:r>
              <a:rPr dirty="0" err="1"/>
              <a:t>recopilaron</a:t>
            </a:r>
            <a:r>
              <a:rPr dirty="0"/>
              <a:t> y </a:t>
            </a:r>
            <a:r>
              <a:rPr dirty="0" err="1"/>
              <a:t>analizaron</a:t>
            </a:r>
            <a:r>
              <a:rPr dirty="0"/>
              <a:t> </a:t>
            </a:r>
            <a:r>
              <a:rPr dirty="0" err="1"/>
              <a:t>métricas</a:t>
            </a:r>
            <a:r>
              <a:rPr dirty="0"/>
              <a:t> clave de </a:t>
            </a:r>
            <a:r>
              <a:rPr dirty="0" err="1"/>
              <a:t>desempeño</a:t>
            </a:r>
            <a:r>
              <a:rPr dirty="0"/>
              <a:t> </a:t>
            </a:r>
            <a:r>
              <a:rPr dirty="0" err="1"/>
              <a:t>operacional</a:t>
            </a:r>
            <a:r>
              <a:rPr dirty="0"/>
              <a:t> (KPIs). </a:t>
            </a:r>
            <a:r>
              <a:rPr dirty="0" err="1"/>
              <a:t>Estos</a:t>
            </a:r>
            <a:r>
              <a:rPr dirty="0"/>
              <a:t> </a:t>
            </a:r>
            <a:r>
              <a:rPr dirty="0" err="1"/>
              <a:t>datos</a:t>
            </a:r>
            <a:r>
              <a:rPr dirty="0"/>
              <a:t> </a:t>
            </a:r>
            <a:r>
              <a:rPr dirty="0" err="1"/>
              <a:t>permiten</a:t>
            </a:r>
            <a:r>
              <a:rPr dirty="0"/>
              <a:t> </a:t>
            </a:r>
            <a:r>
              <a:rPr dirty="0" err="1"/>
              <a:t>evaluar</a:t>
            </a:r>
            <a:r>
              <a:rPr dirty="0"/>
              <a:t> con rigor </a:t>
            </a:r>
            <a:r>
              <a:rPr dirty="0" err="1"/>
              <a:t>científico</a:t>
            </a:r>
            <a:r>
              <a:rPr dirty="0"/>
              <a:t> el </a:t>
            </a:r>
            <a:r>
              <a:rPr dirty="0" err="1"/>
              <a:t>comportamiento</a:t>
            </a:r>
            <a:r>
              <a:rPr dirty="0"/>
              <a:t> </a:t>
            </a:r>
            <a:r>
              <a:rPr dirty="0" err="1"/>
              <a:t>dinámico</a:t>
            </a:r>
            <a:r>
              <a:rPr dirty="0"/>
              <a:t> del taller </a:t>
            </a:r>
            <a:r>
              <a:rPr dirty="0" err="1"/>
              <a:t>bajo</a:t>
            </a:r>
            <a:r>
              <a:rPr dirty="0"/>
              <a:t> </a:t>
            </a:r>
            <a:r>
              <a:rPr dirty="0" err="1"/>
              <a:t>condiciones</a:t>
            </a:r>
            <a:r>
              <a:rPr dirty="0"/>
              <a:t> de </a:t>
            </a:r>
            <a:r>
              <a:rPr dirty="0" err="1"/>
              <a:t>carga</a:t>
            </a:r>
            <a:r>
              <a:rPr dirty="0"/>
              <a:t> real y variable</a:t>
            </a:r>
            <a:r>
              <a:rPr dirty="0" smtClean="0"/>
              <a:t>:</a:t>
            </a:r>
            <a:endParaRPr lang="es-ES" dirty="0" smtClean="0"/>
          </a:p>
          <a:p>
            <a:pPr>
              <a:spcAft>
                <a:spcPts val="700"/>
              </a:spcAft>
              <a:defRPr sz="1350" b="0">
                <a:solidFill>
                  <a:srgbClr val="232B32"/>
                </a:solidFill>
              </a:defRPr>
            </a:pPr>
            <a:endParaRPr dirty="0"/>
          </a:p>
          <a:p>
            <a:pPr>
              <a:spcAft>
                <a:spcPts val="700"/>
              </a:spcAft>
              <a:defRPr sz="1350" b="0">
                <a:solidFill>
                  <a:srgbClr val="232B32"/>
                </a:solidFill>
              </a:defRPr>
            </a:pPr>
            <a:r>
              <a:rPr b="1" dirty="0" err="1"/>
              <a:t>Dinámica</a:t>
            </a:r>
            <a:r>
              <a:rPr b="1" dirty="0"/>
              <a:t> de </a:t>
            </a:r>
            <a:r>
              <a:rPr b="1" dirty="0" err="1"/>
              <a:t>los</a:t>
            </a:r>
            <a:r>
              <a:rPr b="1" dirty="0"/>
              <a:t> </a:t>
            </a:r>
            <a:r>
              <a:rPr b="1" dirty="0" err="1"/>
              <a:t>Tiempos</a:t>
            </a:r>
            <a:r>
              <a:rPr b="1" dirty="0"/>
              <a:t> de </a:t>
            </a:r>
            <a:r>
              <a:rPr b="1" dirty="0" err="1"/>
              <a:t>Ciclo</a:t>
            </a:r>
            <a:r>
              <a:rPr b="1" dirty="0"/>
              <a:t> y </a:t>
            </a:r>
            <a:r>
              <a:rPr b="1" dirty="0" err="1"/>
              <a:t>Saturación</a:t>
            </a:r>
            <a:r>
              <a:rPr b="1" dirty="0"/>
              <a:t> de Colas</a:t>
            </a:r>
            <a:r>
              <a:rPr b="1" dirty="0" smtClean="0"/>
              <a:t>:</a:t>
            </a:r>
            <a:endParaRPr b="1" dirty="0"/>
          </a:p>
          <a:p>
            <a:pPr>
              <a:spcAft>
                <a:spcPts val="700"/>
              </a:spcAft>
              <a:defRPr sz="1350" b="0">
                <a:solidFill>
                  <a:srgbClr val="232B32"/>
                </a:solidFill>
              </a:defRPr>
            </a:pPr>
            <a:r>
              <a:rPr dirty="0"/>
              <a:t>El </a:t>
            </a:r>
            <a:r>
              <a:rPr dirty="0" err="1"/>
              <a:t>análisis</a:t>
            </a:r>
            <a:r>
              <a:rPr dirty="0"/>
              <a:t> </a:t>
            </a:r>
            <a:r>
              <a:rPr dirty="0" err="1"/>
              <a:t>estadístico</a:t>
            </a:r>
            <a:r>
              <a:rPr dirty="0"/>
              <a:t> de </a:t>
            </a:r>
            <a:r>
              <a:rPr dirty="0" err="1"/>
              <a:t>los</a:t>
            </a:r>
            <a:r>
              <a:rPr dirty="0"/>
              <a:t> </a:t>
            </a:r>
            <a:r>
              <a:rPr dirty="0" err="1"/>
              <a:t>vectores</a:t>
            </a:r>
            <a:r>
              <a:rPr dirty="0"/>
              <a:t> de </a:t>
            </a:r>
            <a:r>
              <a:rPr dirty="0" err="1"/>
              <a:t>tiempo</a:t>
            </a:r>
            <a:r>
              <a:rPr dirty="0"/>
              <a:t> </a:t>
            </a:r>
            <a:r>
              <a:rPr dirty="0" err="1"/>
              <a:t>generados</a:t>
            </a:r>
            <a:r>
              <a:rPr dirty="0"/>
              <a:t> </a:t>
            </a:r>
            <a:r>
              <a:rPr dirty="0" err="1"/>
              <a:t>por</a:t>
            </a:r>
            <a:r>
              <a:rPr dirty="0"/>
              <a:t> el motor </a:t>
            </a:r>
            <a:r>
              <a:rPr dirty="0" err="1"/>
              <a:t>en</a:t>
            </a:r>
            <a:r>
              <a:rPr dirty="0"/>
              <a:t> R </a:t>
            </a:r>
            <a:r>
              <a:rPr dirty="0" err="1"/>
              <a:t>demostró</a:t>
            </a:r>
            <a:r>
              <a:rPr dirty="0"/>
              <a:t> que el </a:t>
            </a:r>
            <a:r>
              <a:rPr dirty="0" err="1"/>
              <a:t>tiempo</a:t>
            </a:r>
            <a:r>
              <a:rPr dirty="0"/>
              <a:t> total de </a:t>
            </a:r>
            <a:r>
              <a:rPr dirty="0" err="1"/>
              <a:t>permanencia</a:t>
            </a:r>
            <a:r>
              <a:rPr dirty="0"/>
              <a:t> de </a:t>
            </a:r>
            <a:r>
              <a:rPr dirty="0" err="1"/>
              <a:t>una</a:t>
            </a:r>
            <a:r>
              <a:rPr dirty="0"/>
              <a:t> </a:t>
            </a:r>
            <a:r>
              <a:rPr dirty="0" err="1"/>
              <a:t>unidad</a:t>
            </a:r>
            <a:r>
              <a:rPr dirty="0"/>
              <a:t> vehicular </a:t>
            </a:r>
            <a:r>
              <a:rPr dirty="0" err="1"/>
              <a:t>dentro</a:t>
            </a:r>
            <a:r>
              <a:rPr dirty="0"/>
              <a:t> de las </a:t>
            </a:r>
            <a:r>
              <a:rPr dirty="0" err="1"/>
              <a:t>instalaciones</a:t>
            </a:r>
            <a:r>
              <a:rPr dirty="0"/>
              <a:t> del taller no </a:t>
            </a:r>
            <a:r>
              <a:rPr dirty="0" err="1"/>
              <a:t>sigue</a:t>
            </a:r>
            <a:r>
              <a:rPr dirty="0"/>
              <a:t> </a:t>
            </a:r>
            <a:r>
              <a:rPr dirty="0" err="1"/>
              <a:t>una</a:t>
            </a:r>
            <a:r>
              <a:rPr dirty="0"/>
              <a:t> </a:t>
            </a:r>
            <a:r>
              <a:rPr dirty="0" err="1"/>
              <a:t>distribución</a:t>
            </a:r>
            <a:r>
              <a:rPr dirty="0"/>
              <a:t> lineal, </a:t>
            </a:r>
            <a:r>
              <a:rPr dirty="0" err="1"/>
              <a:t>sino</a:t>
            </a:r>
            <a:r>
              <a:rPr dirty="0"/>
              <a:t> que </a:t>
            </a:r>
            <a:r>
              <a:rPr dirty="0" err="1"/>
              <a:t>está</a:t>
            </a:r>
            <a:r>
              <a:rPr dirty="0"/>
              <a:t> </a:t>
            </a:r>
            <a:r>
              <a:rPr dirty="0" err="1"/>
              <a:t>fuertemente</a:t>
            </a:r>
            <a:r>
              <a:rPr dirty="0"/>
              <a:t> </a:t>
            </a:r>
            <a:r>
              <a:rPr dirty="0" err="1"/>
              <a:t>condicionado</a:t>
            </a:r>
            <a:r>
              <a:rPr dirty="0"/>
              <a:t> </a:t>
            </a:r>
            <a:r>
              <a:rPr dirty="0" err="1"/>
              <a:t>por</a:t>
            </a:r>
            <a:r>
              <a:rPr dirty="0"/>
              <a:t> la </a:t>
            </a:r>
            <a:r>
              <a:rPr dirty="0" err="1"/>
              <a:t>variabilidad</a:t>
            </a:r>
            <a:r>
              <a:rPr dirty="0"/>
              <a:t> </a:t>
            </a:r>
            <a:r>
              <a:rPr dirty="0" err="1"/>
              <a:t>en</a:t>
            </a:r>
            <a:r>
              <a:rPr dirty="0"/>
              <a:t> la </a:t>
            </a:r>
            <a:r>
              <a:rPr dirty="0" err="1"/>
              <a:t>etapa</a:t>
            </a:r>
            <a:r>
              <a:rPr dirty="0"/>
              <a:t> de </a:t>
            </a:r>
            <a:r>
              <a:rPr dirty="0" err="1"/>
              <a:t>diagnóstico</a:t>
            </a:r>
            <a:r>
              <a:rPr dirty="0"/>
              <a:t> </a:t>
            </a:r>
            <a:r>
              <a:rPr dirty="0" err="1"/>
              <a:t>preliminar</a:t>
            </a:r>
            <a:r>
              <a:rPr dirty="0"/>
              <a:t> y </a:t>
            </a:r>
            <a:r>
              <a:rPr dirty="0" err="1"/>
              <a:t>por</a:t>
            </a:r>
            <a:r>
              <a:rPr dirty="0"/>
              <a:t> la </a:t>
            </a:r>
            <a:r>
              <a:rPr dirty="0" err="1"/>
              <a:t>disponibilidad</a:t>
            </a:r>
            <a:r>
              <a:rPr dirty="0"/>
              <a:t> </a:t>
            </a:r>
            <a:r>
              <a:rPr dirty="0" err="1"/>
              <a:t>inmediata</a:t>
            </a:r>
            <a:r>
              <a:rPr dirty="0"/>
              <a:t> de </a:t>
            </a:r>
            <a:r>
              <a:rPr dirty="0" err="1"/>
              <a:t>bahías</a:t>
            </a:r>
            <a:r>
              <a:rPr dirty="0"/>
              <a:t> de </a:t>
            </a:r>
            <a:r>
              <a:rPr dirty="0" err="1"/>
              <a:t>reparación</a:t>
            </a:r>
            <a:r>
              <a:rPr dirty="0"/>
              <a:t> </a:t>
            </a:r>
            <a:r>
              <a:rPr dirty="0" err="1"/>
              <a:t>libres</a:t>
            </a:r>
            <a:r>
              <a:rPr dirty="0"/>
              <a:t>. Durante las </a:t>
            </a:r>
            <a:r>
              <a:rPr dirty="0" err="1"/>
              <a:t>simulaciones</a:t>
            </a:r>
            <a:r>
              <a:rPr dirty="0"/>
              <a:t> </a:t>
            </a:r>
            <a:r>
              <a:rPr dirty="0" err="1"/>
              <a:t>correspondientes</a:t>
            </a:r>
            <a:r>
              <a:rPr dirty="0"/>
              <a:t> a horas de </a:t>
            </a:r>
            <a:r>
              <a:rPr dirty="0" err="1"/>
              <a:t>alta</a:t>
            </a:r>
            <a:r>
              <a:rPr dirty="0"/>
              <a:t> </a:t>
            </a:r>
            <a:r>
              <a:rPr dirty="0" err="1"/>
              <a:t>demanda</a:t>
            </a:r>
            <a:r>
              <a:rPr dirty="0"/>
              <a:t> (</a:t>
            </a:r>
            <a:r>
              <a:rPr dirty="0" err="1"/>
              <a:t>picos</a:t>
            </a:r>
            <a:r>
              <a:rPr dirty="0"/>
              <a:t> de </a:t>
            </a:r>
            <a:r>
              <a:rPr dirty="0" err="1"/>
              <a:t>llegada</a:t>
            </a:r>
            <a:r>
              <a:rPr dirty="0"/>
              <a:t> </a:t>
            </a:r>
            <a:r>
              <a:rPr dirty="0" err="1"/>
              <a:t>modelados</a:t>
            </a:r>
            <a:r>
              <a:rPr dirty="0"/>
              <a:t> </a:t>
            </a:r>
            <a:r>
              <a:rPr dirty="0" err="1"/>
              <a:t>mediante</a:t>
            </a:r>
            <a:r>
              <a:rPr dirty="0"/>
              <a:t> la </a:t>
            </a:r>
            <a:r>
              <a:rPr dirty="0" err="1"/>
              <a:t>distribución</a:t>
            </a:r>
            <a:r>
              <a:rPr dirty="0"/>
              <a:t> de Poisson con </a:t>
            </a:r>
            <a:r>
              <a:rPr dirty="0" err="1"/>
              <a:t>tasa</a:t>
            </a:r>
            <a:r>
              <a:rPr dirty="0"/>
              <a:t> $\lambda$ </a:t>
            </a:r>
            <a:r>
              <a:rPr dirty="0" err="1"/>
              <a:t>elevada</a:t>
            </a:r>
            <a:r>
              <a:rPr dirty="0"/>
              <a:t>), se </a:t>
            </a:r>
            <a:r>
              <a:rPr dirty="0" err="1"/>
              <a:t>observó</a:t>
            </a:r>
            <a:r>
              <a:rPr dirty="0"/>
              <a:t> que </a:t>
            </a:r>
            <a:r>
              <a:rPr dirty="0" err="1"/>
              <a:t>los</a:t>
            </a:r>
            <a:r>
              <a:rPr dirty="0"/>
              <a:t> </a:t>
            </a:r>
            <a:r>
              <a:rPr dirty="0" err="1"/>
              <a:t>tiempos</a:t>
            </a:r>
            <a:r>
              <a:rPr dirty="0"/>
              <a:t> de </a:t>
            </a:r>
            <a:r>
              <a:rPr dirty="0" err="1"/>
              <a:t>espera</a:t>
            </a:r>
            <a:r>
              <a:rPr dirty="0"/>
              <a:t> </a:t>
            </a:r>
            <a:r>
              <a:rPr dirty="0" err="1"/>
              <a:t>en</a:t>
            </a:r>
            <a:r>
              <a:rPr dirty="0"/>
              <a:t> cola </a:t>
            </a:r>
            <a:r>
              <a:rPr dirty="0" err="1"/>
              <a:t>experimentan</a:t>
            </a:r>
            <a:r>
              <a:rPr dirty="0"/>
              <a:t> un </a:t>
            </a:r>
            <a:r>
              <a:rPr dirty="0" err="1"/>
              <a:t>crecimiento</a:t>
            </a:r>
            <a:r>
              <a:rPr dirty="0"/>
              <a:t> de </a:t>
            </a:r>
            <a:r>
              <a:rPr dirty="0" err="1"/>
              <a:t>carácter</a:t>
            </a:r>
            <a:r>
              <a:rPr dirty="0"/>
              <a:t> no lineal</a:t>
            </a:r>
            <a:r>
              <a:rPr dirty="0" smtClean="0"/>
              <a:t>.</a:t>
            </a:r>
            <a:endParaRPr lang="es-ES" dirty="0" smtClean="0"/>
          </a:p>
          <a:p>
            <a:pPr>
              <a:spcAft>
                <a:spcPts val="700"/>
              </a:spcAft>
              <a:defRPr sz="1350" b="0">
                <a:solidFill>
                  <a:srgbClr val="232B32"/>
                </a:solidFill>
              </a:defRPr>
            </a:pPr>
            <a:endParaRPr dirty="0"/>
          </a:p>
          <a:p>
            <a:pPr>
              <a:spcAft>
                <a:spcPts val="700"/>
              </a:spcAft>
              <a:defRPr sz="1350" b="0">
                <a:solidFill>
                  <a:srgbClr val="232B32"/>
                </a:solidFill>
              </a:defRPr>
            </a:pPr>
            <a:r>
              <a:rPr b="1" dirty="0" err="1"/>
              <a:t>Tasas</a:t>
            </a:r>
            <a:r>
              <a:rPr b="1" dirty="0"/>
              <a:t> de </a:t>
            </a:r>
            <a:r>
              <a:rPr b="1" dirty="0" err="1"/>
              <a:t>Utilización</a:t>
            </a:r>
            <a:r>
              <a:rPr b="1" dirty="0"/>
              <a:t> de la </a:t>
            </a:r>
            <a:r>
              <a:rPr b="1" dirty="0" err="1"/>
              <a:t>Fuerza</a:t>
            </a:r>
            <a:r>
              <a:rPr b="1" dirty="0"/>
              <a:t> </a:t>
            </a:r>
            <a:r>
              <a:rPr b="1" dirty="0" err="1"/>
              <a:t>Laboral</a:t>
            </a:r>
            <a:r>
              <a:rPr b="1" dirty="0"/>
              <a:t> y </a:t>
            </a:r>
            <a:r>
              <a:rPr b="1" dirty="0" err="1"/>
              <a:t>Recursos</a:t>
            </a:r>
            <a:r>
              <a:rPr b="1" dirty="0"/>
              <a:t> </a:t>
            </a:r>
            <a:r>
              <a:rPr b="1" dirty="0" err="1"/>
              <a:t>Físicos</a:t>
            </a:r>
            <a:r>
              <a:rPr b="1" dirty="0" smtClean="0"/>
              <a:t>:</a:t>
            </a:r>
            <a:endParaRPr dirty="0"/>
          </a:p>
          <a:p>
            <a:pPr>
              <a:spcAft>
                <a:spcPts val="700"/>
              </a:spcAft>
              <a:defRPr sz="1350" b="0">
                <a:solidFill>
                  <a:srgbClr val="232B32"/>
                </a:solidFill>
              </a:defRPr>
            </a:pPr>
            <a:r>
              <a:rPr dirty="0"/>
              <a:t>Los </a:t>
            </a:r>
            <a:r>
              <a:rPr dirty="0" err="1"/>
              <a:t>porcentajes</a:t>
            </a:r>
            <a:r>
              <a:rPr dirty="0"/>
              <a:t> de </a:t>
            </a:r>
            <a:r>
              <a:rPr dirty="0" err="1"/>
              <a:t>ocupación</a:t>
            </a:r>
            <a:r>
              <a:rPr dirty="0"/>
              <a:t> </a:t>
            </a:r>
            <a:r>
              <a:rPr dirty="0" err="1"/>
              <a:t>calculados</a:t>
            </a:r>
            <a:r>
              <a:rPr dirty="0"/>
              <a:t> para el personal </a:t>
            </a:r>
            <a:r>
              <a:rPr dirty="0" err="1"/>
              <a:t>técnico</a:t>
            </a:r>
            <a:r>
              <a:rPr dirty="0"/>
              <a:t> (</a:t>
            </a:r>
            <a:r>
              <a:rPr dirty="0" err="1"/>
              <a:t>mecánicos</a:t>
            </a:r>
            <a:r>
              <a:rPr dirty="0"/>
              <a:t> </a:t>
            </a:r>
            <a:r>
              <a:rPr dirty="0" err="1"/>
              <a:t>especializados</a:t>
            </a:r>
            <a:r>
              <a:rPr dirty="0"/>
              <a:t>) se </a:t>
            </a:r>
            <a:r>
              <a:rPr dirty="0" err="1"/>
              <a:t>mantuvieron</a:t>
            </a:r>
            <a:r>
              <a:rPr dirty="0"/>
              <a:t> </a:t>
            </a:r>
            <a:r>
              <a:rPr dirty="0" err="1"/>
              <a:t>en</a:t>
            </a:r>
            <a:r>
              <a:rPr dirty="0"/>
              <a:t> un </a:t>
            </a:r>
            <a:r>
              <a:rPr dirty="0" err="1"/>
              <a:t>intervalo</a:t>
            </a:r>
            <a:r>
              <a:rPr dirty="0"/>
              <a:t> </a:t>
            </a:r>
            <a:r>
              <a:rPr dirty="0" err="1"/>
              <a:t>operativo</a:t>
            </a:r>
            <a:r>
              <a:rPr dirty="0"/>
              <a:t> que </a:t>
            </a:r>
            <a:r>
              <a:rPr dirty="0" err="1"/>
              <a:t>oscila</a:t>
            </a:r>
            <a:r>
              <a:rPr dirty="0"/>
              <a:t> entre el 85% y el 92% </a:t>
            </a:r>
            <a:r>
              <a:rPr dirty="0" err="1"/>
              <a:t>durante</a:t>
            </a:r>
            <a:r>
              <a:rPr dirty="0"/>
              <a:t> las </a:t>
            </a:r>
            <a:r>
              <a:rPr dirty="0" err="1"/>
              <a:t>ventanas</a:t>
            </a:r>
            <a:r>
              <a:rPr dirty="0"/>
              <a:t> de mayor </a:t>
            </a:r>
            <a:r>
              <a:rPr dirty="0" err="1"/>
              <a:t>actividad</a:t>
            </a:r>
            <a:r>
              <a:rPr dirty="0"/>
              <a:t>. </a:t>
            </a:r>
            <a:r>
              <a:rPr dirty="0" err="1"/>
              <a:t>Desde</a:t>
            </a:r>
            <a:r>
              <a:rPr dirty="0"/>
              <a:t> la </a:t>
            </a:r>
            <a:r>
              <a:rPr dirty="0" err="1"/>
              <a:t>perspectiva</a:t>
            </a:r>
            <a:r>
              <a:rPr dirty="0"/>
              <a:t> de la </a:t>
            </a:r>
            <a:r>
              <a:rPr dirty="0" err="1"/>
              <a:t>ingeniería</a:t>
            </a:r>
            <a:r>
              <a:rPr dirty="0"/>
              <a:t> industrial, un </a:t>
            </a:r>
            <a:r>
              <a:rPr dirty="0" err="1"/>
              <a:t>nivel</a:t>
            </a:r>
            <a:r>
              <a:rPr dirty="0"/>
              <a:t> de </a:t>
            </a:r>
            <a:r>
              <a:rPr dirty="0" err="1"/>
              <a:t>utilización</a:t>
            </a:r>
            <a:r>
              <a:rPr dirty="0"/>
              <a:t> </a:t>
            </a:r>
            <a:r>
              <a:rPr dirty="0" err="1"/>
              <a:t>situado</a:t>
            </a:r>
            <a:r>
              <a:rPr dirty="0"/>
              <a:t> </a:t>
            </a:r>
            <a:r>
              <a:rPr dirty="0" err="1"/>
              <a:t>en</a:t>
            </a:r>
            <a:r>
              <a:rPr dirty="0"/>
              <a:t> </a:t>
            </a:r>
            <a:r>
              <a:rPr dirty="0" err="1"/>
              <a:t>este</a:t>
            </a:r>
            <a:r>
              <a:rPr dirty="0"/>
              <a:t> </a:t>
            </a:r>
            <a:r>
              <a:rPr dirty="0" err="1"/>
              <a:t>rango</a:t>
            </a:r>
            <a:r>
              <a:rPr dirty="0"/>
              <a:t> </a:t>
            </a:r>
            <a:r>
              <a:rPr dirty="0" err="1"/>
              <a:t>denota</a:t>
            </a:r>
            <a:r>
              <a:rPr dirty="0"/>
              <a:t> </a:t>
            </a:r>
            <a:r>
              <a:rPr dirty="0" err="1"/>
              <a:t>una</a:t>
            </a:r>
            <a:r>
              <a:rPr dirty="0"/>
              <a:t> </a:t>
            </a:r>
            <a:r>
              <a:rPr dirty="0" err="1"/>
              <a:t>alta</a:t>
            </a:r>
            <a:r>
              <a:rPr dirty="0"/>
              <a:t> </a:t>
            </a:r>
            <a:r>
              <a:rPr dirty="0" err="1"/>
              <a:t>eficiencia</a:t>
            </a:r>
            <a:r>
              <a:rPr dirty="0"/>
              <a:t> </a:t>
            </a:r>
            <a:r>
              <a:rPr dirty="0" err="1"/>
              <a:t>en</a:t>
            </a:r>
            <a:r>
              <a:rPr dirty="0"/>
              <a:t> el </a:t>
            </a:r>
            <a:r>
              <a:rPr dirty="0" err="1"/>
              <a:t>aprovechamiento</a:t>
            </a:r>
            <a:r>
              <a:rPr dirty="0"/>
              <a:t> de la </a:t>
            </a:r>
            <a:r>
              <a:rPr dirty="0" err="1"/>
              <a:t>mano</a:t>
            </a:r>
            <a:r>
              <a:rPr dirty="0"/>
              <a:t> de </a:t>
            </a:r>
            <a:r>
              <a:rPr dirty="0" err="1"/>
              <a:t>obra</a:t>
            </a:r>
            <a:r>
              <a:rPr dirty="0"/>
              <a:t> y un </a:t>
            </a:r>
            <a:r>
              <a:rPr dirty="0" err="1"/>
              <a:t>bajo</a:t>
            </a:r>
            <a:r>
              <a:rPr dirty="0"/>
              <a:t> </a:t>
            </a:r>
            <a:r>
              <a:rPr dirty="0" err="1"/>
              <a:t>índice</a:t>
            </a:r>
            <a:r>
              <a:rPr dirty="0"/>
              <a:t> de </a:t>
            </a:r>
            <a:r>
              <a:rPr dirty="0" err="1"/>
              <a:t>tiempos</a:t>
            </a:r>
            <a:r>
              <a:rPr dirty="0"/>
              <a:t> </a:t>
            </a:r>
            <a:r>
              <a:rPr dirty="0" err="1"/>
              <a:t>muertos</a:t>
            </a:r>
            <a:r>
              <a:rPr dirty="0"/>
              <a:t> </a:t>
            </a:r>
            <a:r>
              <a:rPr dirty="0" err="1"/>
              <a:t>productivos</a:t>
            </a:r>
            <a:r>
              <a:rPr dirty="0" smtClean="0"/>
              <a:t>.</a:t>
            </a:r>
            <a:endParaRPr dirty="0"/>
          </a:p>
          <a:p>
            <a:pPr>
              <a:spcAft>
                <a:spcPts val="700"/>
              </a:spcAft>
              <a:defRPr sz="1350" b="0">
                <a:solidFill>
                  <a:srgbClr val="232B32"/>
                </a:solidFill>
              </a:defRPr>
            </a:pPr>
            <a:r>
              <a:rPr dirty="0"/>
              <a:t>Sin embargo, </a:t>
            </a:r>
            <a:r>
              <a:rPr dirty="0" err="1"/>
              <a:t>este</a:t>
            </a:r>
            <a:r>
              <a:rPr dirty="0"/>
              <a:t> </a:t>
            </a:r>
            <a:r>
              <a:rPr dirty="0" err="1"/>
              <a:t>margen</a:t>
            </a:r>
            <a:r>
              <a:rPr dirty="0"/>
              <a:t> de </a:t>
            </a:r>
            <a:r>
              <a:rPr dirty="0" err="1"/>
              <a:t>ocupación</a:t>
            </a:r>
            <a:r>
              <a:rPr dirty="0"/>
              <a:t> tan </a:t>
            </a:r>
            <a:r>
              <a:rPr dirty="0" err="1"/>
              <a:t>elevado</a:t>
            </a:r>
            <a:r>
              <a:rPr dirty="0"/>
              <a:t> </a:t>
            </a:r>
            <a:r>
              <a:rPr dirty="0" err="1"/>
              <a:t>advierte</a:t>
            </a:r>
            <a:r>
              <a:rPr dirty="0"/>
              <a:t> </a:t>
            </a:r>
            <a:r>
              <a:rPr dirty="0" err="1"/>
              <a:t>simultáneamente</a:t>
            </a:r>
            <a:r>
              <a:rPr dirty="0"/>
              <a:t> </a:t>
            </a:r>
            <a:r>
              <a:rPr dirty="0" err="1"/>
              <a:t>sobre</a:t>
            </a:r>
            <a:r>
              <a:rPr dirty="0"/>
              <a:t> </a:t>
            </a:r>
            <a:r>
              <a:rPr dirty="0" err="1"/>
              <a:t>una</a:t>
            </a:r>
            <a:r>
              <a:rPr dirty="0"/>
              <a:t> </a:t>
            </a:r>
            <a:r>
              <a:rPr dirty="0" err="1"/>
              <a:t>alta</a:t>
            </a:r>
            <a:r>
              <a:rPr dirty="0"/>
              <a:t> </a:t>
            </a:r>
            <a:r>
              <a:rPr dirty="0" err="1"/>
              <a:t>vulnerabilidad</a:t>
            </a:r>
            <a:r>
              <a:rPr dirty="0"/>
              <a:t> ante </a:t>
            </a:r>
            <a:r>
              <a:rPr dirty="0" err="1"/>
              <a:t>imprevistos</a:t>
            </a:r>
            <a:r>
              <a:rPr dirty="0"/>
              <a:t> o </a:t>
            </a:r>
            <a:r>
              <a:rPr dirty="0" err="1"/>
              <a:t>fallas</a:t>
            </a:r>
            <a:r>
              <a:rPr dirty="0"/>
              <a:t> </a:t>
            </a:r>
            <a:r>
              <a:rPr dirty="0" err="1"/>
              <a:t>técnicas</a:t>
            </a:r>
            <a:r>
              <a:rPr dirty="0"/>
              <a:t> </a:t>
            </a:r>
            <a:r>
              <a:rPr dirty="0" err="1"/>
              <a:t>prolongadas</a:t>
            </a:r>
            <a:r>
              <a:rPr dirty="0"/>
              <a:t>; al no </a:t>
            </a:r>
            <a:r>
              <a:rPr dirty="0" err="1"/>
              <a:t>existir</a:t>
            </a:r>
            <a:r>
              <a:rPr dirty="0"/>
              <a:t> </a:t>
            </a:r>
            <a:r>
              <a:rPr dirty="0" err="1"/>
              <a:t>una</a:t>
            </a:r>
            <a:r>
              <a:rPr dirty="0"/>
              <a:t> </a:t>
            </a:r>
            <a:r>
              <a:rPr dirty="0" err="1"/>
              <a:t>holgura</a:t>
            </a:r>
            <a:r>
              <a:rPr dirty="0"/>
              <a:t> </a:t>
            </a:r>
            <a:r>
              <a:rPr dirty="0" err="1"/>
              <a:t>suficiente</a:t>
            </a:r>
            <a:r>
              <a:rPr dirty="0"/>
              <a:t> de </a:t>
            </a:r>
            <a:r>
              <a:rPr dirty="0" err="1"/>
              <a:t>capacidad</a:t>
            </a:r>
            <a:r>
              <a:rPr dirty="0"/>
              <a:t> </a:t>
            </a:r>
            <a:r>
              <a:rPr dirty="0" err="1"/>
              <a:t>ociosa</a:t>
            </a:r>
            <a:r>
              <a:rPr dirty="0"/>
              <a:t>, </a:t>
            </a:r>
            <a:r>
              <a:rPr dirty="0" err="1"/>
              <a:t>cualquier</a:t>
            </a:r>
            <a:r>
              <a:rPr dirty="0"/>
              <a:t> </a:t>
            </a:r>
            <a:r>
              <a:rPr dirty="0" err="1"/>
              <a:t>retraso</a:t>
            </a:r>
            <a:r>
              <a:rPr dirty="0"/>
              <a:t> </a:t>
            </a:r>
            <a:r>
              <a:rPr dirty="0" err="1"/>
              <a:t>menor</a:t>
            </a:r>
            <a:r>
              <a:rPr dirty="0"/>
              <a:t> </a:t>
            </a:r>
            <a:r>
              <a:rPr dirty="0" err="1"/>
              <a:t>en</a:t>
            </a:r>
            <a:r>
              <a:rPr dirty="0"/>
              <a:t> </a:t>
            </a:r>
            <a:r>
              <a:rPr dirty="0" err="1"/>
              <a:t>una</a:t>
            </a:r>
            <a:r>
              <a:rPr dirty="0"/>
              <a:t> </a:t>
            </a:r>
            <a:r>
              <a:rPr dirty="0" err="1"/>
              <a:t>bahía</a:t>
            </a:r>
            <a:r>
              <a:rPr dirty="0"/>
              <a:t> se </a:t>
            </a:r>
            <a:r>
              <a:rPr dirty="0" err="1"/>
              <a:t>propaga</a:t>
            </a:r>
            <a:r>
              <a:rPr dirty="0"/>
              <a:t> </a:t>
            </a:r>
            <a:r>
              <a:rPr dirty="0" err="1"/>
              <a:t>rápidamente</a:t>
            </a:r>
            <a:r>
              <a:rPr dirty="0"/>
              <a:t> a </a:t>
            </a:r>
            <a:r>
              <a:rPr dirty="0" err="1"/>
              <a:t>toda</a:t>
            </a:r>
            <a:r>
              <a:rPr dirty="0"/>
              <a:t> la </a:t>
            </a:r>
            <a:r>
              <a:rPr dirty="0" err="1"/>
              <a:t>línea</a:t>
            </a:r>
            <a:r>
              <a:rPr dirty="0"/>
              <a:t> de </a:t>
            </a:r>
            <a:r>
              <a:rPr dirty="0" err="1"/>
              <a:t>servicio</a:t>
            </a:r>
            <a:r>
              <a:rPr dirty="0"/>
              <a:t>, </a:t>
            </a:r>
            <a:r>
              <a:rPr dirty="0" err="1"/>
              <a:t>generando</a:t>
            </a:r>
            <a:r>
              <a:rPr dirty="0"/>
              <a:t> un </a:t>
            </a:r>
            <a:r>
              <a:rPr dirty="0" err="1"/>
              <a:t>efecto</a:t>
            </a:r>
            <a:r>
              <a:rPr dirty="0"/>
              <a:t> </a:t>
            </a:r>
            <a:r>
              <a:rPr dirty="0" err="1"/>
              <a:t>dominó</a:t>
            </a:r>
            <a:r>
              <a:rPr dirty="0"/>
              <a:t> de </a:t>
            </a:r>
            <a:r>
              <a:rPr dirty="0" err="1"/>
              <a:t>retrasos</a:t>
            </a:r>
            <a:r>
              <a:rPr dirty="0"/>
              <a:t> </a:t>
            </a:r>
            <a:r>
              <a:rPr dirty="0" err="1"/>
              <a:t>acumulados</a:t>
            </a:r>
            <a:r>
              <a:rPr dirty="0" smtClean="0"/>
              <a:t>.</a:t>
            </a: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63928" y="274320"/>
            <a:ext cx="9633663" cy="477054"/>
          </a:xfrm>
          <a:prstGeom prst="rect">
            <a:avLst/>
          </a:prstGeom>
          <a:noFill/>
        </p:spPr>
        <p:txBody>
          <a:bodyPr wrap="none">
            <a:spAutoFit/>
          </a:bodyPr>
          <a:lstStyle/>
          <a:p>
            <a:pPr algn="ctr">
              <a:defRPr sz="2500" b="1">
                <a:solidFill>
                  <a:srgbClr val="123048"/>
                </a:solidFill>
              </a:defRPr>
            </a:pPr>
            <a:r>
              <a:rPr dirty="0"/>
              <a:t>5.1 </a:t>
            </a:r>
            <a:r>
              <a:rPr dirty="0" err="1"/>
              <a:t>Análisis</a:t>
            </a:r>
            <a:r>
              <a:rPr dirty="0"/>
              <a:t> </a:t>
            </a:r>
            <a:r>
              <a:rPr dirty="0" err="1"/>
              <a:t>Cuantitativo</a:t>
            </a:r>
            <a:r>
              <a:rPr dirty="0"/>
              <a:t> del </a:t>
            </a:r>
            <a:r>
              <a:rPr dirty="0" err="1"/>
              <a:t>Comportamiento</a:t>
            </a:r>
            <a:r>
              <a:rPr dirty="0"/>
              <a:t> </a:t>
            </a:r>
            <a:r>
              <a:rPr dirty="0" err="1"/>
              <a:t>Operativo</a:t>
            </a:r>
            <a:r>
              <a:rPr dirty="0"/>
              <a:t> del Taller (2/2)</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5: RESULTADOS Y DISCUSIÓN</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La correlación cruzada entre el análisis visual aportado por las herramientas BPMN y las corridas numéricas del programa en IntelliJ IDEA permitió aislar y localizar con exactitud los puntos críticos que limitan la productividad global del taller. Contrario a la hipótesis inicial —que presuponía que el principal retraso ocurría en la ejecución física de las reparaciones mecánicas complejas—, los datos demostraron que el mayor cuello de botella operativo se concentra en dos factores administrativos y logísticos:</a:t>
            </a:r>
          </a:p>
          <a:p>
            <a:pPr>
              <a:spcAft>
                <a:spcPts val="700"/>
              </a:spcAft>
              <a:defRPr sz="1500" b="0">
                <a:solidFill>
                  <a:srgbClr val="232B32"/>
                </a:solidFill>
              </a:defRPr>
            </a:pPr>
            <a:endParaRPr/>
          </a:p>
          <a:p>
            <a:pPr>
              <a:spcAft>
                <a:spcPts val="700"/>
              </a:spcAft>
              <a:defRPr sz="1500" b="0">
                <a:solidFill>
                  <a:srgbClr val="232B32"/>
                </a:solidFill>
              </a:defRPr>
            </a:pPr>
            <a:r>
              <a:t>La fase de validación, autorización y presupuesto con el cliente: Los tiempos muertos generados mientras se espera la confirmación o el rechazo de la cotización de la reparación detienen el avance del flujo en la compuerta exclusiva (XOR), inmovilizando espacio en las zonas de tránsito temporal.</a:t>
            </a:r>
          </a:p>
          <a:p>
            <a:pPr>
              <a:spcAft>
                <a:spcPts val="700"/>
              </a:spcAft>
              <a:defRPr sz="1500" b="0">
                <a:solidFill>
                  <a:srgbClr val="232B32"/>
                </a:solidFill>
              </a:defRPr>
            </a:pPr>
            <a:endParaRPr/>
          </a:p>
          <a:p>
            <a:pPr>
              <a:spcAft>
                <a:spcPts val="700"/>
              </a:spcAft>
              <a:defRPr sz="1500" b="0">
                <a:solidFill>
                  <a:srgbClr val="232B32"/>
                </a:solidFill>
              </a:defRPr>
            </a:pPr>
            <a:r>
              <a:t>La gestión y suministro de refacciones desde el almacén: La dependencia sincrónica entre la bahía de trabajo y el stock de refacciones genera esperas imprevistas cuando los componentes requeridos no se encuentran disponibles de forma inmediata.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9365"/>
            <a:ext cx="9661876" cy="861774"/>
          </a:xfrm>
          <a:prstGeom prst="rect">
            <a:avLst/>
          </a:prstGeom>
          <a:noFill/>
        </p:spPr>
        <p:txBody>
          <a:bodyPr wrap="none">
            <a:spAutoFit/>
          </a:bodyPr>
          <a:lstStyle/>
          <a:p>
            <a:pPr algn="ctr">
              <a:defRPr sz="2500" b="1">
                <a:solidFill>
                  <a:srgbClr val="123048"/>
                </a:solidFill>
              </a:defRPr>
            </a:pPr>
            <a:r>
              <a:rPr dirty="0"/>
              <a:t>5.2 </a:t>
            </a:r>
            <a:r>
              <a:rPr dirty="0" err="1"/>
              <a:t>Discusión</a:t>
            </a:r>
            <a:r>
              <a:rPr dirty="0"/>
              <a:t> Integral</a:t>
            </a:r>
            <a:r>
              <a:rPr dirty="0" smtClean="0"/>
              <a:t>:</a:t>
            </a:r>
            <a:endParaRPr lang="es-ES" dirty="0" smtClean="0"/>
          </a:p>
          <a:p>
            <a:pPr algn="ctr">
              <a:defRPr sz="2500" b="1">
                <a:solidFill>
                  <a:srgbClr val="123048"/>
                </a:solidFill>
              </a:defRPr>
            </a:pPr>
            <a:r>
              <a:rPr dirty="0" smtClean="0"/>
              <a:t> </a:t>
            </a:r>
            <a:r>
              <a:rPr dirty="0" err="1"/>
              <a:t>Complementariedad</a:t>
            </a:r>
            <a:r>
              <a:rPr dirty="0"/>
              <a:t> entre </a:t>
            </a:r>
            <a:r>
              <a:rPr dirty="0" err="1"/>
              <a:t>Modelado</a:t>
            </a:r>
            <a:r>
              <a:rPr dirty="0"/>
              <a:t> </a:t>
            </a:r>
            <a:r>
              <a:rPr dirty="0" err="1"/>
              <a:t>Gráfico</a:t>
            </a:r>
            <a:r>
              <a:rPr dirty="0"/>
              <a:t> y Motor </a:t>
            </a:r>
            <a:r>
              <a:rPr dirty="0" err="1"/>
              <a:t>Estocástico</a:t>
            </a:r>
            <a:r>
              <a:rPr dirty="0"/>
              <a:t> (1/2)</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5: RESULTADOS Y DISCUSIÓN</a:t>
            </a:r>
          </a:p>
        </p:txBody>
      </p:sp>
      <p:sp>
        <p:nvSpPr>
          <p:cNvPr id="6" name="TextBox 5"/>
          <p:cNvSpPr txBox="1"/>
          <p:nvPr/>
        </p:nvSpPr>
        <p:spPr>
          <a:xfrm>
            <a:off x="731520" y="1234440"/>
            <a:ext cx="10698480" cy="4757713"/>
          </a:xfrm>
          <a:prstGeom prst="rect">
            <a:avLst/>
          </a:prstGeom>
          <a:noFill/>
        </p:spPr>
        <p:txBody>
          <a:bodyPr wrap="square" lIns="73152" rIns="73152">
            <a:spAutoFit/>
          </a:bodyPr>
          <a:lstStyle/>
          <a:p>
            <a:pPr>
              <a:spcAft>
                <a:spcPts val="700"/>
              </a:spcAft>
              <a:defRPr sz="1350" b="0">
                <a:solidFill>
                  <a:srgbClr val="232B32"/>
                </a:solidFill>
              </a:defRPr>
            </a:pPr>
            <a:r>
              <a:rPr dirty="0"/>
              <a:t>La </a:t>
            </a:r>
            <a:r>
              <a:rPr dirty="0" err="1"/>
              <a:t>implementación</a:t>
            </a:r>
            <a:r>
              <a:rPr dirty="0"/>
              <a:t> </a:t>
            </a:r>
            <a:r>
              <a:rPr dirty="0" err="1"/>
              <a:t>simultánea</a:t>
            </a:r>
            <a:r>
              <a:rPr dirty="0"/>
              <a:t> de </a:t>
            </a:r>
            <a:r>
              <a:rPr dirty="0" err="1"/>
              <a:t>una</a:t>
            </a:r>
            <a:r>
              <a:rPr dirty="0"/>
              <a:t> </a:t>
            </a:r>
            <a:r>
              <a:rPr dirty="0" err="1"/>
              <a:t>metodología</a:t>
            </a:r>
            <a:r>
              <a:rPr dirty="0"/>
              <a:t> dual </a:t>
            </a:r>
            <a:r>
              <a:rPr dirty="0" err="1"/>
              <a:t>combinando</a:t>
            </a:r>
            <a:r>
              <a:rPr dirty="0"/>
              <a:t> la </a:t>
            </a:r>
            <a:r>
              <a:rPr dirty="0" err="1"/>
              <a:t>arquitectura</a:t>
            </a:r>
            <a:r>
              <a:rPr dirty="0"/>
              <a:t> de </a:t>
            </a:r>
            <a:r>
              <a:rPr dirty="0" err="1"/>
              <a:t>procesos</a:t>
            </a:r>
            <a:r>
              <a:rPr dirty="0"/>
              <a:t> de </a:t>
            </a:r>
            <a:r>
              <a:rPr dirty="0" err="1"/>
              <a:t>negocio</a:t>
            </a:r>
            <a:r>
              <a:rPr dirty="0"/>
              <a:t> con un motor de </a:t>
            </a:r>
            <a:r>
              <a:rPr dirty="0" err="1"/>
              <a:t>simulación</a:t>
            </a:r>
            <a:r>
              <a:rPr dirty="0"/>
              <a:t> de </a:t>
            </a:r>
            <a:r>
              <a:rPr dirty="0" err="1"/>
              <a:t>eventos</a:t>
            </a:r>
            <a:r>
              <a:rPr dirty="0"/>
              <a:t> </a:t>
            </a:r>
            <a:r>
              <a:rPr dirty="0" err="1"/>
              <a:t>discretos</a:t>
            </a:r>
            <a:r>
              <a:rPr dirty="0"/>
              <a:t> </a:t>
            </a:r>
            <a:r>
              <a:rPr dirty="0" err="1"/>
              <a:t>programado</a:t>
            </a:r>
            <a:r>
              <a:rPr dirty="0"/>
              <a:t> a </a:t>
            </a:r>
            <a:r>
              <a:rPr dirty="0" err="1"/>
              <a:t>medida</a:t>
            </a:r>
            <a:r>
              <a:rPr dirty="0"/>
              <a:t> </a:t>
            </a:r>
            <a:r>
              <a:rPr dirty="0" err="1"/>
              <a:t>aportó</a:t>
            </a:r>
            <a:r>
              <a:rPr dirty="0"/>
              <a:t> </a:t>
            </a:r>
            <a:r>
              <a:rPr dirty="0" err="1"/>
              <a:t>una</a:t>
            </a:r>
            <a:r>
              <a:rPr dirty="0"/>
              <a:t> </a:t>
            </a:r>
            <a:r>
              <a:rPr dirty="0" err="1"/>
              <a:t>validación</a:t>
            </a:r>
            <a:r>
              <a:rPr dirty="0"/>
              <a:t> </a:t>
            </a:r>
            <a:r>
              <a:rPr dirty="0" err="1"/>
              <a:t>cruzada</a:t>
            </a:r>
            <a:r>
              <a:rPr dirty="0"/>
              <a:t> indispensable para </a:t>
            </a:r>
            <a:r>
              <a:rPr dirty="0" err="1"/>
              <a:t>garantizar</a:t>
            </a:r>
            <a:r>
              <a:rPr dirty="0"/>
              <a:t> la </a:t>
            </a:r>
            <a:r>
              <a:rPr dirty="0" err="1"/>
              <a:t>solidez</a:t>
            </a:r>
            <a:r>
              <a:rPr dirty="0"/>
              <a:t> </a:t>
            </a:r>
            <a:r>
              <a:rPr dirty="0" err="1"/>
              <a:t>teórica</a:t>
            </a:r>
            <a:r>
              <a:rPr dirty="0"/>
              <a:t> y </a:t>
            </a:r>
            <a:r>
              <a:rPr dirty="0" err="1"/>
              <a:t>práctica</a:t>
            </a:r>
            <a:r>
              <a:rPr dirty="0"/>
              <a:t> del </a:t>
            </a:r>
            <a:r>
              <a:rPr dirty="0" err="1"/>
              <a:t>proyecto</a:t>
            </a:r>
            <a:r>
              <a:rPr dirty="0"/>
              <a:t> </a:t>
            </a:r>
            <a:r>
              <a:rPr dirty="0" err="1"/>
              <a:t>integrador</a:t>
            </a:r>
            <a:r>
              <a:rPr dirty="0" smtClean="0"/>
              <a:t>:</a:t>
            </a:r>
            <a:endParaRPr dirty="0"/>
          </a:p>
          <a:p>
            <a:pPr>
              <a:spcAft>
                <a:spcPts val="700"/>
              </a:spcAft>
              <a:defRPr sz="1350" b="0">
                <a:solidFill>
                  <a:srgbClr val="232B32"/>
                </a:solidFill>
              </a:defRPr>
            </a:pPr>
            <a:r>
              <a:rPr b="1" dirty="0" err="1"/>
              <a:t>Alcances</a:t>
            </a:r>
            <a:r>
              <a:rPr b="1" dirty="0"/>
              <a:t> y </a:t>
            </a:r>
            <a:r>
              <a:rPr b="1" dirty="0" err="1"/>
              <a:t>Limitaciones</a:t>
            </a:r>
            <a:r>
              <a:rPr b="1" dirty="0"/>
              <a:t> de las </a:t>
            </a:r>
            <a:r>
              <a:rPr b="1" dirty="0" err="1"/>
              <a:t>Herramientas</a:t>
            </a:r>
            <a:r>
              <a:rPr b="1" dirty="0"/>
              <a:t> BPMN</a:t>
            </a:r>
            <a:r>
              <a:rPr b="1" dirty="0" smtClean="0"/>
              <a:t>:</a:t>
            </a:r>
            <a:endParaRPr dirty="0"/>
          </a:p>
          <a:p>
            <a:pPr>
              <a:spcAft>
                <a:spcPts val="700"/>
              </a:spcAft>
              <a:defRPr sz="1350" b="0">
                <a:solidFill>
                  <a:srgbClr val="232B32"/>
                </a:solidFill>
              </a:defRPr>
            </a:pPr>
            <a:r>
              <a:rPr dirty="0"/>
              <a:t>Las </a:t>
            </a:r>
            <a:r>
              <a:rPr dirty="0" err="1"/>
              <a:t>plataformas</a:t>
            </a:r>
            <a:r>
              <a:rPr dirty="0"/>
              <a:t> de </a:t>
            </a:r>
            <a:r>
              <a:rPr dirty="0" err="1"/>
              <a:t>modelado</a:t>
            </a:r>
            <a:r>
              <a:rPr dirty="0"/>
              <a:t> </a:t>
            </a:r>
            <a:r>
              <a:rPr dirty="0" err="1"/>
              <a:t>empresarial</a:t>
            </a:r>
            <a:r>
              <a:rPr dirty="0"/>
              <a:t> </a:t>
            </a:r>
            <a:r>
              <a:rPr dirty="0" err="1"/>
              <a:t>evaluadas</a:t>
            </a:r>
            <a:r>
              <a:rPr dirty="0"/>
              <a:t> (</a:t>
            </a:r>
            <a:r>
              <a:rPr dirty="0" err="1"/>
              <a:t>Bizagi</a:t>
            </a:r>
            <a:r>
              <a:rPr dirty="0"/>
              <a:t> Modeler, </a:t>
            </a:r>
            <a:r>
              <a:rPr dirty="0" err="1"/>
              <a:t>Camunda</a:t>
            </a:r>
            <a:r>
              <a:rPr dirty="0"/>
              <a:t> Modeler y Bonita Studio) </a:t>
            </a:r>
            <a:r>
              <a:rPr dirty="0" err="1"/>
              <a:t>demostraron</a:t>
            </a:r>
            <a:r>
              <a:rPr dirty="0"/>
              <a:t> </a:t>
            </a:r>
            <a:r>
              <a:rPr dirty="0" err="1"/>
              <a:t>ser</a:t>
            </a:r>
            <a:r>
              <a:rPr dirty="0"/>
              <a:t> </a:t>
            </a:r>
            <a:r>
              <a:rPr dirty="0" err="1"/>
              <a:t>herramientas</a:t>
            </a:r>
            <a:r>
              <a:rPr dirty="0"/>
              <a:t> </a:t>
            </a:r>
            <a:r>
              <a:rPr dirty="0" err="1"/>
              <a:t>sumamente</a:t>
            </a:r>
            <a:r>
              <a:rPr dirty="0"/>
              <a:t> </a:t>
            </a:r>
            <a:r>
              <a:rPr dirty="0" err="1"/>
              <a:t>eficaces</a:t>
            </a:r>
            <a:r>
              <a:rPr dirty="0"/>
              <a:t> para </a:t>
            </a:r>
            <a:r>
              <a:rPr dirty="0" err="1"/>
              <a:t>estructurar</a:t>
            </a:r>
            <a:r>
              <a:rPr dirty="0"/>
              <a:t> </a:t>
            </a:r>
            <a:r>
              <a:rPr dirty="0" err="1"/>
              <a:t>visualmente</a:t>
            </a:r>
            <a:r>
              <a:rPr dirty="0"/>
              <a:t> la </a:t>
            </a:r>
            <a:r>
              <a:rPr dirty="0" err="1"/>
              <a:t>secuencia</a:t>
            </a:r>
            <a:r>
              <a:rPr dirty="0"/>
              <a:t> </a:t>
            </a:r>
            <a:r>
              <a:rPr dirty="0" err="1"/>
              <a:t>lógica</a:t>
            </a:r>
            <a:r>
              <a:rPr dirty="0"/>
              <a:t> de las </a:t>
            </a:r>
            <a:r>
              <a:rPr dirty="0" err="1"/>
              <a:t>operaciones</a:t>
            </a:r>
            <a:r>
              <a:rPr dirty="0"/>
              <a:t>, </a:t>
            </a:r>
            <a:r>
              <a:rPr dirty="0" err="1"/>
              <a:t>definir</a:t>
            </a:r>
            <a:r>
              <a:rPr dirty="0"/>
              <a:t> </a:t>
            </a:r>
            <a:r>
              <a:rPr dirty="0" err="1"/>
              <a:t>responsabilidades</a:t>
            </a:r>
            <a:r>
              <a:rPr dirty="0"/>
              <a:t> </a:t>
            </a:r>
            <a:r>
              <a:rPr dirty="0" err="1"/>
              <a:t>mediante</a:t>
            </a:r>
            <a:r>
              <a:rPr dirty="0"/>
              <a:t> </a:t>
            </a:r>
            <a:r>
              <a:rPr dirty="0" err="1"/>
              <a:t>carriles</a:t>
            </a:r>
            <a:r>
              <a:rPr dirty="0"/>
              <a:t> (pools y lanes), </a:t>
            </a:r>
            <a:r>
              <a:rPr dirty="0" err="1"/>
              <a:t>validar</a:t>
            </a:r>
            <a:r>
              <a:rPr dirty="0"/>
              <a:t> la </a:t>
            </a:r>
            <a:r>
              <a:rPr dirty="0" err="1"/>
              <a:t>correcta</a:t>
            </a:r>
            <a:r>
              <a:rPr dirty="0"/>
              <a:t> </a:t>
            </a:r>
            <a:r>
              <a:rPr dirty="0" err="1"/>
              <a:t>sintaxis</a:t>
            </a:r>
            <a:r>
              <a:rPr dirty="0"/>
              <a:t> de las </a:t>
            </a:r>
            <a:r>
              <a:rPr dirty="0" err="1"/>
              <a:t>compuertas</a:t>
            </a:r>
            <a:r>
              <a:rPr dirty="0"/>
              <a:t> </a:t>
            </a:r>
            <a:r>
              <a:rPr dirty="0" err="1"/>
              <a:t>lógicas</a:t>
            </a:r>
            <a:r>
              <a:rPr dirty="0"/>
              <a:t> (</a:t>
            </a:r>
            <a:r>
              <a:rPr dirty="0" err="1"/>
              <a:t>paralelas</a:t>
            </a:r>
            <a:r>
              <a:rPr dirty="0"/>
              <a:t>, </a:t>
            </a:r>
            <a:r>
              <a:rPr dirty="0" err="1"/>
              <a:t>exclusivas</a:t>
            </a:r>
            <a:r>
              <a:rPr dirty="0"/>
              <a:t> e </a:t>
            </a:r>
            <a:r>
              <a:rPr dirty="0" err="1"/>
              <a:t>inclusivas</a:t>
            </a:r>
            <a:r>
              <a:rPr dirty="0"/>
              <a:t>) y </a:t>
            </a:r>
            <a:r>
              <a:rPr dirty="0" err="1"/>
              <a:t>ofrecer</a:t>
            </a:r>
            <a:r>
              <a:rPr dirty="0"/>
              <a:t> </a:t>
            </a:r>
            <a:r>
              <a:rPr dirty="0" err="1"/>
              <a:t>una</a:t>
            </a:r>
            <a:r>
              <a:rPr dirty="0"/>
              <a:t> </a:t>
            </a:r>
            <a:r>
              <a:rPr dirty="0" err="1"/>
              <a:t>panorámica</a:t>
            </a:r>
            <a:r>
              <a:rPr dirty="0"/>
              <a:t> </a:t>
            </a:r>
            <a:r>
              <a:rPr dirty="0" err="1"/>
              <a:t>gerencial</a:t>
            </a:r>
            <a:r>
              <a:rPr dirty="0"/>
              <a:t> </a:t>
            </a:r>
            <a:r>
              <a:rPr dirty="0" err="1"/>
              <a:t>clara</a:t>
            </a:r>
            <a:r>
              <a:rPr dirty="0"/>
              <a:t> del </a:t>
            </a:r>
            <a:r>
              <a:rPr dirty="0" err="1"/>
              <a:t>proceso</a:t>
            </a:r>
            <a:r>
              <a:rPr dirty="0"/>
              <a:t>. No obstante, </a:t>
            </a:r>
            <a:r>
              <a:rPr dirty="0" err="1"/>
              <a:t>sus</a:t>
            </a:r>
            <a:r>
              <a:rPr dirty="0"/>
              <a:t> </a:t>
            </a:r>
            <a:r>
              <a:rPr dirty="0" err="1"/>
              <a:t>motores</a:t>
            </a:r>
            <a:r>
              <a:rPr dirty="0"/>
              <a:t> de </a:t>
            </a:r>
            <a:r>
              <a:rPr dirty="0" err="1"/>
              <a:t>simulación</a:t>
            </a:r>
            <a:r>
              <a:rPr dirty="0"/>
              <a:t> </a:t>
            </a:r>
            <a:r>
              <a:rPr dirty="0" err="1"/>
              <a:t>nativos</a:t>
            </a:r>
            <a:r>
              <a:rPr dirty="0"/>
              <a:t> </a:t>
            </a:r>
            <a:r>
              <a:rPr dirty="0" err="1"/>
              <a:t>presentan</a:t>
            </a:r>
            <a:r>
              <a:rPr dirty="0"/>
              <a:t> </a:t>
            </a:r>
            <a:r>
              <a:rPr dirty="0" err="1"/>
              <a:t>restricciones</a:t>
            </a:r>
            <a:r>
              <a:rPr dirty="0"/>
              <a:t> </a:t>
            </a:r>
            <a:r>
              <a:rPr dirty="0" err="1"/>
              <a:t>analíticas</a:t>
            </a:r>
            <a:r>
              <a:rPr dirty="0"/>
              <a:t> </a:t>
            </a:r>
            <a:r>
              <a:rPr dirty="0" err="1"/>
              <a:t>significativas</a:t>
            </a:r>
            <a:r>
              <a:rPr dirty="0"/>
              <a:t> al </a:t>
            </a:r>
            <a:r>
              <a:rPr dirty="0" err="1"/>
              <a:t>momento</a:t>
            </a:r>
            <a:r>
              <a:rPr dirty="0"/>
              <a:t> de </a:t>
            </a:r>
            <a:r>
              <a:rPr dirty="0" err="1"/>
              <a:t>parametrizar</a:t>
            </a:r>
            <a:r>
              <a:rPr dirty="0"/>
              <a:t> </a:t>
            </a:r>
            <a:r>
              <a:rPr dirty="0" err="1"/>
              <a:t>distribuciones</a:t>
            </a:r>
            <a:r>
              <a:rPr dirty="0"/>
              <a:t> de </a:t>
            </a:r>
            <a:r>
              <a:rPr dirty="0" err="1"/>
              <a:t>probabilidad</a:t>
            </a:r>
            <a:r>
              <a:rPr dirty="0"/>
              <a:t> </a:t>
            </a:r>
            <a:r>
              <a:rPr dirty="0" err="1"/>
              <a:t>complejas</a:t>
            </a:r>
            <a:r>
              <a:rPr dirty="0"/>
              <a:t> (tales </a:t>
            </a:r>
            <a:r>
              <a:rPr dirty="0" err="1"/>
              <a:t>como</a:t>
            </a:r>
            <a:r>
              <a:rPr dirty="0"/>
              <a:t> </a:t>
            </a:r>
            <a:r>
              <a:rPr dirty="0" err="1"/>
              <a:t>ajustes</a:t>
            </a:r>
            <a:r>
              <a:rPr dirty="0"/>
              <a:t> </a:t>
            </a:r>
            <a:r>
              <a:rPr dirty="0" err="1"/>
              <a:t>gaussianos</a:t>
            </a:r>
            <a:r>
              <a:rPr dirty="0"/>
              <a:t> </a:t>
            </a:r>
            <a:r>
              <a:rPr dirty="0" err="1"/>
              <a:t>multivariados</a:t>
            </a:r>
            <a:r>
              <a:rPr dirty="0"/>
              <a:t> o </a:t>
            </a:r>
            <a:r>
              <a:rPr dirty="0" err="1"/>
              <a:t>distribuciones</a:t>
            </a:r>
            <a:r>
              <a:rPr dirty="0"/>
              <a:t> de </a:t>
            </a:r>
            <a:r>
              <a:rPr dirty="0" err="1"/>
              <a:t>densidad</a:t>
            </a:r>
            <a:r>
              <a:rPr dirty="0"/>
              <a:t> </a:t>
            </a:r>
            <a:r>
              <a:rPr dirty="0" err="1"/>
              <a:t>especializadas</a:t>
            </a:r>
            <a:r>
              <a:rPr dirty="0"/>
              <a:t>) o al </a:t>
            </a:r>
            <a:r>
              <a:rPr dirty="0" err="1"/>
              <a:t>intentar</a:t>
            </a:r>
            <a:r>
              <a:rPr dirty="0"/>
              <a:t> </a:t>
            </a:r>
            <a:r>
              <a:rPr dirty="0" err="1"/>
              <a:t>realizar</a:t>
            </a:r>
            <a:r>
              <a:rPr dirty="0"/>
              <a:t> </a:t>
            </a:r>
            <a:r>
              <a:rPr dirty="0" err="1"/>
              <a:t>análisis</a:t>
            </a:r>
            <a:r>
              <a:rPr dirty="0"/>
              <a:t> de </a:t>
            </a:r>
            <a:r>
              <a:rPr dirty="0" err="1"/>
              <a:t>sensibilidad</a:t>
            </a:r>
            <a:r>
              <a:rPr dirty="0"/>
              <a:t> </a:t>
            </a:r>
            <a:r>
              <a:rPr dirty="0" err="1"/>
              <a:t>matemática</a:t>
            </a:r>
            <a:r>
              <a:rPr dirty="0"/>
              <a:t> </a:t>
            </a:r>
            <a:r>
              <a:rPr dirty="0" err="1"/>
              <a:t>avanzados</a:t>
            </a:r>
            <a:r>
              <a:rPr dirty="0"/>
              <a:t> ante </a:t>
            </a:r>
            <a:r>
              <a:rPr dirty="0" err="1"/>
              <a:t>variaciones</a:t>
            </a:r>
            <a:r>
              <a:rPr dirty="0"/>
              <a:t> </a:t>
            </a:r>
            <a:r>
              <a:rPr dirty="0" err="1"/>
              <a:t>drásticas</a:t>
            </a:r>
            <a:r>
              <a:rPr dirty="0"/>
              <a:t> </a:t>
            </a:r>
            <a:r>
              <a:rPr dirty="0" err="1"/>
              <a:t>en</a:t>
            </a:r>
            <a:r>
              <a:rPr dirty="0"/>
              <a:t> </a:t>
            </a:r>
            <a:r>
              <a:rPr dirty="0" err="1"/>
              <a:t>los</a:t>
            </a:r>
            <a:r>
              <a:rPr dirty="0"/>
              <a:t> </a:t>
            </a:r>
            <a:r>
              <a:rPr dirty="0" err="1"/>
              <a:t>parámetros</a:t>
            </a:r>
            <a:r>
              <a:rPr dirty="0"/>
              <a:t> del </a:t>
            </a:r>
            <a:r>
              <a:rPr dirty="0" err="1"/>
              <a:t>sistema</a:t>
            </a:r>
            <a:r>
              <a:rPr dirty="0"/>
              <a:t>.</a:t>
            </a:r>
          </a:p>
          <a:p>
            <a:pPr>
              <a:spcAft>
                <a:spcPts val="700"/>
              </a:spcAft>
              <a:defRPr sz="1350" b="0">
                <a:solidFill>
                  <a:srgbClr val="232B32"/>
                </a:solidFill>
              </a:defRPr>
            </a:pPr>
            <a:endParaRPr dirty="0"/>
          </a:p>
          <a:p>
            <a:pPr>
              <a:spcAft>
                <a:spcPts val="700"/>
              </a:spcAft>
              <a:defRPr sz="1350" b="0">
                <a:solidFill>
                  <a:srgbClr val="232B32"/>
                </a:solidFill>
              </a:defRPr>
            </a:pPr>
            <a:r>
              <a:rPr b="1" dirty="0" err="1"/>
              <a:t>Aportación</a:t>
            </a:r>
            <a:r>
              <a:rPr b="1" dirty="0"/>
              <a:t> </a:t>
            </a:r>
            <a:r>
              <a:rPr b="1" dirty="0" err="1"/>
              <a:t>Crítica</a:t>
            </a:r>
            <a:r>
              <a:rPr b="1" dirty="0"/>
              <a:t> del Motor </a:t>
            </a:r>
            <a:r>
              <a:rPr b="1" dirty="0" err="1"/>
              <a:t>en</a:t>
            </a:r>
            <a:r>
              <a:rPr b="1" dirty="0"/>
              <a:t> IntelliJ IDEA (Python + R</a:t>
            </a:r>
            <a:r>
              <a:rPr b="1" dirty="0" smtClean="0"/>
              <a:t>):</a:t>
            </a:r>
            <a:endParaRPr b="1" dirty="0"/>
          </a:p>
          <a:p>
            <a:pPr>
              <a:spcAft>
                <a:spcPts val="700"/>
              </a:spcAft>
              <a:defRPr sz="1350" b="0">
                <a:solidFill>
                  <a:srgbClr val="232B32"/>
                </a:solidFill>
              </a:defRPr>
            </a:pPr>
            <a:r>
              <a:rPr dirty="0"/>
              <a:t>El </a:t>
            </a:r>
            <a:r>
              <a:rPr dirty="0" err="1"/>
              <a:t>desarrollo</a:t>
            </a:r>
            <a:r>
              <a:rPr dirty="0"/>
              <a:t> del script multi-</a:t>
            </a:r>
            <a:r>
              <a:rPr dirty="0" err="1"/>
              <a:t>lenguaje</a:t>
            </a:r>
            <a:r>
              <a:rPr dirty="0"/>
              <a:t> </a:t>
            </a:r>
            <a:r>
              <a:rPr dirty="0" err="1"/>
              <a:t>dentro</a:t>
            </a:r>
            <a:r>
              <a:rPr dirty="0"/>
              <a:t> del </a:t>
            </a:r>
            <a:r>
              <a:rPr dirty="0" err="1"/>
              <a:t>entorno</a:t>
            </a:r>
            <a:r>
              <a:rPr dirty="0"/>
              <a:t> de </a:t>
            </a:r>
            <a:r>
              <a:rPr dirty="0" err="1"/>
              <a:t>desarrollo</a:t>
            </a:r>
            <a:r>
              <a:rPr dirty="0"/>
              <a:t> IntelliJ IDEA </a:t>
            </a:r>
            <a:r>
              <a:rPr dirty="0" err="1"/>
              <a:t>resolvió</a:t>
            </a:r>
            <a:r>
              <a:rPr dirty="0"/>
              <a:t> de </a:t>
            </a:r>
            <a:r>
              <a:rPr dirty="0" err="1"/>
              <a:t>manera</a:t>
            </a:r>
            <a:r>
              <a:rPr dirty="0"/>
              <a:t> </a:t>
            </a:r>
            <a:r>
              <a:rPr dirty="0" err="1"/>
              <a:t>contundente</a:t>
            </a:r>
            <a:r>
              <a:rPr dirty="0"/>
              <a:t> las </a:t>
            </a:r>
            <a:r>
              <a:rPr dirty="0" err="1"/>
              <a:t>limitaciones</a:t>
            </a:r>
            <a:r>
              <a:rPr dirty="0"/>
              <a:t> de las </a:t>
            </a:r>
            <a:r>
              <a:rPr dirty="0" err="1"/>
              <a:t>herramientas</a:t>
            </a:r>
            <a:r>
              <a:rPr dirty="0"/>
              <a:t> </a:t>
            </a:r>
            <a:r>
              <a:rPr dirty="0" err="1"/>
              <a:t>gráficas</a:t>
            </a:r>
            <a:r>
              <a:rPr dirty="0"/>
              <a:t>. Al </a:t>
            </a:r>
            <a:r>
              <a:rPr dirty="0" err="1"/>
              <a:t>delegar</a:t>
            </a:r>
            <a:r>
              <a:rPr dirty="0"/>
              <a:t> la </a:t>
            </a:r>
            <a:r>
              <a:rPr dirty="0" err="1"/>
              <a:t>orquestación</a:t>
            </a:r>
            <a:r>
              <a:rPr dirty="0"/>
              <a:t> </a:t>
            </a:r>
            <a:r>
              <a:rPr dirty="0" err="1"/>
              <a:t>lógica</a:t>
            </a:r>
            <a:r>
              <a:rPr dirty="0"/>
              <a:t> del </a:t>
            </a:r>
            <a:r>
              <a:rPr dirty="0" err="1"/>
              <a:t>sistema</a:t>
            </a:r>
            <a:r>
              <a:rPr dirty="0"/>
              <a:t> </a:t>
            </a:r>
            <a:r>
              <a:rPr dirty="0" err="1"/>
              <a:t>en</a:t>
            </a:r>
            <a:r>
              <a:rPr dirty="0"/>
              <a:t> Python y el </a:t>
            </a:r>
            <a:r>
              <a:rPr dirty="0" err="1"/>
              <a:t>procesamiento</a:t>
            </a:r>
            <a:r>
              <a:rPr dirty="0"/>
              <a:t> </a:t>
            </a:r>
            <a:r>
              <a:rPr dirty="0" err="1"/>
              <a:t>estocástico</a:t>
            </a:r>
            <a:r>
              <a:rPr dirty="0"/>
              <a:t> </a:t>
            </a:r>
            <a:r>
              <a:rPr dirty="0" err="1"/>
              <a:t>avanzado</a:t>
            </a:r>
            <a:r>
              <a:rPr dirty="0"/>
              <a:t> </a:t>
            </a:r>
            <a:r>
              <a:rPr dirty="0" err="1"/>
              <a:t>en</a:t>
            </a:r>
            <a:r>
              <a:rPr dirty="0"/>
              <a:t> R, se </a:t>
            </a:r>
            <a:r>
              <a:rPr dirty="0" err="1"/>
              <a:t>logró</a:t>
            </a:r>
            <a:r>
              <a:rPr dirty="0"/>
              <a:t> </a:t>
            </a:r>
            <a:r>
              <a:rPr dirty="0" err="1"/>
              <a:t>construir</a:t>
            </a:r>
            <a:r>
              <a:rPr dirty="0"/>
              <a:t> un </a:t>
            </a:r>
            <a:r>
              <a:rPr dirty="0" err="1"/>
              <a:t>entorno</a:t>
            </a:r>
            <a:r>
              <a:rPr dirty="0"/>
              <a:t> de </a:t>
            </a:r>
            <a:r>
              <a:rPr dirty="0" err="1"/>
              <a:t>cálculo</a:t>
            </a:r>
            <a:r>
              <a:rPr dirty="0"/>
              <a:t> flexible, </a:t>
            </a:r>
            <a:r>
              <a:rPr dirty="0" err="1"/>
              <a:t>transparente</a:t>
            </a:r>
            <a:r>
              <a:rPr dirty="0"/>
              <a:t> y </a:t>
            </a:r>
            <a:r>
              <a:rPr dirty="0" err="1"/>
              <a:t>totalmente</a:t>
            </a:r>
            <a:r>
              <a:rPr dirty="0"/>
              <a:t> </a:t>
            </a:r>
            <a:r>
              <a:rPr dirty="0" err="1"/>
              <a:t>personalizable</a:t>
            </a:r>
            <a:r>
              <a:rPr dirty="0"/>
              <a:t>. La </a:t>
            </a:r>
            <a:r>
              <a:rPr dirty="0" err="1"/>
              <a:t>capacidad</a:t>
            </a:r>
            <a:r>
              <a:rPr dirty="0"/>
              <a:t> de </a:t>
            </a:r>
            <a:r>
              <a:rPr dirty="0" err="1"/>
              <a:t>programar</a:t>
            </a:r>
            <a:r>
              <a:rPr dirty="0"/>
              <a:t> </a:t>
            </a:r>
            <a:r>
              <a:rPr dirty="0" err="1"/>
              <a:t>bucles</a:t>
            </a:r>
            <a:r>
              <a:rPr dirty="0"/>
              <a:t> </a:t>
            </a:r>
            <a:r>
              <a:rPr dirty="0" err="1"/>
              <a:t>iterativos</a:t>
            </a:r>
            <a:r>
              <a:rPr dirty="0"/>
              <a:t> de </a:t>
            </a:r>
            <a:r>
              <a:rPr dirty="0" err="1"/>
              <a:t>simulación</a:t>
            </a:r>
            <a:r>
              <a:rPr dirty="0"/>
              <a:t> de </a:t>
            </a:r>
            <a:r>
              <a:rPr dirty="0" err="1"/>
              <a:t>eventos</a:t>
            </a:r>
            <a:r>
              <a:rPr dirty="0"/>
              <a:t> </a:t>
            </a:r>
            <a:r>
              <a:rPr dirty="0" err="1"/>
              <a:t>discretos</a:t>
            </a:r>
            <a:r>
              <a:rPr dirty="0"/>
              <a:t>, </a:t>
            </a:r>
            <a:r>
              <a:rPr dirty="0" err="1"/>
              <a:t>aplicar</a:t>
            </a:r>
            <a:r>
              <a:rPr dirty="0"/>
              <a:t> </a:t>
            </a:r>
            <a:r>
              <a:rPr dirty="0" err="1"/>
              <a:t>funciones</a:t>
            </a:r>
            <a:r>
              <a:rPr dirty="0"/>
              <a:t> de </a:t>
            </a:r>
            <a:r>
              <a:rPr dirty="0" err="1"/>
              <a:t>densidad</a:t>
            </a:r>
            <a:r>
              <a:rPr dirty="0"/>
              <a:t> </a:t>
            </a:r>
            <a:r>
              <a:rPr dirty="0" err="1"/>
              <a:t>teóricas</a:t>
            </a:r>
            <a:r>
              <a:rPr dirty="0"/>
              <a:t> </a:t>
            </a:r>
            <a:r>
              <a:rPr dirty="0" err="1"/>
              <a:t>rigurosas</a:t>
            </a:r>
            <a:r>
              <a:rPr dirty="0"/>
              <a:t> y </a:t>
            </a:r>
            <a:r>
              <a:rPr dirty="0" err="1"/>
              <a:t>extraer</a:t>
            </a:r>
            <a:r>
              <a:rPr dirty="0"/>
              <a:t> </a:t>
            </a:r>
            <a:r>
              <a:rPr dirty="0" err="1"/>
              <a:t>métricas</a:t>
            </a:r>
            <a:r>
              <a:rPr dirty="0"/>
              <a:t> </a:t>
            </a:r>
            <a:r>
              <a:rPr dirty="0" err="1"/>
              <a:t>estadísticas</a:t>
            </a:r>
            <a:r>
              <a:rPr dirty="0"/>
              <a:t> </a:t>
            </a:r>
            <a:r>
              <a:rPr dirty="0" err="1"/>
              <a:t>precisas</a:t>
            </a:r>
            <a:r>
              <a:rPr dirty="0"/>
              <a:t> </a:t>
            </a:r>
            <a:r>
              <a:rPr dirty="0" err="1"/>
              <a:t>dotó</a:t>
            </a:r>
            <a:r>
              <a:rPr dirty="0"/>
              <a:t> al </a:t>
            </a:r>
            <a:r>
              <a:rPr dirty="0" err="1"/>
              <a:t>estudio</a:t>
            </a:r>
            <a:r>
              <a:rPr dirty="0"/>
              <a:t> de un </a:t>
            </a:r>
            <a:r>
              <a:rPr dirty="0" err="1"/>
              <a:t>fundamento</a:t>
            </a:r>
            <a:r>
              <a:rPr dirty="0"/>
              <a:t> </a:t>
            </a:r>
            <a:r>
              <a:rPr dirty="0" err="1"/>
              <a:t>cuantitativo</a:t>
            </a:r>
            <a:r>
              <a:rPr dirty="0"/>
              <a:t> </a:t>
            </a:r>
            <a:r>
              <a:rPr dirty="0" err="1"/>
              <a:t>indiscutible</a:t>
            </a:r>
            <a:r>
              <a:rPr dirty="0"/>
              <a:t>.</a:t>
            </a:r>
          </a:p>
          <a:p>
            <a:pPr>
              <a:spcAft>
                <a:spcPts val="700"/>
              </a:spcAft>
              <a:defRPr sz="1350" b="0">
                <a:solidFill>
                  <a:srgbClr val="232B32"/>
                </a:solidFill>
              </a:defRPr>
            </a:pPr>
            <a:endParaRPr dirty="0"/>
          </a:p>
          <a:p>
            <a:pPr>
              <a:spcAft>
                <a:spcPts val="700"/>
              </a:spcAft>
              <a:defRPr sz="1350" b="0">
                <a:solidFill>
                  <a:srgbClr val="232B32"/>
                </a:solidFill>
              </a:defRPr>
            </a:pPr>
            <a:r>
              <a:rPr b="1" dirty="0" err="1"/>
              <a:t>Conclusión</a:t>
            </a:r>
            <a:r>
              <a:rPr b="1" dirty="0"/>
              <a:t> de la </a:t>
            </a:r>
            <a:r>
              <a:rPr b="1" dirty="0" err="1"/>
              <a:t>Metodología</a:t>
            </a:r>
            <a:r>
              <a:rPr b="1" dirty="0"/>
              <a:t> </a:t>
            </a:r>
            <a:r>
              <a:rPr b="1" dirty="0" err="1"/>
              <a:t>Integrada</a:t>
            </a:r>
            <a:r>
              <a:rPr b="1" dirty="0" smtClean="0"/>
              <a:t>:</a:t>
            </a:r>
            <a:endParaRPr b="1" dirty="0"/>
          </a:p>
          <a:p>
            <a:pPr>
              <a:spcAft>
                <a:spcPts val="700"/>
              </a:spcAft>
              <a:defRPr sz="1350" b="0">
                <a:solidFill>
                  <a:srgbClr val="232B32"/>
                </a:solidFill>
              </a:defRPr>
            </a:pPr>
            <a:r>
              <a:rPr dirty="0"/>
              <a:t>Se </a:t>
            </a:r>
            <a:r>
              <a:rPr dirty="0" err="1"/>
              <a:t>establece</a:t>
            </a:r>
            <a:r>
              <a:rPr dirty="0"/>
              <a:t> </a:t>
            </a:r>
            <a:r>
              <a:rPr dirty="0" err="1"/>
              <a:t>como</a:t>
            </a:r>
            <a:r>
              <a:rPr dirty="0"/>
              <a:t> </a:t>
            </a:r>
            <a:r>
              <a:rPr dirty="0" err="1"/>
              <a:t>conclusión</a:t>
            </a:r>
            <a:r>
              <a:rPr dirty="0"/>
              <a:t> central de </a:t>
            </a:r>
            <a:r>
              <a:rPr dirty="0" err="1"/>
              <a:t>este</a:t>
            </a:r>
            <a:r>
              <a:rPr dirty="0"/>
              <a:t> </a:t>
            </a:r>
            <a:r>
              <a:rPr dirty="0" err="1"/>
              <a:t>capítulo</a:t>
            </a:r>
            <a:r>
              <a:rPr dirty="0"/>
              <a:t> que la </a:t>
            </a:r>
            <a:r>
              <a:rPr dirty="0" err="1"/>
              <a:t>simulación</a:t>
            </a:r>
            <a:r>
              <a:rPr dirty="0"/>
              <a:t> de </a:t>
            </a:r>
            <a:r>
              <a:rPr dirty="0" err="1"/>
              <a:t>sistemas</a:t>
            </a:r>
            <a:r>
              <a:rPr dirty="0"/>
              <a:t> </a:t>
            </a:r>
            <a:r>
              <a:rPr dirty="0" err="1"/>
              <a:t>complejos</a:t>
            </a:r>
            <a:r>
              <a:rPr dirty="0"/>
              <a:t> </a:t>
            </a:r>
            <a:r>
              <a:rPr dirty="0" err="1"/>
              <a:t>en</a:t>
            </a:r>
            <a:r>
              <a:rPr dirty="0"/>
              <a:t> la </a:t>
            </a:r>
            <a:r>
              <a:rPr dirty="0" err="1"/>
              <a:t>ingeniería</a:t>
            </a:r>
            <a:r>
              <a:rPr dirty="0"/>
              <a:t> </a:t>
            </a:r>
            <a:r>
              <a:rPr dirty="0" err="1"/>
              <a:t>moderna</a:t>
            </a:r>
            <a:r>
              <a:rPr dirty="0"/>
              <a:t> no </a:t>
            </a:r>
            <a:r>
              <a:rPr dirty="0" err="1"/>
              <a:t>debe</a:t>
            </a:r>
            <a:r>
              <a:rPr dirty="0"/>
              <a:t> </a:t>
            </a:r>
            <a:r>
              <a:rPr dirty="0" err="1"/>
              <a:t>sustentarse</a:t>
            </a:r>
            <a:r>
              <a:rPr dirty="0"/>
              <a:t> de </a:t>
            </a:r>
            <a:r>
              <a:rPr dirty="0" err="1"/>
              <a:t>manera</a:t>
            </a:r>
            <a:r>
              <a:rPr dirty="0"/>
              <a:t> </a:t>
            </a:r>
            <a:r>
              <a:rPr dirty="0" err="1"/>
              <a:t>aislada</a:t>
            </a:r>
            <a:r>
              <a:rPr dirty="0"/>
              <a:t> </a:t>
            </a:r>
            <a:r>
              <a:rPr dirty="0" err="1"/>
              <a:t>ni</a:t>
            </a:r>
            <a:r>
              <a:rPr dirty="0"/>
              <a:t> </a:t>
            </a:r>
            <a:r>
              <a:rPr dirty="0" err="1"/>
              <a:t>en</a:t>
            </a:r>
            <a:r>
              <a:rPr dirty="0"/>
              <a:t> </a:t>
            </a:r>
            <a:r>
              <a:rPr dirty="0" err="1"/>
              <a:t>enfoques</a:t>
            </a:r>
            <a:r>
              <a:rPr dirty="0"/>
              <a:t> </a:t>
            </a:r>
            <a:r>
              <a:rPr dirty="0" err="1"/>
              <a:t>puramente</a:t>
            </a:r>
            <a:r>
              <a:rPr dirty="0"/>
              <a:t> </a:t>
            </a:r>
            <a:r>
              <a:rPr dirty="0" err="1"/>
              <a:t>gráficos</a:t>
            </a:r>
            <a:r>
              <a:rPr dirty="0"/>
              <a:t> </a:t>
            </a:r>
            <a:r>
              <a:rPr dirty="0" err="1"/>
              <a:t>ni</a:t>
            </a:r>
            <a:r>
              <a:rPr dirty="0"/>
              <a:t> </a:t>
            </a:r>
            <a:r>
              <a:rPr dirty="0" err="1"/>
              <a:t>en</a:t>
            </a:r>
            <a:r>
              <a:rPr dirty="0"/>
              <a:t> </a:t>
            </a:r>
            <a:r>
              <a:rPr dirty="0" err="1"/>
              <a:t>códigos</a:t>
            </a:r>
            <a:r>
              <a:rPr dirty="0"/>
              <a:t> </a:t>
            </a:r>
            <a:r>
              <a:rPr dirty="0" err="1"/>
              <a:t>desconectados</a:t>
            </a:r>
            <a:r>
              <a:rPr dirty="0"/>
              <a:t> de la </a:t>
            </a:r>
            <a:r>
              <a:rPr dirty="0" err="1"/>
              <a:t>realidad</a:t>
            </a:r>
            <a:r>
              <a:rPr dirty="0"/>
              <a:t> </a:t>
            </a:r>
            <a:r>
              <a:rPr dirty="0" err="1"/>
              <a:t>operativa</a:t>
            </a:r>
            <a:r>
              <a:rPr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21773"/>
            <a:ext cx="9589741" cy="861774"/>
          </a:xfrm>
          <a:prstGeom prst="rect">
            <a:avLst/>
          </a:prstGeom>
          <a:noFill/>
        </p:spPr>
        <p:txBody>
          <a:bodyPr wrap="none">
            <a:spAutoFit/>
          </a:bodyPr>
          <a:lstStyle/>
          <a:p>
            <a:pPr algn="ctr">
              <a:defRPr sz="2500" b="1">
                <a:solidFill>
                  <a:srgbClr val="123048"/>
                </a:solidFill>
              </a:defRPr>
            </a:pPr>
            <a:r>
              <a:rPr dirty="0"/>
              <a:t>5.2 </a:t>
            </a:r>
            <a:r>
              <a:rPr dirty="0" err="1"/>
              <a:t>Discusión</a:t>
            </a:r>
            <a:r>
              <a:rPr dirty="0"/>
              <a:t> Integral: </a:t>
            </a:r>
            <a:endParaRPr lang="es-ES" dirty="0" smtClean="0"/>
          </a:p>
          <a:p>
            <a:pPr algn="ctr">
              <a:defRPr sz="2500" b="1">
                <a:solidFill>
                  <a:srgbClr val="123048"/>
                </a:solidFill>
              </a:defRPr>
            </a:pPr>
            <a:r>
              <a:rPr dirty="0" err="1" smtClean="0"/>
              <a:t>Complementariedad</a:t>
            </a:r>
            <a:r>
              <a:rPr dirty="0" smtClean="0"/>
              <a:t> </a:t>
            </a:r>
            <a:r>
              <a:rPr dirty="0"/>
              <a:t>entre </a:t>
            </a:r>
            <a:r>
              <a:rPr dirty="0" err="1"/>
              <a:t>Modelado</a:t>
            </a:r>
            <a:r>
              <a:rPr dirty="0"/>
              <a:t> </a:t>
            </a:r>
            <a:r>
              <a:rPr dirty="0" err="1"/>
              <a:t>Gráfico</a:t>
            </a:r>
            <a:r>
              <a:rPr dirty="0"/>
              <a:t> y Motor </a:t>
            </a:r>
            <a:r>
              <a:rPr dirty="0" err="1"/>
              <a:t>Estocástico</a:t>
            </a:r>
            <a:r>
              <a:rPr dirty="0"/>
              <a:t> (2/2)</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5: RESULTADOS Y DISCUSIÓN</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rPr dirty="0"/>
              <a:t>La </a:t>
            </a:r>
            <a:r>
              <a:rPr dirty="0" err="1"/>
              <a:t>integración</a:t>
            </a:r>
            <a:r>
              <a:rPr dirty="0"/>
              <a:t> </a:t>
            </a:r>
            <a:r>
              <a:rPr dirty="0" err="1"/>
              <a:t>armónica</a:t>
            </a:r>
            <a:r>
              <a:rPr dirty="0"/>
              <a:t> de un </a:t>
            </a:r>
            <a:r>
              <a:rPr dirty="0" err="1"/>
              <a:t>diseño</a:t>
            </a:r>
            <a:r>
              <a:rPr dirty="0"/>
              <a:t> </a:t>
            </a:r>
            <a:r>
              <a:rPr dirty="0" err="1"/>
              <a:t>estándar</a:t>
            </a:r>
            <a:r>
              <a:rPr dirty="0"/>
              <a:t> </a:t>
            </a:r>
            <a:r>
              <a:rPr dirty="0" err="1"/>
              <a:t>estandarizado</a:t>
            </a:r>
            <a:r>
              <a:rPr dirty="0"/>
              <a:t> </a:t>
            </a:r>
            <a:r>
              <a:rPr dirty="0" err="1"/>
              <a:t>en</a:t>
            </a:r>
            <a:r>
              <a:rPr dirty="0"/>
              <a:t> BPMN con un motor de </a:t>
            </a:r>
            <a:r>
              <a:rPr dirty="0" err="1"/>
              <a:t>procesamiento</a:t>
            </a:r>
            <a:r>
              <a:rPr dirty="0"/>
              <a:t> </a:t>
            </a:r>
            <a:r>
              <a:rPr dirty="0" err="1"/>
              <a:t>estocástico</a:t>
            </a:r>
            <a:r>
              <a:rPr dirty="0"/>
              <a:t> </a:t>
            </a:r>
            <a:r>
              <a:rPr dirty="0" err="1"/>
              <a:t>implementado</a:t>
            </a:r>
            <a:r>
              <a:rPr dirty="0"/>
              <a:t> </a:t>
            </a:r>
            <a:r>
              <a:rPr dirty="0" err="1"/>
              <a:t>mediante</a:t>
            </a:r>
            <a:r>
              <a:rPr dirty="0"/>
              <a:t> </a:t>
            </a:r>
            <a:r>
              <a:rPr dirty="0" err="1"/>
              <a:t>programación</a:t>
            </a:r>
            <a:r>
              <a:rPr dirty="0"/>
              <a:t> </a:t>
            </a:r>
            <a:r>
              <a:rPr dirty="0" err="1"/>
              <a:t>avanzada</a:t>
            </a:r>
            <a:r>
              <a:rPr dirty="0"/>
              <a:t> </a:t>
            </a:r>
            <a:r>
              <a:rPr dirty="0" err="1"/>
              <a:t>constituye</a:t>
            </a:r>
            <a:r>
              <a:rPr dirty="0"/>
              <a:t> la </a:t>
            </a:r>
            <a:r>
              <a:rPr dirty="0" err="1"/>
              <a:t>estrategia</a:t>
            </a:r>
            <a:r>
              <a:rPr dirty="0"/>
              <a:t> </a:t>
            </a:r>
            <a:r>
              <a:rPr dirty="0" err="1"/>
              <a:t>metodológica</a:t>
            </a:r>
            <a:r>
              <a:rPr dirty="0"/>
              <a:t> </a:t>
            </a:r>
            <a:r>
              <a:rPr dirty="0" err="1"/>
              <a:t>idónea</a:t>
            </a:r>
            <a:r>
              <a:rPr dirty="0"/>
              <a:t> para </a:t>
            </a:r>
            <a:r>
              <a:rPr dirty="0" err="1"/>
              <a:t>modelar</a:t>
            </a:r>
            <a:r>
              <a:rPr dirty="0"/>
              <a:t>, </a:t>
            </a:r>
            <a:r>
              <a:rPr dirty="0" err="1"/>
              <a:t>analizar</a:t>
            </a:r>
            <a:r>
              <a:rPr dirty="0"/>
              <a:t>, </a:t>
            </a:r>
            <a:r>
              <a:rPr dirty="0" err="1"/>
              <a:t>prever</a:t>
            </a:r>
            <a:r>
              <a:rPr dirty="0"/>
              <a:t> y </a:t>
            </a:r>
            <a:r>
              <a:rPr dirty="0" err="1"/>
              <a:t>proponer</a:t>
            </a:r>
            <a:r>
              <a:rPr dirty="0"/>
              <a:t> </a:t>
            </a:r>
            <a:r>
              <a:rPr dirty="0" err="1"/>
              <a:t>soluciones</a:t>
            </a:r>
            <a:r>
              <a:rPr dirty="0"/>
              <a:t> de </a:t>
            </a:r>
            <a:r>
              <a:rPr dirty="0" err="1"/>
              <a:t>optimización</a:t>
            </a:r>
            <a:r>
              <a:rPr dirty="0"/>
              <a:t> </a:t>
            </a:r>
            <a:r>
              <a:rPr dirty="0" err="1"/>
              <a:t>eficientes</a:t>
            </a:r>
            <a:r>
              <a:rPr dirty="0"/>
              <a:t> </a:t>
            </a:r>
            <a:r>
              <a:rPr dirty="0" err="1"/>
              <a:t>en</a:t>
            </a:r>
            <a:r>
              <a:rPr dirty="0"/>
              <a:t> </a:t>
            </a:r>
            <a:r>
              <a:rPr dirty="0" err="1"/>
              <a:t>entornos</a:t>
            </a:r>
            <a:r>
              <a:rPr dirty="0"/>
              <a:t> </a:t>
            </a:r>
            <a:r>
              <a:rPr dirty="0" err="1"/>
              <a:t>industriales</a:t>
            </a:r>
            <a:r>
              <a:rPr dirty="0"/>
              <a:t> </a:t>
            </a:r>
            <a:r>
              <a:rPr dirty="0" err="1"/>
              <a:t>reales</a:t>
            </a:r>
            <a:r>
              <a:rPr dirty="0"/>
              <a:t>.</a:t>
            </a:r>
          </a:p>
          <a:p>
            <a:pPr>
              <a:spcAft>
                <a:spcPts val="700"/>
              </a:spcAft>
              <a:defRPr sz="1500" b="0">
                <a:solidFill>
                  <a:srgbClr val="232B32"/>
                </a:solidFill>
              </a:defRPr>
            </a:pPr>
            <a:endParaRPr dirty="0"/>
          </a:p>
          <a:p>
            <a:pPr>
              <a:spcAft>
                <a:spcPts val="700"/>
              </a:spcAft>
              <a:defRPr sz="1500" b="0">
                <a:solidFill>
                  <a:srgbClr val="232B32"/>
                </a:solidFill>
              </a:defRPr>
            </a:pPr>
            <a:r>
              <a:rPr dirty="0" err="1"/>
              <a:t>Figuras</a:t>
            </a:r>
            <a:r>
              <a:rPr dirty="0"/>
              <a:t> 5.1: </a:t>
            </a:r>
            <a:r>
              <a:rPr dirty="0" err="1"/>
              <a:t>Gráficas</a:t>
            </a:r>
            <a:r>
              <a:rPr dirty="0"/>
              <a:t> </a:t>
            </a:r>
            <a:r>
              <a:rPr dirty="0" err="1"/>
              <a:t>comparativas</a:t>
            </a:r>
            <a:r>
              <a:rPr dirty="0"/>
              <a:t> de </a:t>
            </a:r>
            <a:r>
              <a:rPr dirty="0" err="1"/>
              <a:t>rendimiento</a:t>
            </a:r>
            <a:r>
              <a:rPr dirty="0"/>
              <a:t>, </a:t>
            </a:r>
            <a:r>
              <a:rPr dirty="0" err="1"/>
              <a:t>tiempos</a:t>
            </a:r>
            <a:r>
              <a:rPr dirty="0"/>
              <a:t> de </a:t>
            </a:r>
            <a:r>
              <a:rPr dirty="0" err="1"/>
              <a:t>espera</a:t>
            </a:r>
            <a:r>
              <a:rPr dirty="0"/>
              <a:t> </a:t>
            </a:r>
            <a:r>
              <a:rPr dirty="0" err="1"/>
              <a:t>en</a:t>
            </a:r>
            <a:r>
              <a:rPr dirty="0"/>
              <a:t> cola y </a:t>
            </a:r>
            <a:r>
              <a:rPr dirty="0" err="1"/>
              <a:t>tasas</a:t>
            </a:r>
            <a:r>
              <a:rPr dirty="0"/>
              <a:t> de </a:t>
            </a:r>
            <a:r>
              <a:rPr dirty="0" err="1"/>
              <a:t>utilización</a:t>
            </a: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30</a:t>
            </a:r>
          </a:p>
        </p:txBody>
      </p:sp>
      <p:pic>
        <p:nvPicPr>
          <p:cNvPr id="9" name="Imagen 8" descr="C:\Users\yaira\OneDrive\Pictures\Screenshots\Captura de pantalla (784).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2513186" y="2664541"/>
            <a:ext cx="6099872" cy="346394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996437" y="274320"/>
            <a:ext cx="8168646" cy="477054"/>
          </a:xfrm>
          <a:prstGeom prst="rect">
            <a:avLst/>
          </a:prstGeom>
          <a:noFill/>
        </p:spPr>
        <p:txBody>
          <a:bodyPr wrap="none">
            <a:spAutoFit/>
          </a:bodyPr>
          <a:lstStyle/>
          <a:p>
            <a:pPr algn="ctr">
              <a:defRPr sz="2500" b="1">
                <a:solidFill>
                  <a:srgbClr val="123048"/>
                </a:solidFill>
              </a:defRPr>
            </a:pPr>
            <a:r>
              <a:rPr dirty="0"/>
              <a:t>6.1 </a:t>
            </a:r>
            <a:r>
              <a:rPr dirty="0" err="1"/>
              <a:t>Conclusiones</a:t>
            </a:r>
            <a:r>
              <a:rPr dirty="0"/>
              <a:t> </a:t>
            </a:r>
            <a:r>
              <a:rPr dirty="0" err="1"/>
              <a:t>Generales</a:t>
            </a:r>
            <a:r>
              <a:rPr dirty="0"/>
              <a:t> y </a:t>
            </a:r>
            <a:r>
              <a:rPr dirty="0" err="1"/>
              <a:t>Sintetizadas</a:t>
            </a:r>
            <a:r>
              <a:rPr dirty="0"/>
              <a:t> del Proyecto (1/3)</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6: CONCLUSIONES Y TRABAJOS FUTUROS</a:t>
            </a:r>
          </a:p>
        </p:txBody>
      </p:sp>
      <p:sp>
        <p:nvSpPr>
          <p:cNvPr id="6" name="TextBox 5"/>
          <p:cNvSpPr txBox="1"/>
          <p:nvPr/>
        </p:nvSpPr>
        <p:spPr>
          <a:xfrm>
            <a:off x="731520" y="1234440"/>
            <a:ext cx="10698480" cy="5262979"/>
          </a:xfrm>
          <a:prstGeom prst="rect">
            <a:avLst/>
          </a:prstGeom>
          <a:noFill/>
        </p:spPr>
        <p:txBody>
          <a:bodyPr wrap="square" lIns="73152" rIns="73152">
            <a:spAutoFit/>
          </a:bodyPr>
          <a:lstStyle/>
          <a:p>
            <a:pPr>
              <a:spcAft>
                <a:spcPts val="700"/>
              </a:spcAft>
              <a:defRPr sz="1350" b="0">
                <a:solidFill>
                  <a:srgbClr val="232B32"/>
                </a:solidFill>
              </a:defRPr>
            </a:pPr>
            <a:r>
              <a:rPr dirty="0"/>
              <a:t>El </a:t>
            </a:r>
            <a:r>
              <a:rPr dirty="0" err="1"/>
              <a:t>desarrollo</a:t>
            </a:r>
            <a:r>
              <a:rPr dirty="0"/>
              <a:t>, </a:t>
            </a:r>
            <a:r>
              <a:rPr dirty="0" err="1"/>
              <a:t>modelado</a:t>
            </a:r>
            <a:r>
              <a:rPr dirty="0"/>
              <a:t>, </a:t>
            </a:r>
            <a:r>
              <a:rPr dirty="0" err="1"/>
              <a:t>experimentación</a:t>
            </a:r>
            <a:r>
              <a:rPr dirty="0"/>
              <a:t> </a:t>
            </a:r>
            <a:r>
              <a:rPr dirty="0" err="1"/>
              <a:t>computacional</a:t>
            </a:r>
            <a:r>
              <a:rPr dirty="0"/>
              <a:t> y </a:t>
            </a:r>
            <a:r>
              <a:rPr dirty="0" err="1"/>
              <a:t>análisis</a:t>
            </a:r>
            <a:r>
              <a:rPr dirty="0"/>
              <a:t> </a:t>
            </a:r>
            <a:r>
              <a:rPr dirty="0" err="1"/>
              <a:t>cuantitativo</a:t>
            </a:r>
            <a:r>
              <a:rPr dirty="0"/>
              <a:t> del </a:t>
            </a:r>
            <a:r>
              <a:rPr dirty="0" err="1"/>
              <a:t>presente</a:t>
            </a:r>
            <a:r>
              <a:rPr dirty="0"/>
              <a:t> </a:t>
            </a:r>
            <a:r>
              <a:rPr dirty="0" err="1"/>
              <a:t>proyecto</a:t>
            </a:r>
            <a:r>
              <a:rPr dirty="0"/>
              <a:t> </a:t>
            </a:r>
            <a:r>
              <a:rPr dirty="0" err="1"/>
              <a:t>integrador</a:t>
            </a:r>
            <a:r>
              <a:rPr dirty="0"/>
              <a:t> </a:t>
            </a:r>
            <a:r>
              <a:rPr dirty="0" err="1"/>
              <a:t>permitieron</a:t>
            </a:r>
            <a:r>
              <a:rPr dirty="0"/>
              <a:t> </a:t>
            </a:r>
            <a:r>
              <a:rPr dirty="0" err="1"/>
              <a:t>consolidar</a:t>
            </a:r>
            <a:r>
              <a:rPr dirty="0"/>
              <a:t>, </a:t>
            </a:r>
            <a:r>
              <a:rPr dirty="0" err="1"/>
              <a:t>interconectar</a:t>
            </a:r>
            <a:r>
              <a:rPr dirty="0"/>
              <a:t> y </a:t>
            </a:r>
            <a:r>
              <a:rPr dirty="0" err="1"/>
              <a:t>aplicar</a:t>
            </a:r>
            <a:r>
              <a:rPr dirty="0"/>
              <a:t> de </a:t>
            </a:r>
            <a:r>
              <a:rPr dirty="0" err="1"/>
              <a:t>manera</a:t>
            </a:r>
            <a:r>
              <a:rPr dirty="0"/>
              <a:t> </a:t>
            </a:r>
            <a:r>
              <a:rPr dirty="0" err="1"/>
              <a:t>rigurosa</a:t>
            </a:r>
            <a:r>
              <a:rPr dirty="0"/>
              <a:t> </a:t>
            </a:r>
            <a:r>
              <a:rPr dirty="0" err="1"/>
              <a:t>los</a:t>
            </a:r>
            <a:r>
              <a:rPr dirty="0"/>
              <a:t> </a:t>
            </a:r>
            <a:r>
              <a:rPr dirty="0" err="1"/>
              <a:t>fundamentos</a:t>
            </a:r>
            <a:r>
              <a:rPr dirty="0"/>
              <a:t> </a:t>
            </a:r>
            <a:r>
              <a:rPr dirty="0" err="1"/>
              <a:t>teóricos</a:t>
            </a:r>
            <a:r>
              <a:rPr dirty="0"/>
              <a:t> y </a:t>
            </a:r>
            <a:r>
              <a:rPr dirty="0" err="1"/>
              <a:t>metodológicos</a:t>
            </a:r>
            <a:r>
              <a:rPr dirty="0"/>
              <a:t> </a:t>
            </a:r>
            <a:r>
              <a:rPr dirty="0" err="1"/>
              <a:t>avanzados</a:t>
            </a:r>
            <a:r>
              <a:rPr dirty="0"/>
              <a:t> de la </a:t>
            </a:r>
            <a:r>
              <a:rPr dirty="0" err="1"/>
              <a:t>ingeniería</a:t>
            </a:r>
            <a:r>
              <a:rPr dirty="0"/>
              <a:t> de </a:t>
            </a:r>
            <a:r>
              <a:rPr dirty="0" err="1"/>
              <a:t>sistemas</a:t>
            </a:r>
            <a:r>
              <a:rPr dirty="0"/>
              <a:t>, la </a:t>
            </a:r>
            <a:r>
              <a:rPr dirty="0" err="1"/>
              <a:t>teoría</a:t>
            </a:r>
            <a:r>
              <a:rPr dirty="0"/>
              <a:t> de colas, el </a:t>
            </a:r>
            <a:r>
              <a:rPr dirty="0" err="1"/>
              <a:t>diseño</a:t>
            </a:r>
            <a:r>
              <a:rPr dirty="0"/>
              <a:t> </a:t>
            </a:r>
            <a:r>
              <a:rPr dirty="0" err="1"/>
              <a:t>estandarizado</a:t>
            </a:r>
            <a:r>
              <a:rPr dirty="0"/>
              <a:t> de </a:t>
            </a:r>
            <a:r>
              <a:rPr dirty="0" err="1"/>
              <a:t>procesos</a:t>
            </a:r>
            <a:r>
              <a:rPr dirty="0"/>
              <a:t> de </a:t>
            </a:r>
            <a:r>
              <a:rPr dirty="0" err="1"/>
              <a:t>negocio</a:t>
            </a:r>
            <a:r>
              <a:rPr dirty="0"/>
              <a:t> y la </a:t>
            </a:r>
            <a:r>
              <a:rPr dirty="0" err="1"/>
              <a:t>simulación</a:t>
            </a:r>
            <a:r>
              <a:rPr dirty="0"/>
              <a:t> </a:t>
            </a:r>
            <a:r>
              <a:rPr dirty="0" err="1"/>
              <a:t>estocástica</a:t>
            </a:r>
            <a:r>
              <a:rPr dirty="0"/>
              <a:t> </a:t>
            </a:r>
            <a:r>
              <a:rPr dirty="0" err="1"/>
              <a:t>por</a:t>
            </a:r>
            <a:r>
              <a:rPr dirty="0"/>
              <a:t> </a:t>
            </a:r>
            <a:r>
              <a:rPr dirty="0" err="1"/>
              <a:t>computadora</a:t>
            </a:r>
            <a:r>
              <a:rPr dirty="0"/>
              <a:t>. A </a:t>
            </a:r>
            <a:r>
              <a:rPr dirty="0" err="1"/>
              <a:t>través</a:t>
            </a:r>
            <a:r>
              <a:rPr dirty="0"/>
              <a:t> de la </a:t>
            </a:r>
            <a:r>
              <a:rPr dirty="0" err="1"/>
              <a:t>ejecución</a:t>
            </a:r>
            <a:r>
              <a:rPr dirty="0"/>
              <a:t> </a:t>
            </a:r>
            <a:r>
              <a:rPr dirty="0" err="1"/>
              <a:t>metódica</a:t>
            </a:r>
            <a:r>
              <a:rPr dirty="0"/>
              <a:t> de </a:t>
            </a:r>
            <a:r>
              <a:rPr dirty="0" err="1"/>
              <a:t>cada</a:t>
            </a:r>
            <a:r>
              <a:rPr dirty="0"/>
              <a:t> </a:t>
            </a:r>
            <a:r>
              <a:rPr dirty="0" err="1"/>
              <a:t>una</a:t>
            </a:r>
            <a:r>
              <a:rPr dirty="0"/>
              <a:t> de las </a:t>
            </a:r>
            <a:r>
              <a:rPr dirty="0" err="1"/>
              <a:t>fases</a:t>
            </a:r>
            <a:r>
              <a:rPr dirty="0"/>
              <a:t> </a:t>
            </a:r>
            <a:r>
              <a:rPr dirty="0" err="1"/>
              <a:t>planteadas</a:t>
            </a:r>
            <a:r>
              <a:rPr dirty="0"/>
              <a:t> </a:t>
            </a:r>
            <a:r>
              <a:rPr dirty="0" err="1"/>
              <a:t>en</a:t>
            </a:r>
            <a:r>
              <a:rPr dirty="0"/>
              <a:t> la </a:t>
            </a:r>
            <a:r>
              <a:rPr dirty="0" err="1"/>
              <a:t>investigación</a:t>
            </a:r>
            <a:r>
              <a:rPr dirty="0"/>
              <a:t>, se </a:t>
            </a:r>
            <a:r>
              <a:rPr dirty="0" err="1"/>
              <a:t>establecen</a:t>
            </a:r>
            <a:r>
              <a:rPr dirty="0"/>
              <a:t> las </a:t>
            </a:r>
            <a:r>
              <a:rPr dirty="0" err="1"/>
              <a:t>siguientes</a:t>
            </a:r>
            <a:r>
              <a:rPr dirty="0"/>
              <a:t> </a:t>
            </a:r>
            <a:r>
              <a:rPr dirty="0" err="1"/>
              <a:t>conclusiones</a:t>
            </a:r>
            <a:r>
              <a:rPr dirty="0"/>
              <a:t> </a:t>
            </a:r>
            <a:r>
              <a:rPr dirty="0" err="1"/>
              <a:t>científicas</a:t>
            </a:r>
            <a:r>
              <a:rPr dirty="0"/>
              <a:t> y </a:t>
            </a:r>
            <a:r>
              <a:rPr dirty="0" err="1"/>
              <a:t>operativas</a:t>
            </a:r>
            <a:r>
              <a:rPr dirty="0" smtClean="0"/>
              <a:t>:</a:t>
            </a:r>
            <a:endParaRPr dirty="0"/>
          </a:p>
          <a:p>
            <a:pPr>
              <a:spcAft>
                <a:spcPts val="700"/>
              </a:spcAft>
              <a:defRPr sz="1350" b="0">
                <a:solidFill>
                  <a:srgbClr val="232B32"/>
                </a:solidFill>
              </a:defRPr>
            </a:pPr>
            <a:r>
              <a:rPr b="1" dirty="0" err="1"/>
              <a:t>Validación</a:t>
            </a:r>
            <a:r>
              <a:rPr b="1" dirty="0"/>
              <a:t> Integral de la </a:t>
            </a:r>
            <a:r>
              <a:rPr b="1" dirty="0" err="1"/>
              <a:t>Arquitectura</a:t>
            </a:r>
            <a:r>
              <a:rPr b="1" dirty="0"/>
              <a:t> de </a:t>
            </a:r>
            <a:r>
              <a:rPr b="1" dirty="0" err="1"/>
              <a:t>Procesos</a:t>
            </a:r>
            <a:r>
              <a:rPr b="1" dirty="0"/>
              <a:t> (</a:t>
            </a:r>
            <a:r>
              <a:rPr b="1" dirty="0" err="1"/>
              <a:t>Bpm_n</a:t>
            </a:r>
            <a:r>
              <a:rPr b="1" dirty="0"/>
              <a:t> 2.0) y </a:t>
            </a:r>
            <a:r>
              <a:rPr b="1" dirty="0" err="1"/>
              <a:t>Contrastación</a:t>
            </a:r>
            <a:r>
              <a:rPr b="1" dirty="0"/>
              <a:t> </a:t>
            </a:r>
            <a:r>
              <a:rPr b="1" dirty="0" err="1"/>
              <a:t>Multiplataforma</a:t>
            </a:r>
            <a:r>
              <a:rPr b="1" dirty="0" smtClean="0"/>
              <a:t>:</a:t>
            </a:r>
            <a:endParaRPr dirty="0"/>
          </a:p>
          <a:p>
            <a:pPr>
              <a:spcAft>
                <a:spcPts val="700"/>
              </a:spcAft>
              <a:defRPr sz="1350" b="0">
                <a:solidFill>
                  <a:srgbClr val="232B32"/>
                </a:solidFill>
              </a:defRPr>
            </a:pPr>
            <a:r>
              <a:rPr dirty="0"/>
              <a:t>Se </a:t>
            </a:r>
            <a:r>
              <a:rPr dirty="0" err="1"/>
              <a:t>logró</a:t>
            </a:r>
            <a:r>
              <a:rPr dirty="0"/>
              <a:t> </a:t>
            </a:r>
            <a:r>
              <a:rPr dirty="0" err="1"/>
              <a:t>estructurar</a:t>
            </a:r>
            <a:r>
              <a:rPr dirty="0"/>
              <a:t>, </a:t>
            </a:r>
            <a:r>
              <a:rPr dirty="0" err="1"/>
              <a:t>modelar</a:t>
            </a:r>
            <a:r>
              <a:rPr dirty="0"/>
              <a:t> y </a:t>
            </a:r>
            <a:r>
              <a:rPr dirty="0" err="1"/>
              <a:t>simular</a:t>
            </a:r>
            <a:r>
              <a:rPr dirty="0"/>
              <a:t> con </a:t>
            </a:r>
            <a:r>
              <a:rPr dirty="0" err="1"/>
              <a:t>absoluta</a:t>
            </a:r>
            <a:r>
              <a:rPr dirty="0"/>
              <a:t> </a:t>
            </a:r>
            <a:r>
              <a:rPr dirty="0" err="1"/>
              <a:t>precisión</a:t>
            </a:r>
            <a:r>
              <a:rPr dirty="0"/>
              <a:t> el </a:t>
            </a:r>
            <a:r>
              <a:rPr dirty="0" err="1"/>
              <a:t>ciclo</a:t>
            </a:r>
            <a:r>
              <a:rPr dirty="0"/>
              <a:t> </a:t>
            </a:r>
            <a:r>
              <a:rPr dirty="0" err="1"/>
              <a:t>operativo</a:t>
            </a:r>
            <a:r>
              <a:rPr dirty="0"/>
              <a:t> integral de un taller de </a:t>
            </a:r>
            <a:r>
              <a:rPr dirty="0" err="1"/>
              <a:t>servicios</a:t>
            </a:r>
            <a:r>
              <a:rPr dirty="0"/>
              <a:t> y </a:t>
            </a:r>
            <a:r>
              <a:rPr dirty="0" err="1"/>
              <a:t>mantenimiento</a:t>
            </a:r>
            <a:r>
              <a:rPr dirty="0"/>
              <a:t> </a:t>
            </a:r>
            <a:r>
              <a:rPr dirty="0" err="1"/>
              <a:t>mecánico</a:t>
            </a:r>
            <a:r>
              <a:rPr dirty="0"/>
              <a:t> </a:t>
            </a:r>
            <a:r>
              <a:rPr dirty="0" err="1"/>
              <a:t>mediante</a:t>
            </a:r>
            <a:r>
              <a:rPr dirty="0"/>
              <a:t> el </a:t>
            </a:r>
            <a:r>
              <a:rPr dirty="0" err="1"/>
              <a:t>uso</a:t>
            </a:r>
            <a:r>
              <a:rPr dirty="0"/>
              <a:t> </a:t>
            </a:r>
            <a:r>
              <a:rPr dirty="0" err="1"/>
              <a:t>estricto</a:t>
            </a:r>
            <a:r>
              <a:rPr dirty="0"/>
              <a:t> de la </a:t>
            </a:r>
            <a:r>
              <a:rPr dirty="0" err="1"/>
              <a:t>notación</a:t>
            </a:r>
            <a:r>
              <a:rPr dirty="0"/>
              <a:t> </a:t>
            </a:r>
            <a:r>
              <a:rPr dirty="0" err="1"/>
              <a:t>estándar</a:t>
            </a:r>
            <a:r>
              <a:rPr dirty="0"/>
              <a:t> BPMN 2.0. La </a:t>
            </a:r>
            <a:r>
              <a:rPr dirty="0" err="1"/>
              <a:t>implementación</a:t>
            </a:r>
            <a:r>
              <a:rPr dirty="0"/>
              <a:t> </a:t>
            </a:r>
            <a:r>
              <a:rPr dirty="0" err="1"/>
              <a:t>simultánea</a:t>
            </a:r>
            <a:r>
              <a:rPr dirty="0"/>
              <a:t> y </a:t>
            </a:r>
            <a:r>
              <a:rPr dirty="0" err="1"/>
              <a:t>comparativa</a:t>
            </a:r>
            <a:r>
              <a:rPr dirty="0"/>
              <a:t> </a:t>
            </a:r>
            <a:r>
              <a:rPr dirty="0" err="1"/>
              <a:t>en</a:t>
            </a:r>
            <a:r>
              <a:rPr dirty="0"/>
              <a:t> </a:t>
            </a:r>
            <a:r>
              <a:rPr dirty="0" err="1"/>
              <a:t>tres</a:t>
            </a:r>
            <a:r>
              <a:rPr dirty="0"/>
              <a:t> de las </a:t>
            </a:r>
            <a:r>
              <a:rPr dirty="0" err="1"/>
              <a:t>plataformas</a:t>
            </a:r>
            <a:r>
              <a:rPr dirty="0"/>
              <a:t> </a:t>
            </a:r>
            <a:r>
              <a:rPr dirty="0" err="1"/>
              <a:t>tecnológicas</a:t>
            </a:r>
            <a:r>
              <a:rPr dirty="0"/>
              <a:t> </a:t>
            </a:r>
            <a:r>
              <a:rPr dirty="0" err="1"/>
              <a:t>líderes</a:t>
            </a:r>
            <a:r>
              <a:rPr dirty="0"/>
              <a:t> de la </a:t>
            </a:r>
            <a:r>
              <a:rPr dirty="0" err="1"/>
              <a:t>industria</a:t>
            </a:r>
            <a:r>
              <a:rPr dirty="0"/>
              <a:t> —</a:t>
            </a:r>
            <a:r>
              <a:rPr dirty="0" err="1"/>
              <a:t>Bizagi</a:t>
            </a:r>
            <a:r>
              <a:rPr dirty="0"/>
              <a:t> Modeler, </a:t>
            </a:r>
            <a:r>
              <a:rPr dirty="0" err="1"/>
              <a:t>Camunda</a:t>
            </a:r>
            <a:r>
              <a:rPr dirty="0"/>
              <a:t> Modeler y Bonita Studio— </a:t>
            </a:r>
            <a:r>
              <a:rPr dirty="0" err="1"/>
              <a:t>permitió</a:t>
            </a:r>
            <a:r>
              <a:rPr dirty="0"/>
              <a:t> </a:t>
            </a:r>
            <a:r>
              <a:rPr dirty="0" err="1"/>
              <a:t>desentrañar</a:t>
            </a:r>
            <a:r>
              <a:rPr dirty="0"/>
              <a:t> </a:t>
            </a:r>
            <a:r>
              <a:rPr dirty="0" err="1"/>
              <a:t>empíricamente</a:t>
            </a:r>
            <a:r>
              <a:rPr dirty="0"/>
              <a:t> las </a:t>
            </a:r>
            <a:r>
              <a:rPr dirty="0" err="1"/>
              <a:t>fortalezas</a:t>
            </a:r>
            <a:r>
              <a:rPr dirty="0"/>
              <a:t> y </a:t>
            </a:r>
            <a:r>
              <a:rPr dirty="0" err="1"/>
              <a:t>restricciones</a:t>
            </a:r>
            <a:r>
              <a:rPr dirty="0"/>
              <a:t> </a:t>
            </a:r>
            <a:r>
              <a:rPr dirty="0" err="1"/>
              <a:t>arquitectónicas</a:t>
            </a:r>
            <a:r>
              <a:rPr dirty="0"/>
              <a:t> de </a:t>
            </a:r>
            <a:r>
              <a:rPr dirty="0" err="1"/>
              <a:t>cada</a:t>
            </a:r>
            <a:r>
              <a:rPr dirty="0"/>
              <a:t> </a:t>
            </a:r>
            <a:r>
              <a:rPr dirty="0" err="1"/>
              <a:t>entorno</a:t>
            </a:r>
            <a:r>
              <a:rPr dirty="0" smtClean="0"/>
              <a:t>:</a:t>
            </a:r>
            <a:endParaRPr dirty="0"/>
          </a:p>
          <a:p>
            <a:pPr>
              <a:spcAft>
                <a:spcPts val="700"/>
              </a:spcAft>
              <a:defRPr sz="1350" b="0">
                <a:solidFill>
                  <a:srgbClr val="232B32"/>
                </a:solidFill>
              </a:defRPr>
            </a:pPr>
            <a:r>
              <a:rPr b="1" dirty="0" err="1"/>
              <a:t>Bizagi</a:t>
            </a:r>
            <a:r>
              <a:rPr b="1" dirty="0"/>
              <a:t> Modeler </a:t>
            </a:r>
            <a:r>
              <a:rPr dirty="0" err="1"/>
              <a:t>demostró</a:t>
            </a:r>
            <a:r>
              <a:rPr dirty="0"/>
              <a:t> </a:t>
            </a:r>
            <a:r>
              <a:rPr dirty="0" err="1"/>
              <a:t>ser</a:t>
            </a:r>
            <a:r>
              <a:rPr dirty="0"/>
              <a:t> </a:t>
            </a:r>
            <a:r>
              <a:rPr dirty="0" err="1"/>
              <a:t>una</a:t>
            </a:r>
            <a:r>
              <a:rPr dirty="0"/>
              <a:t> </a:t>
            </a:r>
            <a:r>
              <a:rPr dirty="0" err="1"/>
              <a:t>herramienta</a:t>
            </a:r>
            <a:r>
              <a:rPr dirty="0"/>
              <a:t> </a:t>
            </a:r>
            <a:r>
              <a:rPr dirty="0" err="1"/>
              <a:t>altamente</a:t>
            </a:r>
            <a:r>
              <a:rPr dirty="0"/>
              <a:t> </a:t>
            </a:r>
            <a:r>
              <a:rPr dirty="0" err="1"/>
              <a:t>eficiente</a:t>
            </a:r>
            <a:r>
              <a:rPr dirty="0"/>
              <a:t> para la </a:t>
            </a:r>
            <a:r>
              <a:rPr dirty="0" err="1"/>
              <a:t>documentación</a:t>
            </a:r>
            <a:r>
              <a:rPr dirty="0"/>
              <a:t> </a:t>
            </a:r>
            <a:r>
              <a:rPr dirty="0" err="1"/>
              <a:t>gerencial</a:t>
            </a:r>
            <a:r>
              <a:rPr dirty="0"/>
              <a:t> </a:t>
            </a:r>
            <a:r>
              <a:rPr dirty="0" err="1"/>
              <a:t>rápida</a:t>
            </a:r>
            <a:r>
              <a:rPr dirty="0"/>
              <a:t>, la </a:t>
            </a:r>
            <a:r>
              <a:rPr dirty="0" err="1"/>
              <a:t>estructuración</a:t>
            </a:r>
            <a:r>
              <a:rPr dirty="0"/>
              <a:t> visual </a:t>
            </a:r>
            <a:r>
              <a:rPr dirty="0" err="1"/>
              <a:t>colaborativa</a:t>
            </a:r>
            <a:r>
              <a:rPr dirty="0"/>
              <a:t> y el </a:t>
            </a:r>
            <a:r>
              <a:rPr dirty="0" err="1"/>
              <a:t>análisis</a:t>
            </a:r>
            <a:r>
              <a:rPr dirty="0"/>
              <a:t> </a:t>
            </a:r>
            <a:r>
              <a:rPr dirty="0" err="1"/>
              <a:t>preliminar</a:t>
            </a:r>
            <a:r>
              <a:rPr dirty="0"/>
              <a:t> de </a:t>
            </a:r>
            <a:r>
              <a:rPr dirty="0" err="1"/>
              <a:t>costos</a:t>
            </a:r>
            <a:r>
              <a:rPr dirty="0"/>
              <a:t> </a:t>
            </a:r>
            <a:r>
              <a:rPr dirty="0" err="1"/>
              <a:t>operativos</a:t>
            </a:r>
            <a:r>
              <a:rPr dirty="0"/>
              <a:t> </a:t>
            </a:r>
            <a:r>
              <a:rPr dirty="0" err="1"/>
              <a:t>unitarios</a:t>
            </a:r>
            <a:r>
              <a:rPr dirty="0"/>
              <a:t> y </a:t>
            </a:r>
            <a:r>
              <a:rPr dirty="0" err="1"/>
              <a:t>asignación</a:t>
            </a:r>
            <a:r>
              <a:rPr dirty="0"/>
              <a:t> general de </a:t>
            </a:r>
            <a:r>
              <a:rPr dirty="0" err="1"/>
              <a:t>recursos</a:t>
            </a:r>
            <a:r>
              <a:rPr dirty="0" smtClean="0"/>
              <a:t>.</a:t>
            </a:r>
            <a:endParaRPr dirty="0"/>
          </a:p>
          <a:p>
            <a:pPr>
              <a:spcAft>
                <a:spcPts val="700"/>
              </a:spcAft>
              <a:defRPr sz="1350" b="0">
                <a:solidFill>
                  <a:srgbClr val="232B32"/>
                </a:solidFill>
              </a:defRPr>
            </a:pPr>
            <a:r>
              <a:rPr b="1" dirty="0" err="1"/>
              <a:t>Camunda</a:t>
            </a:r>
            <a:r>
              <a:rPr b="1" dirty="0"/>
              <a:t> Modeler </a:t>
            </a:r>
            <a:r>
              <a:rPr dirty="0" err="1"/>
              <a:t>aportó</a:t>
            </a:r>
            <a:r>
              <a:rPr dirty="0"/>
              <a:t> un valor </a:t>
            </a:r>
            <a:r>
              <a:rPr dirty="0" err="1"/>
              <a:t>metodológico</a:t>
            </a:r>
            <a:r>
              <a:rPr dirty="0"/>
              <a:t> </a:t>
            </a:r>
            <a:r>
              <a:rPr dirty="0" err="1"/>
              <a:t>crítico</a:t>
            </a:r>
            <a:r>
              <a:rPr dirty="0"/>
              <a:t> al </a:t>
            </a:r>
            <a:r>
              <a:rPr dirty="0" err="1"/>
              <a:t>garantizar</a:t>
            </a:r>
            <a:r>
              <a:rPr dirty="0"/>
              <a:t> </a:t>
            </a:r>
            <a:r>
              <a:rPr dirty="0" err="1"/>
              <a:t>una</a:t>
            </a:r>
            <a:r>
              <a:rPr dirty="0"/>
              <a:t> </a:t>
            </a:r>
            <a:r>
              <a:rPr dirty="0" err="1"/>
              <a:t>rigurosidad</a:t>
            </a:r>
            <a:r>
              <a:rPr dirty="0"/>
              <a:t> </a:t>
            </a:r>
            <a:r>
              <a:rPr dirty="0" err="1"/>
              <a:t>sintáctica</a:t>
            </a:r>
            <a:r>
              <a:rPr dirty="0"/>
              <a:t> </a:t>
            </a:r>
            <a:r>
              <a:rPr dirty="0" err="1"/>
              <a:t>absoluta</a:t>
            </a:r>
            <a:r>
              <a:rPr dirty="0"/>
              <a:t> </a:t>
            </a:r>
            <a:r>
              <a:rPr dirty="0" err="1"/>
              <a:t>en</a:t>
            </a:r>
            <a:r>
              <a:rPr dirty="0"/>
              <a:t> el </a:t>
            </a:r>
            <a:r>
              <a:rPr dirty="0" err="1"/>
              <a:t>manejo</a:t>
            </a:r>
            <a:r>
              <a:rPr dirty="0"/>
              <a:t> de </a:t>
            </a:r>
            <a:r>
              <a:rPr dirty="0" err="1"/>
              <a:t>compuertas</a:t>
            </a:r>
            <a:r>
              <a:rPr dirty="0"/>
              <a:t> </a:t>
            </a:r>
            <a:r>
              <a:rPr dirty="0" err="1"/>
              <a:t>lógicas</a:t>
            </a:r>
            <a:r>
              <a:rPr dirty="0"/>
              <a:t> (</a:t>
            </a:r>
            <a:r>
              <a:rPr dirty="0" err="1"/>
              <a:t>exclusivas</a:t>
            </a:r>
            <a:r>
              <a:rPr dirty="0"/>
              <a:t>, </a:t>
            </a:r>
            <a:r>
              <a:rPr dirty="0" err="1"/>
              <a:t>paralelas</a:t>
            </a:r>
            <a:r>
              <a:rPr dirty="0"/>
              <a:t> e </a:t>
            </a:r>
            <a:r>
              <a:rPr dirty="0" err="1"/>
              <a:t>inclusivas</a:t>
            </a:r>
            <a:r>
              <a:rPr dirty="0"/>
              <a:t>) y al </a:t>
            </a:r>
            <a:r>
              <a:rPr dirty="0" err="1"/>
              <a:t>permitir</a:t>
            </a:r>
            <a:r>
              <a:rPr dirty="0"/>
              <a:t> la </a:t>
            </a:r>
            <a:r>
              <a:rPr dirty="0" err="1"/>
              <a:t>validación</a:t>
            </a:r>
            <a:r>
              <a:rPr dirty="0"/>
              <a:t> </a:t>
            </a:r>
            <a:r>
              <a:rPr dirty="0" err="1"/>
              <a:t>interactiva</a:t>
            </a:r>
            <a:r>
              <a:rPr dirty="0"/>
              <a:t> de las </a:t>
            </a:r>
            <a:r>
              <a:rPr dirty="0" err="1"/>
              <a:t>rutas</a:t>
            </a:r>
            <a:r>
              <a:rPr dirty="0"/>
              <a:t> </a:t>
            </a:r>
            <a:r>
              <a:rPr dirty="0" err="1"/>
              <a:t>operativas</a:t>
            </a:r>
            <a:r>
              <a:rPr dirty="0"/>
              <a:t> </a:t>
            </a:r>
            <a:r>
              <a:rPr dirty="0" err="1"/>
              <a:t>mediante</a:t>
            </a:r>
            <a:r>
              <a:rPr dirty="0"/>
              <a:t> la </a:t>
            </a:r>
            <a:r>
              <a:rPr dirty="0" err="1"/>
              <a:t>simulación</a:t>
            </a:r>
            <a:r>
              <a:rPr dirty="0"/>
              <a:t> de tokens, </a:t>
            </a:r>
            <a:r>
              <a:rPr dirty="0" err="1"/>
              <a:t>previniendo</a:t>
            </a:r>
            <a:r>
              <a:rPr dirty="0"/>
              <a:t> </a:t>
            </a:r>
            <a:r>
              <a:rPr dirty="0" err="1"/>
              <a:t>eficazmente</a:t>
            </a:r>
            <a:r>
              <a:rPr dirty="0"/>
              <a:t> la </a:t>
            </a:r>
            <a:r>
              <a:rPr dirty="0" err="1"/>
              <a:t>aparición</a:t>
            </a:r>
            <a:r>
              <a:rPr dirty="0"/>
              <a:t> de </a:t>
            </a:r>
            <a:r>
              <a:rPr dirty="0" err="1"/>
              <a:t>interbloqueos</a:t>
            </a:r>
            <a:r>
              <a:rPr dirty="0"/>
              <a:t> </a:t>
            </a:r>
            <a:r>
              <a:rPr dirty="0" err="1"/>
              <a:t>lógicos</a:t>
            </a:r>
            <a:r>
              <a:rPr dirty="0"/>
              <a:t> (deadlocks).</a:t>
            </a:r>
          </a:p>
          <a:p>
            <a:pPr>
              <a:spcAft>
                <a:spcPts val="700"/>
              </a:spcAft>
              <a:defRPr sz="1350" b="0">
                <a:solidFill>
                  <a:srgbClr val="232B32"/>
                </a:solidFill>
              </a:defRPr>
            </a:pPr>
            <a:endParaRPr dirty="0"/>
          </a:p>
          <a:p>
            <a:pPr>
              <a:spcAft>
                <a:spcPts val="700"/>
              </a:spcAft>
              <a:defRPr sz="1350" b="0">
                <a:solidFill>
                  <a:srgbClr val="232B32"/>
                </a:solidFill>
              </a:defRPr>
            </a:pPr>
            <a:r>
              <a:rPr b="1" dirty="0"/>
              <a:t>Bonita Studio </a:t>
            </a:r>
            <a:r>
              <a:rPr dirty="0" err="1"/>
              <a:t>destacó</a:t>
            </a:r>
            <a:r>
              <a:rPr dirty="0"/>
              <a:t> </a:t>
            </a:r>
            <a:r>
              <a:rPr dirty="0" err="1"/>
              <a:t>por</a:t>
            </a:r>
            <a:r>
              <a:rPr dirty="0"/>
              <a:t> </a:t>
            </a:r>
            <a:r>
              <a:rPr dirty="0" err="1"/>
              <a:t>su</a:t>
            </a:r>
            <a:r>
              <a:rPr dirty="0"/>
              <a:t> </a:t>
            </a:r>
            <a:r>
              <a:rPr dirty="0" err="1"/>
              <a:t>capacidad</a:t>
            </a:r>
            <a:r>
              <a:rPr dirty="0"/>
              <a:t> </a:t>
            </a:r>
            <a:r>
              <a:rPr dirty="0" err="1"/>
              <a:t>avanzada</a:t>
            </a:r>
            <a:r>
              <a:rPr dirty="0"/>
              <a:t> para </a:t>
            </a:r>
            <a:r>
              <a:rPr dirty="0" err="1"/>
              <a:t>vincular</a:t>
            </a:r>
            <a:r>
              <a:rPr dirty="0"/>
              <a:t> el </a:t>
            </a:r>
            <a:r>
              <a:rPr dirty="0" err="1"/>
              <a:t>diseño</a:t>
            </a:r>
            <a:r>
              <a:rPr dirty="0"/>
              <a:t> </a:t>
            </a:r>
            <a:r>
              <a:rPr dirty="0" err="1"/>
              <a:t>gráfico</a:t>
            </a:r>
            <a:r>
              <a:rPr dirty="0"/>
              <a:t> de </a:t>
            </a:r>
            <a:r>
              <a:rPr dirty="0" err="1"/>
              <a:t>procesos</a:t>
            </a:r>
            <a:r>
              <a:rPr dirty="0"/>
              <a:t> con </a:t>
            </a:r>
            <a:r>
              <a:rPr dirty="0" err="1"/>
              <a:t>arquitecturas</a:t>
            </a:r>
            <a:r>
              <a:rPr dirty="0"/>
              <a:t> de </a:t>
            </a:r>
            <a:r>
              <a:rPr dirty="0" err="1"/>
              <a:t>tipo</a:t>
            </a:r>
            <a:r>
              <a:rPr dirty="0"/>
              <a:t> Low-Code, </a:t>
            </a:r>
            <a:r>
              <a:rPr dirty="0" err="1"/>
              <a:t>facilitando</a:t>
            </a:r>
            <a:r>
              <a:rPr dirty="0"/>
              <a:t> la </a:t>
            </a:r>
            <a:r>
              <a:rPr dirty="0" err="1"/>
              <a:t>estructuración</a:t>
            </a:r>
            <a:r>
              <a:rPr dirty="0"/>
              <a:t> de </a:t>
            </a:r>
            <a:r>
              <a:rPr dirty="0" err="1"/>
              <a:t>contratos</a:t>
            </a:r>
            <a:r>
              <a:rPr dirty="0"/>
              <a:t> de </a:t>
            </a:r>
            <a:r>
              <a:rPr dirty="0" err="1"/>
              <a:t>datos</a:t>
            </a:r>
            <a:r>
              <a:rPr dirty="0"/>
              <a:t>, variables de </a:t>
            </a:r>
            <a:r>
              <a:rPr dirty="0" err="1"/>
              <a:t>negocio</a:t>
            </a:r>
            <a:r>
              <a:rPr dirty="0"/>
              <a:t> e interfaces </a:t>
            </a:r>
            <a:r>
              <a:rPr dirty="0" err="1"/>
              <a:t>funcionales</a:t>
            </a:r>
            <a:r>
              <a:rPr dirty="0" smtClean="0"/>
              <a:t>.</a:t>
            </a:r>
            <a:endParaRPr dirty="0"/>
          </a:p>
          <a:p>
            <a:pPr>
              <a:spcAft>
                <a:spcPts val="700"/>
              </a:spcAft>
              <a:defRPr sz="1350" b="0">
                <a:solidFill>
                  <a:srgbClr val="232B32"/>
                </a:solidFill>
              </a:defRPr>
            </a:pPr>
            <a:r>
              <a:rPr dirty="0" err="1"/>
              <a:t>Esta</a:t>
            </a:r>
            <a:r>
              <a:rPr dirty="0"/>
              <a:t> </a:t>
            </a:r>
            <a:r>
              <a:rPr dirty="0" err="1"/>
              <a:t>evaluación</a:t>
            </a:r>
            <a:r>
              <a:rPr dirty="0"/>
              <a:t> </a:t>
            </a:r>
            <a:r>
              <a:rPr dirty="0" err="1"/>
              <a:t>comparativa</a:t>
            </a:r>
            <a:r>
              <a:rPr dirty="0"/>
              <a:t> </a:t>
            </a:r>
            <a:r>
              <a:rPr dirty="0" err="1"/>
              <a:t>multicriterio</a:t>
            </a:r>
            <a:r>
              <a:rPr dirty="0"/>
              <a:t> </a:t>
            </a:r>
            <a:r>
              <a:rPr dirty="0" err="1"/>
              <a:t>dota</a:t>
            </a:r>
            <a:r>
              <a:rPr dirty="0"/>
              <a:t> al </a:t>
            </a:r>
            <a:r>
              <a:rPr dirty="0" err="1"/>
              <a:t>proyecto</a:t>
            </a:r>
            <a:r>
              <a:rPr dirty="0"/>
              <a:t> de </a:t>
            </a:r>
            <a:r>
              <a:rPr dirty="0" err="1"/>
              <a:t>una</a:t>
            </a:r>
            <a:r>
              <a:rPr dirty="0"/>
              <a:t> </a:t>
            </a:r>
            <a:r>
              <a:rPr dirty="0" err="1"/>
              <a:t>perspectiva</a:t>
            </a:r>
            <a:r>
              <a:rPr dirty="0"/>
              <a:t> </a:t>
            </a:r>
            <a:r>
              <a:rPr dirty="0" err="1"/>
              <a:t>analítica</a:t>
            </a:r>
            <a:r>
              <a:rPr dirty="0"/>
              <a:t> </a:t>
            </a:r>
            <a:r>
              <a:rPr dirty="0" err="1"/>
              <a:t>madura</a:t>
            </a:r>
            <a:r>
              <a:rPr dirty="0"/>
              <a:t> </a:t>
            </a:r>
            <a:r>
              <a:rPr dirty="0" err="1"/>
              <a:t>sobre</a:t>
            </a:r>
            <a:r>
              <a:rPr dirty="0"/>
              <a:t> la </a:t>
            </a:r>
            <a:r>
              <a:rPr dirty="0" err="1"/>
              <a:t>selección</a:t>
            </a:r>
            <a:r>
              <a:rPr dirty="0"/>
              <a:t> y </a:t>
            </a:r>
            <a:r>
              <a:rPr dirty="0" err="1"/>
              <a:t>adopción</a:t>
            </a:r>
            <a:r>
              <a:rPr dirty="0"/>
              <a:t> de </a:t>
            </a:r>
            <a:r>
              <a:rPr dirty="0" err="1"/>
              <a:t>tecnologías</a:t>
            </a:r>
            <a:r>
              <a:rPr dirty="0"/>
              <a:t> de </a:t>
            </a:r>
            <a:r>
              <a:rPr dirty="0" err="1"/>
              <a:t>modelado</a:t>
            </a:r>
            <a:r>
              <a:rPr dirty="0"/>
              <a:t> </a:t>
            </a:r>
            <a:r>
              <a:rPr dirty="0" err="1"/>
              <a:t>en</a:t>
            </a:r>
            <a:r>
              <a:rPr dirty="0"/>
              <a:t> </a:t>
            </a:r>
            <a:r>
              <a:rPr dirty="0" err="1"/>
              <a:t>entornos</a:t>
            </a:r>
            <a:r>
              <a:rPr dirty="0"/>
              <a:t> </a:t>
            </a:r>
            <a:r>
              <a:rPr dirty="0" err="1"/>
              <a:t>corporativos</a:t>
            </a:r>
            <a:r>
              <a:rPr dirty="0"/>
              <a:t> </a:t>
            </a:r>
            <a:r>
              <a:rPr dirty="0" err="1"/>
              <a:t>reales</a:t>
            </a:r>
            <a:r>
              <a:rPr dirty="0"/>
              <a:t>.</a:t>
            </a:r>
          </a:p>
          <a:p>
            <a:pPr>
              <a:spcAft>
                <a:spcPts val="700"/>
              </a:spcAft>
              <a:defRPr sz="1350" b="0">
                <a:solidFill>
                  <a:srgbClr val="232B32"/>
                </a:solidFill>
              </a:defRPr>
            </a:pPr>
            <a:endParaRPr dirty="0"/>
          </a:p>
          <a:p>
            <a:pPr>
              <a:spcAft>
                <a:spcPts val="700"/>
              </a:spcAft>
              <a:defRPr sz="1350" b="0">
                <a:solidFill>
                  <a:srgbClr val="232B32"/>
                </a:solidFill>
              </a:defRPr>
            </a:pPr>
            <a:r>
              <a:rPr dirty="0"/>
              <a:t>Rigor </a:t>
            </a:r>
            <a:r>
              <a:rPr dirty="0" err="1"/>
              <a:t>Cuantitativo</a:t>
            </a:r>
            <a:r>
              <a:rPr dirty="0"/>
              <a:t> y </a:t>
            </a:r>
            <a:r>
              <a:rPr dirty="0" err="1"/>
              <a:t>Eficacia</a:t>
            </a:r>
            <a:r>
              <a:rPr dirty="0"/>
              <a:t> del Motor de </a:t>
            </a:r>
            <a:r>
              <a:rPr dirty="0" err="1"/>
              <a:t>Simulación</a:t>
            </a:r>
            <a:r>
              <a:rPr dirty="0"/>
              <a:t> Multi-</a:t>
            </a:r>
            <a:r>
              <a:rPr dirty="0" err="1"/>
              <a:t>Lenguaje</a:t>
            </a:r>
            <a:r>
              <a:rPr dirty="0"/>
              <a:t> (IntelliJ IDEA: Python + R):</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996437" y="274320"/>
            <a:ext cx="8168646" cy="477054"/>
          </a:xfrm>
          <a:prstGeom prst="rect">
            <a:avLst/>
          </a:prstGeom>
          <a:noFill/>
        </p:spPr>
        <p:txBody>
          <a:bodyPr wrap="none">
            <a:spAutoFit/>
          </a:bodyPr>
          <a:lstStyle/>
          <a:p>
            <a:pPr algn="ctr">
              <a:defRPr sz="2500" b="1">
                <a:solidFill>
                  <a:srgbClr val="123048"/>
                </a:solidFill>
              </a:defRPr>
            </a:pPr>
            <a:r>
              <a:rPr dirty="0"/>
              <a:t>6.1 </a:t>
            </a:r>
            <a:r>
              <a:rPr dirty="0" err="1"/>
              <a:t>Conclusiones</a:t>
            </a:r>
            <a:r>
              <a:rPr dirty="0"/>
              <a:t> </a:t>
            </a:r>
            <a:r>
              <a:rPr dirty="0" err="1"/>
              <a:t>Generales</a:t>
            </a:r>
            <a:r>
              <a:rPr dirty="0"/>
              <a:t> y </a:t>
            </a:r>
            <a:r>
              <a:rPr dirty="0" err="1"/>
              <a:t>Sintetizadas</a:t>
            </a:r>
            <a:r>
              <a:rPr dirty="0"/>
              <a:t> del Proyecto (2/3)</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6: CONCLUSIONES Y TRABAJOS FUTUROS</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350" b="0">
                <a:solidFill>
                  <a:srgbClr val="232B32"/>
                </a:solidFill>
              </a:defRPr>
            </a:pPr>
            <a:r>
              <a:t>El diseño, codificación y ejecución del motor de simulación de eventos discretos dentro del entorno de desarrollo integrado IntelliJ IDEA demostró de manera categórica que la interoperabilidad híbrida entre Python (como núcleo lógico, orquestador de estructuras y gestor del reloj de simulación) y R (como co-procesador estadístico especializado) resuelve con éxito las limitaciones analíticas inherentes a las herramientas gráficas de simulación nativas. La generación controlada de variables aleatorias continuas y discretas —implementando distribuciones de Poisson para los flujos de llegada y distribuciones exponenciales y normales para la duración de las intervenciones mecánicas— dotó al estudio de la precisión matemática y la robustez cuantitativa indispensables para modelar la incertidumbre operativa de un sistema industrial real sin sesgos subjetivos.</a:t>
            </a:r>
          </a:p>
          <a:p>
            <a:pPr>
              <a:spcAft>
                <a:spcPts val="700"/>
              </a:spcAft>
              <a:defRPr sz="1350" b="0">
                <a:solidFill>
                  <a:srgbClr val="232B32"/>
                </a:solidFill>
              </a:defRPr>
            </a:pPr>
            <a:endParaRPr/>
          </a:p>
          <a:p>
            <a:pPr>
              <a:spcAft>
                <a:spcPts val="700"/>
              </a:spcAft>
              <a:defRPr sz="1350" b="0">
                <a:solidFill>
                  <a:srgbClr val="232B32"/>
                </a:solidFill>
              </a:defRPr>
            </a:pPr>
            <a:r>
              <a:t>Hallazgos Estratégicos sobre el Comportamiento Operativo y Cuellos de Botella Estructurales:</a:t>
            </a:r>
          </a:p>
          <a:p>
            <a:pPr>
              <a:spcAft>
                <a:spcPts val="700"/>
              </a:spcAft>
              <a:defRPr sz="1350" b="0">
                <a:solidFill>
                  <a:srgbClr val="232B32"/>
                </a:solidFill>
              </a:defRPr>
            </a:pPr>
            <a:endParaRPr/>
          </a:p>
          <a:p>
            <a:pPr>
              <a:spcAft>
                <a:spcPts val="700"/>
              </a:spcAft>
              <a:defRPr sz="1350" b="0">
                <a:solidFill>
                  <a:srgbClr val="232B32"/>
                </a:solidFill>
              </a:defRPr>
            </a:pPr>
            <a:r>
              <a:t>Las corridas estocásticas masivas y el procesamiento de los vectores de rendimiento revelaron que el personal técnico del taller opera bajo intervalos de utilización sumamente elevados y exigentes, oscilando entre el 85% y el 92% de ocupación efectiva durante las ventanas horarias pico. Sin embargo, el hallazgo más trascendental del estudio —derivado de la correlación cruzada entre los diagramas BPMN y las salidas numéricas del motor en IntelliJ IDEA— consistió en derribar la premisa empírica inicial que presuponía que el retraso principal del taller ocurría en la ejecución física de las reparaciones mecánicas complejas. Los datos demostraron de forma irrefutable que los verdaderos cuellos de botella del sistema se concentran en factores de naturaleza administrativa y logística:</a:t>
            </a:r>
          </a:p>
          <a:p>
            <a:pPr>
              <a:spcAft>
                <a:spcPts val="700"/>
              </a:spcAft>
              <a:defRPr sz="1350" b="0">
                <a:solidFill>
                  <a:srgbClr val="232B32"/>
                </a:solidFill>
              </a:defRPr>
            </a:pPr>
            <a:endParaRPr/>
          </a:p>
          <a:p>
            <a:pPr>
              <a:spcAft>
                <a:spcPts val="700"/>
              </a:spcAft>
              <a:defRPr sz="1350" b="0">
                <a:solidFill>
                  <a:srgbClr val="232B32"/>
                </a:solidFill>
              </a:defRPr>
            </a:pPr>
            <a:r>
              <a:t>Los tiempos muertos en la validación, autorización y presupuesto con el cliente, donde la inmovilización de las unidades en áreas de tránsito temporal colapsa la capacidad espacial del taller mientras se espera una respuesta institucional.</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996437" y="274320"/>
            <a:ext cx="8168646" cy="477054"/>
          </a:xfrm>
          <a:prstGeom prst="rect">
            <a:avLst/>
          </a:prstGeom>
          <a:noFill/>
        </p:spPr>
        <p:txBody>
          <a:bodyPr wrap="none">
            <a:spAutoFit/>
          </a:bodyPr>
          <a:lstStyle/>
          <a:p>
            <a:pPr algn="ctr">
              <a:defRPr sz="2500" b="1">
                <a:solidFill>
                  <a:srgbClr val="123048"/>
                </a:solidFill>
              </a:defRPr>
            </a:pPr>
            <a:r>
              <a:rPr dirty="0"/>
              <a:t>6.1 </a:t>
            </a:r>
            <a:r>
              <a:rPr dirty="0" err="1"/>
              <a:t>Conclusiones</a:t>
            </a:r>
            <a:r>
              <a:rPr dirty="0"/>
              <a:t> </a:t>
            </a:r>
            <a:r>
              <a:rPr dirty="0" err="1"/>
              <a:t>Generales</a:t>
            </a:r>
            <a:r>
              <a:rPr dirty="0"/>
              <a:t> y </a:t>
            </a:r>
            <a:r>
              <a:rPr dirty="0" err="1"/>
              <a:t>Sintetizadas</a:t>
            </a:r>
            <a:r>
              <a:rPr dirty="0"/>
              <a:t> del Proyecto (3/3)</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6: CONCLUSIONES Y TRABAJOS FUTUROS</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La dependencia sincrónica en el suministro y abastecimiento de refacciones desde el almacén, evidenciando que una falla en la cadena logísticas interna paraliza de inmediato el rendimiento de las bahías de trabajo.</a:t>
            </a:r>
          </a:p>
          <a:p>
            <a:pPr>
              <a:spcAft>
                <a:spcPts val="700"/>
              </a:spcAft>
              <a:defRPr sz="1500" b="0">
                <a:solidFill>
                  <a:srgbClr val="232B32"/>
                </a:solidFill>
              </a:defRPr>
            </a:pPr>
            <a:endParaRPr/>
          </a:p>
          <a:p>
            <a:pPr>
              <a:spcAft>
                <a:spcPts val="700"/>
              </a:spcAft>
              <a:defRPr sz="1500" b="0">
                <a:solidFill>
                  <a:srgbClr val="232B32"/>
                </a:solidFill>
              </a:defRPr>
            </a:pPr>
            <a:r>
              <a:t>Este descubrimiento constituye un insumo directivo de alto valor estratégico para la toma de decisiones gerenciales orientadas a la reingeniería y optimización de procesos.</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995795" y="274320"/>
            <a:ext cx="8169929" cy="477054"/>
          </a:xfrm>
          <a:prstGeom prst="rect">
            <a:avLst/>
          </a:prstGeom>
          <a:noFill/>
        </p:spPr>
        <p:txBody>
          <a:bodyPr wrap="none">
            <a:spAutoFit/>
          </a:bodyPr>
          <a:lstStyle/>
          <a:p>
            <a:pPr algn="ctr">
              <a:defRPr sz="2500" b="1">
                <a:solidFill>
                  <a:srgbClr val="123048"/>
                </a:solidFill>
              </a:defRPr>
            </a:pPr>
            <a:r>
              <a:rPr dirty="0"/>
              <a:t>6.2 </a:t>
            </a:r>
            <a:r>
              <a:rPr dirty="0" err="1"/>
              <a:t>Trabajos</a:t>
            </a:r>
            <a:r>
              <a:rPr dirty="0"/>
              <a:t> </a:t>
            </a:r>
            <a:r>
              <a:rPr dirty="0" err="1"/>
              <a:t>Futuros</a:t>
            </a:r>
            <a:r>
              <a:rPr dirty="0"/>
              <a:t> y </a:t>
            </a:r>
            <a:r>
              <a:rPr dirty="0" err="1"/>
              <a:t>Líneas</a:t>
            </a:r>
            <a:r>
              <a:rPr dirty="0"/>
              <a:t> de </a:t>
            </a:r>
            <a:r>
              <a:rPr dirty="0" err="1"/>
              <a:t>Investigación</a:t>
            </a:r>
            <a:r>
              <a:rPr dirty="0"/>
              <a:t> </a:t>
            </a:r>
            <a:r>
              <a:rPr dirty="0" err="1"/>
              <a:t>Aplicada</a:t>
            </a:r>
            <a:r>
              <a:rPr dirty="0"/>
              <a:t> (1/2)</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6: CONCLUSIONES Y TRABAJOS FUTUROS</a:t>
            </a:r>
          </a:p>
        </p:txBody>
      </p:sp>
      <p:sp>
        <p:nvSpPr>
          <p:cNvPr id="6" name="TextBox 5"/>
          <p:cNvSpPr txBox="1"/>
          <p:nvPr/>
        </p:nvSpPr>
        <p:spPr>
          <a:xfrm>
            <a:off x="731520" y="1234440"/>
            <a:ext cx="10698480" cy="4639732"/>
          </a:xfrm>
          <a:prstGeom prst="rect">
            <a:avLst/>
          </a:prstGeom>
          <a:noFill/>
        </p:spPr>
        <p:txBody>
          <a:bodyPr wrap="square" lIns="73152" rIns="73152">
            <a:spAutoFit/>
          </a:bodyPr>
          <a:lstStyle/>
          <a:p>
            <a:pPr>
              <a:spcAft>
                <a:spcPts val="700"/>
              </a:spcAft>
              <a:defRPr sz="1350" b="0">
                <a:solidFill>
                  <a:srgbClr val="232B32"/>
                </a:solidFill>
              </a:defRPr>
            </a:pPr>
            <a:r>
              <a:rPr dirty="0"/>
              <a:t>Como </a:t>
            </a:r>
            <a:r>
              <a:rPr dirty="0" err="1"/>
              <a:t>resultado</a:t>
            </a:r>
            <a:r>
              <a:rPr dirty="0"/>
              <a:t> </a:t>
            </a:r>
            <a:r>
              <a:rPr dirty="0" err="1"/>
              <a:t>directo</a:t>
            </a:r>
            <a:r>
              <a:rPr dirty="0"/>
              <a:t> de la </a:t>
            </a:r>
            <a:r>
              <a:rPr dirty="0" err="1"/>
              <a:t>evolución</a:t>
            </a:r>
            <a:r>
              <a:rPr dirty="0"/>
              <a:t> </a:t>
            </a:r>
            <a:r>
              <a:rPr dirty="0" err="1"/>
              <a:t>técnica</a:t>
            </a:r>
            <a:r>
              <a:rPr dirty="0"/>
              <a:t> del </a:t>
            </a:r>
            <a:r>
              <a:rPr dirty="0" err="1"/>
              <a:t>proyecto</a:t>
            </a:r>
            <a:r>
              <a:rPr dirty="0"/>
              <a:t> y con el </a:t>
            </a:r>
            <a:r>
              <a:rPr dirty="0" err="1"/>
              <a:t>firme</a:t>
            </a:r>
            <a:r>
              <a:rPr dirty="0"/>
              <a:t> </a:t>
            </a:r>
            <a:r>
              <a:rPr dirty="0" err="1"/>
              <a:t>propósito</a:t>
            </a:r>
            <a:r>
              <a:rPr dirty="0"/>
              <a:t> de </a:t>
            </a:r>
            <a:r>
              <a:rPr dirty="0" err="1"/>
              <a:t>establecer</a:t>
            </a:r>
            <a:r>
              <a:rPr dirty="0"/>
              <a:t> </a:t>
            </a:r>
            <a:r>
              <a:rPr dirty="0" err="1"/>
              <a:t>directrices</a:t>
            </a:r>
            <a:r>
              <a:rPr dirty="0"/>
              <a:t> de </a:t>
            </a:r>
            <a:r>
              <a:rPr dirty="0" err="1"/>
              <a:t>continuidad</a:t>
            </a:r>
            <a:r>
              <a:rPr dirty="0"/>
              <a:t>, </a:t>
            </a:r>
            <a:r>
              <a:rPr dirty="0" err="1"/>
              <a:t>expansión</a:t>
            </a:r>
            <a:r>
              <a:rPr dirty="0"/>
              <a:t> </a:t>
            </a:r>
            <a:r>
              <a:rPr dirty="0" err="1"/>
              <a:t>tecnológica</a:t>
            </a:r>
            <a:r>
              <a:rPr dirty="0"/>
              <a:t> e </a:t>
            </a:r>
            <a:r>
              <a:rPr dirty="0" err="1"/>
              <a:t>investigación</a:t>
            </a:r>
            <a:r>
              <a:rPr dirty="0"/>
              <a:t> </a:t>
            </a:r>
            <a:r>
              <a:rPr dirty="0" err="1"/>
              <a:t>aplicada</a:t>
            </a:r>
            <a:r>
              <a:rPr dirty="0"/>
              <a:t> para </a:t>
            </a:r>
            <a:r>
              <a:rPr dirty="0" err="1"/>
              <a:t>futuras</a:t>
            </a:r>
            <a:r>
              <a:rPr dirty="0"/>
              <a:t> </a:t>
            </a:r>
            <a:r>
              <a:rPr dirty="0" err="1"/>
              <a:t>etapas</a:t>
            </a:r>
            <a:r>
              <a:rPr dirty="0"/>
              <a:t> de </a:t>
            </a:r>
            <a:r>
              <a:rPr dirty="0" err="1"/>
              <a:t>desarrollo</a:t>
            </a:r>
            <a:r>
              <a:rPr dirty="0"/>
              <a:t> </a:t>
            </a:r>
            <a:r>
              <a:rPr dirty="0" err="1"/>
              <a:t>en</a:t>
            </a:r>
            <a:r>
              <a:rPr dirty="0"/>
              <a:t> el </a:t>
            </a:r>
            <a:r>
              <a:rPr dirty="0" err="1"/>
              <a:t>ámbito</a:t>
            </a:r>
            <a:r>
              <a:rPr dirty="0"/>
              <a:t> de la </a:t>
            </a:r>
            <a:r>
              <a:rPr dirty="0" err="1"/>
              <a:t>ingeniería</a:t>
            </a:r>
            <a:r>
              <a:rPr dirty="0"/>
              <a:t> de </a:t>
            </a:r>
            <a:r>
              <a:rPr dirty="0" err="1"/>
              <a:t>sistemas</a:t>
            </a:r>
            <a:r>
              <a:rPr dirty="0"/>
              <a:t>, se </a:t>
            </a:r>
            <a:r>
              <a:rPr dirty="0" err="1"/>
              <a:t>proponen</a:t>
            </a:r>
            <a:r>
              <a:rPr dirty="0"/>
              <a:t> las </a:t>
            </a:r>
            <a:r>
              <a:rPr dirty="0" err="1"/>
              <a:t>siguientes</a:t>
            </a:r>
            <a:r>
              <a:rPr dirty="0"/>
              <a:t> </a:t>
            </a:r>
            <a:r>
              <a:rPr dirty="0" err="1"/>
              <a:t>líneas</a:t>
            </a:r>
            <a:r>
              <a:rPr dirty="0"/>
              <a:t> de </a:t>
            </a:r>
            <a:r>
              <a:rPr dirty="0" err="1"/>
              <a:t>trabajo</a:t>
            </a:r>
            <a:r>
              <a:rPr dirty="0"/>
              <a:t>:</a:t>
            </a:r>
          </a:p>
          <a:p>
            <a:pPr>
              <a:spcAft>
                <a:spcPts val="700"/>
              </a:spcAft>
              <a:defRPr sz="1350" b="0">
                <a:solidFill>
                  <a:srgbClr val="232B32"/>
                </a:solidFill>
              </a:defRPr>
            </a:pPr>
            <a:endParaRPr dirty="0"/>
          </a:p>
          <a:p>
            <a:pPr>
              <a:spcAft>
                <a:spcPts val="700"/>
              </a:spcAft>
              <a:defRPr sz="1350" b="0">
                <a:solidFill>
                  <a:srgbClr val="232B32"/>
                </a:solidFill>
              </a:defRPr>
            </a:pPr>
            <a:r>
              <a:rPr b="1" dirty="0" err="1"/>
              <a:t>Migración</a:t>
            </a:r>
            <a:r>
              <a:rPr b="1" dirty="0"/>
              <a:t> a </a:t>
            </a:r>
            <a:r>
              <a:rPr b="1" dirty="0" err="1"/>
              <a:t>Arquitecturas</a:t>
            </a:r>
            <a:r>
              <a:rPr b="1" dirty="0"/>
              <a:t> Web </a:t>
            </a:r>
            <a:r>
              <a:rPr b="1" dirty="0" err="1"/>
              <a:t>Distribuidas</a:t>
            </a:r>
            <a:r>
              <a:rPr b="1" dirty="0"/>
              <a:t>, </a:t>
            </a:r>
            <a:r>
              <a:rPr b="1" dirty="0" err="1"/>
              <a:t>Escalables</a:t>
            </a:r>
            <a:r>
              <a:rPr b="1" dirty="0"/>
              <a:t> y </a:t>
            </a:r>
            <a:r>
              <a:rPr b="1" dirty="0" err="1"/>
              <a:t>Basadas</a:t>
            </a:r>
            <a:r>
              <a:rPr b="1" dirty="0"/>
              <a:t> </a:t>
            </a:r>
            <a:r>
              <a:rPr b="1" dirty="0" err="1"/>
              <a:t>en</a:t>
            </a:r>
            <a:r>
              <a:rPr b="1" dirty="0"/>
              <a:t> </a:t>
            </a:r>
            <a:r>
              <a:rPr b="1" dirty="0" err="1"/>
              <a:t>Microservicios</a:t>
            </a:r>
            <a:r>
              <a:rPr b="1" dirty="0"/>
              <a:t>:</a:t>
            </a:r>
          </a:p>
          <a:p>
            <a:pPr>
              <a:spcAft>
                <a:spcPts val="700"/>
              </a:spcAft>
              <a:defRPr sz="1350" b="0">
                <a:solidFill>
                  <a:srgbClr val="232B32"/>
                </a:solidFill>
              </a:defRPr>
            </a:pPr>
            <a:endParaRPr dirty="0"/>
          </a:p>
          <a:p>
            <a:pPr>
              <a:spcAft>
                <a:spcPts val="700"/>
              </a:spcAft>
              <a:defRPr sz="1350" b="0">
                <a:solidFill>
                  <a:srgbClr val="232B32"/>
                </a:solidFill>
              </a:defRPr>
            </a:pPr>
            <a:r>
              <a:rPr dirty="0"/>
              <a:t>Se </a:t>
            </a:r>
            <a:r>
              <a:rPr dirty="0" err="1"/>
              <a:t>plantea</a:t>
            </a:r>
            <a:r>
              <a:rPr dirty="0"/>
              <a:t> </a:t>
            </a:r>
            <a:r>
              <a:rPr dirty="0" err="1"/>
              <a:t>transformar</a:t>
            </a:r>
            <a:r>
              <a:rPr dirty="0"/>
              <a:t> el motor de </a:t>
            </a:r>
            <a:r>
              <a:rPr dirty="0" err="1"/>
              <a:t>simulación</a:t>
            </a:r>
            <a:r>
              <a:rPr dirty="0"/>
              <a:t> actual </a:t>
            </a:r>
            <a:r>
              <a:rPr dirty="0" smtClean="0"/>
              <a:t>operando </a:t>
            </a:r>
            <a:r>
              <a:rPr dirty="0" err="1"/>
              <a:t>mediante</a:t>
            </a:r>
            <a:r>
              <a:rPr dirty="0"/>
              <a:t> scripts locales </a:t>
            </a:r>
            <a:r>
              <a:rPr dirty="0" err="1"/>
              <a:t>ejecutados</a:t>
            </a:r>
            <a:r>
              <a:rPr dirty="0"/>
              <a:t> </a:t>
            </a:r>
            <a:r>
              <a:rPr dirty="0" err="1"/>
              <a:t>en</a:t>
            </a:r>
            <a:r>
              <a:rPr dirty="0"/>
              <a:t> la terminal de IntelliJ </a:t>
            </a:r>
            <a:r>
              <a:rPr dirty="0" smtClean="0"/>
              <a:t>IDEA</a:t>
            </a:r>
            <a:r>
              <a:rPr lang="es-ES" dirty="0" smtClean="0"/>
              <a:t> </a:t>
            </a:r>
            <a:r>
              <a:rPr dirty="0" err="1" smtClean="0"/>
              <a:t>en</a:t>
            </a:r>
            <a:r>
              <a:rPr dirty="0" smtClean="0"/>
              <a:t> </a:t>
            </a:r>
            <a:r>
              <a:rPr dirty="0" err="1"/>
              <a:t>una</a:t>
            </a:r>
            <a:r>
              <a:rPr dirty="0"/>
              <a:t> </a:t>
            </a:r>
            <a:r>
              <a:rPr dirty="0" err="1"/>
              <a:t>aplicación</a:t>
            </a:r>
            <a:r>
              <a:rPr dirty="0"/>
              <a:t> web </a:t>
            </a:r>
            <a:r>
              <a:rPr dirty="0" err="1"/>
              <a:t>interactiva</a:t>
            </a:r>
            <a:r>
              <a:rPr dirty="0"/>
              <a:t> de </a:t>
            </a:r>
            <a:r>
              <a:rPr dirty="0" err="1"/>
              <a:t>arquitectura</a:t>
            </a:r>
            <a:r>
              <a:rPr dirty="0"/>
              <a:t> </a:t>
            </a:r>
            <a:r>
              <a:rPr dirty="0" err="1"/>
              <a:t>moderna</a:t>
            </a:r>
            <a:r>
              <a:rPr dirty="0"/>
              <a:t> (</a:t>
            </a:r>
            <a:r>
              <a:rPr dirty="0" err="1"/>
              <a:t>por</a:t>
            </a:r>
            <a:r>
              <a:rPr dirty="0"/>
              <a:t> </a:t>
            </a:r>
            <a:r>
              <a:rPr dirty="0" err="1"/>
              <a:t>ejemplo</a:t>
            </a:r>
            <a:r>
              <a:rPr dirty="0"/>
              <a:t>, </a:t>
            </a:r>
            <a:r>
              <a:rPr dirty="0" err="1"/>
              <a:t>utilizando</a:t>
            </a:r>
            <a:r>
              <a:rPr dirty="0"/>
              <a:t> frameworks </a:t>
            </a:r>
            <a:r>
              <a:rPr dirty="0" err="1"/>
              <a:t>como</a:t>
            </a:r>
            <a:r>
              <a:rPr dirty="0"/>
              <a:t> </a:t>
            </a:r>
            <a:r>
              <a:rPr dirty="0" err="1"/>
              <a:t>FastAPI</a:t>
            </a:r>
            <a:r>
              <a:rPr dirty="0"/>
              <a:t> o Flask </a:t>
            </a:r>
            <a:r>
              <a:rPr dirty="0" err="1"/>
              <a:t>en</a:t>
            </a:r>
            <a:r>
              <a:rPr dirty="0"/>
              <a:t> el backend y React o Vue.js </a:t>
            </a:r>
            <a:r>
              <a:rPr dirty="0" err="1"/>
              <a:t>en</a:t>
            </a:r>
            <a:r>
              <a:rPr dirty="0"/>
              <a:t> el frontend). </a:t>
            </a:r>
            <a:r>
              <a:rPr dirty="0" err="1"/>
              <a:t>Esta</a:t>
            </a:r>
            <a:r>
              <a:rPr dirty="0"/>
              <a:t> </a:t>
            </a:r>
            <a:r>
              <a:rPr dirty="0" err="1"/>
              <a:t>plataforma</a:t>
            </a:r>
            <a:r>
              <a:rPr dirty="0"/>
              <a:t> </a:t>
            </a:r>
            <a:r>
              <a:rPr dirty="0" err="1"/>
              <a:t>permitiría</a:t>
            </a:r>
            <a:r>
              <a:rPr dirty="0"/>
              <a:t> a </a:t>
            </a:r>
            <a:r>
              <a:rPr dirty="0" err="1"/>
              <a:t>los</a:t>
            </a:r>
            <a:r>
              <a:rPr dirty="0"/>
              <a:t> </a:t>
            </a:r>
            <a:r>
              <a:rPr dirty="0" err="1"/>
              <a:t>gerentes</a:t>
            </a:r>
            <a:r>
              <a:rPr dirty="0"/>
              <a:t> de </a:t>
            </a:r>
            <a:r>
              <a:rPr dirty="0" err="1"/>
              <a:t>operaciones</a:t>
            </a:r>
            <a:r>
              <a:rPr dirty="0"/>
              <a:t> y </a:t>
            </a:r>
            <a:r>
              <a:rPr dirty="0" err="1"/>
              <a:t>administradores</a:t>
            </a:r>
            <a:r>
              <a:rPr dirty="0"/>
              <a:t> de </a:t>
            </a:r>
            <a:r>
              <a:rPr dirty="0" err="1"/>
              <a:t>talleres</a:t>
            </a:r>
            <a:r>
              <a:rPr dirty="0"/>
              <a:t> </a:t>
            </a:r>
            <a:r>
              <a:rPr dirty="0" err="1"/>
              <a:t>ejecutar</a:t>
            </a:r>
            <a:r>
              <a:rPr dirty="0"/>
              <a:t> </a:t>
            </a:r>
            <a:r>
              <a:rPr dirty="0" err="1"/>
              <a:t>simulaciones</a:t>
            </a:r>
            <a:r>
              <a:rPr dirty="0"/>
              <a:t> </a:t>
            </a:r>
            <a:r>
              <a:rPr dirty="0" err="1"/>
              <a:t>estocásticas</a:t>
            </a:r>
            <a:r>
              <a:rPr dirty="0"/>
              <a:t> </a:t>
            </a:r>
            <a:r>
              <a:rPr dirty="0" err="1"/>
              <a:t>en</a:t>
            </a:r>
            <a:r>
              <a:rPr dirty="0"/>
              <a:t> </a:t>
            </a:r>
            <a:r>
              <a:rPr dirty="0" err="1"/>
              <a:t>tiempo</a:t>
            </a:r>
            <a:r>
              <a:rPr dirty="0"/>
              <a:t> real a </a:t>
            </a:r>
            <a:r>
              <a:rPr dirty="0" err="1"/>
              <a:t>través</a:t>
            </a:r>
            <a:r>
              <a:rPr dirty="0"/>
              <a:t> de interfaces </a:t>
            </a:r>
            <a:r>
              <a:rPr dirty="0" err="1"/>
              <a:t>gráficas</a:t>
            </a:r>
            <a:r>
              <a:rPr dirty="0"/>
              <a:t> </a:t>
            </a:r>
            <a:r>
              <a:rPr dirty="0" err="1"/>
              <a:t>amigables</a:t>
            </a:r>
            <a:r>
              <a:rPr dirty="0"/>
              <a:t>, </a:t>
            </a:r>
            <a:r>
              <a:rPr dirty="0" err="1"/>
              <a:t>modificando</a:t>
            </a:r>
            <a:r>
              <a:rPr dirty="0"/>
              <a:t> </a:t>
            </a:r>
            <a:r>
              <a:rPr dirty="0" err="1"/>
              <a:t>parámetros</a:t>
            </a:r>
            <a:r>
              <a:rPr dirty="0"/>
              <a:t> de entrada.</a:t>
            </a:r>
          </a:p>
          <a:p>
            <a:pPr>
              <a:spcAft>
                <a:spcPts val="700"/>
              </a:spcAft>
              <a:defRPr sz="1350" b="0">
                <a:solidFill>
                  <a:srgbClr val="232B32"/>
                </a:solidFill>
              </a:defRPr>
            </a:pPr>
            <a:endParaRPr b="1" dirty="0"/>
          </a:p>
          <a:p>
            <a:pPr>
              <a:spcAft>
                <a:spcPts val="700"/>
              </a:spcAft>
              <a:defRPr sz="1350" b="0">
                <a:solidFill>
                  <a:srgbClr val="232B32"/>
                </a:solidFill>
              </a:defRPr>
            </a:pPr>
            <a:r>
              <a:rPr b="1" dirty="0" err="1"/>
              <a:t>Incorporación</a:t>
            </a:r>
            <a:r>
              <a:rPr b="1" dirty="0"/>
              <a:t> de </a:t>
            </a:r>
            <a:r>
              <a:rPr b="1" dirty="0" err="1"/>
              <a:t>Algoritmos</a:t>
            </a:r>
            <a:r>
              <a:rPr b="1" dirty="0"/>
              <a:t> de </a:t>
            </a:r>
            <a:r>
              <a:rPr b="1" dirty="0" err="1"/>
              <a:t>Optimización</a:t>
            </a:r>
            <a:r>
              <a:rPr b="1" dirty="0"/>
              <a:t> </a:t>
            </a:r>
            <a:r>
              <a:rPr b="1" dirty="0" err="1"/>
              <a:t>Estocástica</a:t>
            </a:r>
            <a:r>
              <a:rPr b="1" dirty="0"/>
              <a:t> e </a:t>
            </a:r>
            <a:r>
              <a:rPr b="1" dirty="0" err="1"/>
              <a:t>Inteligencia</a:t>
            </a:r>
            <a:r>
              <a:rPr b="1" dirty="0"/>
              <a:t> Artificial:</a:t>
            </a:r>
          </a:p>
          <a:p>
            <a:pPr>
              <a:spcAft>
                <a:spcPts val="700"/>
              </a:spcAft>
              <a:defRPr sz="1350" b="0">
                <a:solidFill>
                  <a:srgbClr val="232B32"/>
                </a:solidFill>
              </a:defRPr>
            </a:pPr>
            <a:endParaRPr dirty="0"/>
          </a:p>
          <a:p>
            <a:pPr>
              <a:spcAft>
                <a:spcPts val="700"/>
              </a:spcAft>
              <a:defRPr sz="1350" b="0">
                <a:solidFill>
                  <a:srgbClr val="232B32"/>
                </a:solidFill>
              </a:defRPr>
            </a:pPr>
            <a:r>
              <a:rPr dirty="0" err="1"/>
              <a:t>Es</a:t>
            </a:r>
            <a:r>
              <a:rPr dirty="0"/>
              <a:t> </a:t>
            </a:r>
            <a:r>
              <a:rPr dirty="0" err="1"/>
              <a:t>altamente</a:t>
            </a:r>
            <a:r>
              <a:rPr dirty="0"/>
              <a:t> </a:t>
            </a:r>
            <a:r>
              <a:rPr dirty="0" err="1"/>
              <a:t>recomendable</a:t>
            </a:r>
            <a:r>
              <a:rPr dirty="0"/>
              <a:t> </a:t>
            </a:r>
            <a:r>
              <a:rPr dirty="0" err="1"/>
              <a:t>integrar</a:t>
            </a:r>
            <a:r>
              <a:rPr dirty="0"/>
              <a:t> </a:t>
            </a:r>
            <a:r>
              <a:rPr dirty="0" err="1"/>
              <a:t>técnicas</a:t>
            </a:r>
            <a:r>
              <a:rPr dirty="0"/>
              <a:t> </a:t>
            </a:r>
            <a:r>
              <a:rPr dirty="0" err="1"/>
              <a:t>avanzadas</a:t>
            </a:r>
            <a:r>
              <a:rPr dirty="0"/>
              <a:t> de </a:t>
            </a:r>
            <a:r>
              <a:rPr dirty="0" err="1"/>
              <a:t>optimización</a:t>
            </a:r>
            <a:r>
              <a:rPr dirty="0"/>
              <a:t> </a:t>
            </a:r>
            <a:r>
              <a:rPr dirty="0" err="1"/>
              <a:t>matemática</a:t>
            </a:r>
            <a:r>
              <a:rPr dirty="0"/>
              <a:t>, </a:t>
            </a:r>
            <a:r>
              <a:rPr dirty="0" err="1"/>
              <a:t>algoritmos</a:t>
            </a:r>
            <a:r>
              <a:rPr dirty="0"/>
              <a:t> </a:t>
            </a:r>
            <a:r>
              <a:rPr dirty="0" err="1"/>
              <a:t>genéticos</a:t>
            </a:r>
            <a:r>
              <a:rPr dirty="0"/>
              <a:t>, </a:t>
            </a:r>
            <a:r>
              <a:rPr dirty="0" err="1"/>
              <a:t>optimización</a:t>
            </a:r>
            <a:r>
              <a:rPr dirty="0"/>
              <a:t> </a:t>
            </a:r>
            <a:r>
              <a:rPr dirty="0" err="1"/>
              <a:t>por</a:t>
            </a:r>
            <a:r>
              <a:rPr dirty="0"/>
              <a:t> </a:t>
            </a:r>
            <a:r>
              <a:rPr dirty="0" err="1"/>
              <a:t>enjambre</a:t>
            </a:r>
            <a:r>
              <a:rPr dirty="0"/>
              <a:t> de </a:t>
            </a:r>
            <a:r>
              <a:rPr dirty="0" err="1"/>
              <a:t>partículas</a:t>
            </a:r>
            <a:r>
              <a:rPr dirty="0"/>
              <a:t> (PSO) o </a:t>
            </a:r>
            <a:r>
              <a:rPr dirty="0" err="1"/>
              <a:t>modelos</a:t>
            </a:r>
            <a:r>
              <a:rPr dirty="0"/>
              <a:t> de </a:t>
            </a:r>
            <a:r>
              <a:rPr dirty="0" err="1"/>
              <a:t>aprendizaje</a:t>
            </a:r>
            <a:r>
              <a:rPr dirty="0"/>
              <a:t> </a:t>
            </a:r>
            <a:r>
              <a:rPr dirty="0" err="1"/>
              <a:t>por</a:t>
            </a:r>
            <a:r>
              <a:rPr dirty="0"/>
              <a:t> </a:t>
            </a:r>
            <a:r>
              <a:rPr dirty="0" err="1"/>
              <a:t>refuerzo</a:t>
            </a:r>
            <a:r>
              <a:rPr dirty="0"/>
              <a:t> (Reinforcement Learning) </a:t>
            </a:r>
            <a:r>
              <a:rPr dirty="0" err="1"/>
              <a:t>dentro</a:t>
            </a:r>
            <a:r>
              <a:rPr dirty="0"/>
              <a:t> del </a:t>
            </a:r>
            <a:r>
              <a:rPr dirty="0" err="1"/>
              <a:t>código</a:t>
            </a:r>
            <a:r>
              <a:rPr dirty="0"/>
              <a:t> </a:t>
            </a:r>
            <a:r>
              <a:rPr dirty="0" err="1"/>
              <a:t>fuente</a:t>
            </a:r>
            <a:r>
              <a:rPr dirty="0"/>
              <a:t> del motor. El </a:t>
            </a:r>
            <a:r>
              <a:rPr dirty="0" err="1"/>
              <a:t>objetivo</a:t>
            </a:r>
            <a:r>
              <a:rPr dirty="0"/>
              <a:t> principal de </a:t>
            </a:r>
            <a:r>
              <a:rPr dirty="0" err="1"/>
              <a:t>esta</a:t>
            </a:r>
            <a:r>
              <a:rPr dirty="0"/>
              <a:t> </a:t>
            </a:r>
            <a:r>
              <a:rPr dirty="0" err="1"/>
              <a:t>integración</a:t>
            </a:r>
            <a:r>
              <a:rPr dirty="0"/>
              <a:t> </a:t>
            </a:r>
            <a:r>
              <a:rPr dirty="0" err="1"/>
              <a:t>sería</a:t>
            </a:r>
            <a:r>
              <a:rPr dirty="0"/>
              <a:t> </a:t>
            </a:r>
            <a:r>
              <a:rPr dirty="0" err="1"/>
              <a:t>automatizar</a:t>
            </a:r>
            <a:r>
              <a:rPr dirty="0"/>
              <a:t> la </a:t>
            </a:r>
            <a:r>
              <a:rPr dirty="0" err="1"/>
              <a:t>búsqueda</a:t>
            </a:r>
            <a:r>
              <a:rPr dirty="0"/>
              <a:t> de la </a:t>
            </a:r>
            <a:r>
              <a:rPr dirty="0" err="1"/>
              <a:t>configuración</a:t>
            </a:r>
            <a:r>
              <a:rPr dirty="0"/>
              <a:t> </a:t>
            </a:r>
            <a:r>
              <a:rPr dirty="0" err="1"/>
              <a:t>estructural</a:t>
            </a:r>
            <a:r>
              <a:rPr dirty="0"/>
              <a:t> </a:t>
            </a:r>
            <a:r>
              <a:rPr dirty="0" err="1"/>
              <a:t>óptima</a:t>
            </a:r>
            <a:r>
              <a:rPr dirty="0"/>
              <a:t> del taller, </a:t>
            </a:r>
            <a:r>
              <a:rPr dirty="0" err="1"/>
              <a:t>calculando</a:t>
            </a:r>
            <a:r>
              <a:rPr dirty="0"/>
              <a:t> de </a:t>
            </a:r>
            <a:r>
              <a:rPr dirty="0" err="1"/>
              <a:t>manera</a:t>
            </a:r>
            <a:r>
              <a:rPr dirty="0"/>
              <a:t> </a:t>
            </a:r>
            <a:r>
              <a:rPr dirty="0" err="1"/>
              <a:t>inteligente</a:t>
            </a:r>
            <a:r>
              <a:rPr dirty="0"/>
              <a:t> el </a:t>
            </a:r>
            <a:r>
              <a:rPr dirty="0" err="1"/>
              <a:t>número</a:t>
            </a:r>
            <a:r>
              <a:rPr dirty="0"/>
              <a:t> </a:t>
            </a:r>
            <a:r>
              <a:rPr dirty="0" err="1"/>
              <a:t>exacto</a:t>
            </a:r>
            <a:r>
              <a:rPr dirty="0"/>
              <a:t> de </a:t>
            </a:r>
            <a:r>
              <a:rPr dirty="0" err="1"/>
              <a:t>bahías</a:t>
            </a:r>
            <a:r>
              <a:rPr dirty="0"/>
              <a:t> de </a:t>
            </a:r>
            <a:r>
              <a:rPr dirty="0" err="1"/>
              <a:t>trabajo</a:t>
            </a:r>
            <a:r>
              <a:rPr dirty="0"/>
              <a:t>, la </a:t>
            </a:r>
            <a:r>
              <a:rPr dirty="0" err="1"/>
              <a:t>plantilla</a:t>
            </a:r>
            <a:r>
              <a:rPr dirty="0"/>
              <a:t> de </a:t>
            </a:r>
            <a:r>
              <a:rPr dirty="0" err="1"/>
              <a:t>mecánicos</a:t>
            </a:r>
            <a:r>
              <a:rPr dirty="0"/>
              <a:t> </a:t>
            </a:r>
            <a:r>
              <a:rPr dirty="0" err="1"/>
              <a:t>especializados</a:t>
            </a:r>
            <a:r>
              <a:rPr dirty="0"/>
              <a:t> y </a:t>
            </a:r>
            <a:r>
              <a:rPr dirty="0" err="1"/>
              <a:t>los</a:t>
            </a:r>
            <a:r>
              <a:rPr dirty="0"/>
              <a:t> </a:t>
            </a:r>
            <a:r>
              <a:rPr dirty="0" err="1"/>
              <a:t>turnos</a:t>
            </a:r>
            <a:r>
              <a:rPr dirty="0"/>
              <a:t> </a:t>
            </a:r>
            <a:r>
              <a:rPr dirty="0" err="1"/>
              <a:t>operativos</a:t>
            </a:r>
            <a:r>
              <a:rPr dirty="0"/>
              <a:t> </a:t>
            </a:r>
            <a:r>
              <a:rPr dirty="0" err="1"/>
              <a:t>necesarios</a:t>
            </a:r>
            <a:r>
              <a:rPr dirty="0"/>
              <a:t> para </a:t>
            </a:r>
            <a:r>
              <a:rPr dirty="0" err="1"/>
              <a:t>minimizar</a:t>
            </a:r>
            <a:r>
              <a:rPr dirty="0"/>
              <a:t> </a:t>
            </a:r>
            <a:r>
              <a:rPr dirty="0" err="1"/>
              <a:t>simultáneamente</a:t>
            </a:r>
            <a:r>
              <a:rPr dirty="0"/>
              <a:t> </a:t>
            </a:r>
            <a:r>
              <a:rPr dirty="0" err="1"/>
              <a:t>los</a:t>
            </a:r>
            <a:r>
              <a:rPr dirty="0"/>
              <a:t> </a:t>
            </a:r>
            <a:r>
              <a:rPr dirty="0" err="1"/>
              <a:t>costos</a:t>
            </a:r>
            <a:r>
              <a:rPr dirty="0"/>
              <a:t> </a:t>
            </a:r>
            <a:r>
              <a:rPr dirty="0" err="1"/>
              <a:t>operativos</a:t>
            </a:r>
            <a:r>
              <a:rPr dirty="0"/>
              <a:t> </a:t>
            </a:r>
            <a:r>
              <a:rPr dirty="0" err="1"/>
              <a:t>totales</a:t>
            </a:r>
            <a:r>
              <a:rPr dirty="0"/>
              <a:t> y </a:t>
            </a:r>
            <a:r>
              <a:rPr dirty="0" err="1"/>
              <a:t>los</a:t>
            </a:r>
            <a:r>
              <a:rPr dirty="0"/>
              <a:t> </a:t>
            </a:r>
            <a:r>
              <a:rPr dirty="0" err="1"/>
              <a:t>tiempos</a:t>
            </a:r>
            <a:r>
              <a:rPr dirty="0"/>
              <a:t> de </a:t>
            </a:r>
            <a:r>
              <a:rPr dirty="0" err="1"/>
              <a:t>espera</a:t>
            </a:r>
            <a:r>
              <a:rPr dirty="0"/>
              <a:t> </a:t>
            </a:r>
            <a:r>
              <a:rPr dirty="0" err="1"/>
              <a:t>en</a:t>
            </a:r>
            <a:r>
              <a:rPr dirty="0"/>
              <a:t> cola </a:t>
            </a:r>
            <a:r>
              <a:rPr dirty="0" err="1"/>
              <a:t>bajo</a:t>
            </a:r>
            <a:r>
              <a:rPr dirty="0"/>
              <a:t> </a:t>
            </a:r>
            <a:r>
              <a:rPr dirty="0" err="1"/>
              <a:t>restricciones</a:t>
            </a:r>
            <a:r>
              <a:rPr dirty="0"/>
              <a:t> </a:t>
            </a:r>
            <a:r>
              <a:rPr dirty="0" err="1"/>
              <a:t>presupuestarias</a:t>
            </a:r>
            <a:r>
              <a:rPr dirty="0"/>
              <a:t> y de </a:t>
            </a:r>
            <a:r>
              <a:rPr dirty="0" err="1"/>
              <a:t>demanda</a:t>
            </a:r>
            <a:r>
              <a:rPr dirty="0"/>
              <a:t> variable</a:t>
            </a:r>
            <a:r>
              <a:rPr dirty="0" smtClean="0"/>
              <a:t>.</a:t>
            </a:r>
            <a:endParaRPr lang="es-ES" dirty="0" smtClean="0"/>
          </a:p>
          <a:p>
            <a:pPr>
              <a:spcAft>
                <a:spcPts val="700"/>
              </a:spcAft>
              <a:defRPr sz="1350" b="0">
                <a:solidFill>
                  <a:srgbClr val="232B32"/>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995795" y="274320"/>
            <a:ext cx="8169929" cy="477054"/>
          </a:xfrm>
          <a:prstGeom prst="rect">
            <a:avLst/>
          </a:prstGeom>
          <a:noFill/>
        </p:spPr>
        <p:txBody>
          <a:bodyPr wrap="none">
            <a:spAutoFit/>
          </a:bodyPr>
          <a:lstStyle/>
          <a:p>
            <a:pPr algn="ctr">
              <a:defRPr sz="2500" b="1">
                <a:solidFill>
                  <a:srgbClr val="123048"/>
                </a:solidFill>
              </a:defRPr>
            </a:pPr>
            <a:r>
              <a:rPr dirty="0"/>
              <a:t>6.2 </a:t>
            </a:r>
            <a:r>
              <a:rPr dirty="0" err="1"/>
              <a:t>Trabajos</a:t>
            </a:r>
            <a:r>
              <a:rPr dirty="0"/>
              <a:t> </a:t>
            </a:r>
            <a:r>
              <a:rPr dirty="0" err="1"/>
              <a:t>Futuros</a:t>
            </a:r>
            <a:r>
              <a:rPr dirty="0"/>
              <a:t> y </a:t>
            </a:r>
            <a:r>
              <a:rPr dirty="0" err="1"/>
              <a:t>Líneas</a:t>
            </a:r>
            <a:r>
              <a:rPr dirty="0"/>
              <a:t> de </a:t>
            </a:r>
            <a:r>
              <a:rPr dirty="0" err="1"/>
              <a:t>Investigación</a:t>
            </a:r>
            <a:r>
              <a:rPr dirty="0"/>
              <a:t> </a:t>
            </a:r>
            <a:r>
              <a:rPr dirty="0" err="1"/>
              <a:t>Aplicada</a:t>
            </a:r>
            <a:r>
              <a:rPr dirty="0"/>
              <a:t> (2/2)</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6: CONCLUSIONES Y TRABAJOS FUTUROS</a:t>
            </a:r>
          </a:p>
        </p:txBody>
      </p:sp>
      <p:sp>
        <p:nvSpPr>
          <p:cNvPr id="6" name="TextBox 5"/>
          <p:cNvSpPr txBox="1"/>
          <p:nvPr/>
        </p:nvSpPr>
        <p:spPr>
          <a:xfrm>
            <a:off x="731520" y="1234440"/>
            <a:ext cx="10698480" cy="1246495"/>
          </a:xfrm>
          <a:prstGeom prst="rect">
            <a:avLst/>
          </a:prstGeom>
          <a:noFill/>
        </p:spPr>
        <p:txBody>
          <a:bodyPr wrap="square" lIns="73152" rIns="73152">
            <a:spAutoFit/>
          </a:bodyPr>
          <a:lstStyle/>
          <a:p>
            <a:pPr>
              <a:spcAft>
                <a:spcPts val="700"/>
              </a:spcAft>
              <a:defRPr sz="1500" b="0">
                <a:solidFill>
                  <a:srgbClr val="232B32"/>
                </a:solidFill>
              </a:defRPr>
            </a:pPr>
            <a:r>
              <a:rPr dirty="0" err="1"/>
              <a:t>Ampliar</a:t>
            </a:r>
            <a:r>
              <a:rPr dirty="0"/>
              <a:t> el </a:t>
            </a:r>
            <a:r>
              <a:rPr dirty="0" err="1"/>
              <a:t>alcance</a:t>
            </a:r>
            <a:r>
              <a:rPr dirty="0"/>
              <a:t> </a:t>
            </a:r>
            <a:r>
              <a:rPr dirty="0" err="1"/>
              <a:t>metodológico</a:t>
            </a:r>
            <a:r>
              <a:rPr dirty="0"/>
              <a:t> y </a:t>
            </a:r>
            <a:r>
              <a:rPr dirty="0" err="1"/>
              <a:t>computacional</a:t>
            </a:r>
            <a:r>
              <a:rPr dirty="0"/>
              <a:t> del </a:t>
            </a:r>
            <a:r>
              <a:rPr dirty="0" err="1"/>
              <a:t>modelo</a:t>
            </a:r>
            <a:r>
              <a:rPr dirty="0"/>
              <a:t> de </a:t>
            </a:r>
            <a:r>
              <a:rPr dirty="0" err="1"/>
              <a:t>simulación</a:t>
            </a:r>
            <a:r>
              <a:rPr dirty="0"/>
              <a:t> de </a:t>
            </a:r>
            <a:r>
              <a:rPr dirty="0" err="1"/>
              <a:t>líneas</a:t>
            </a:r>
            <a:r>
              <a:rPr dirty="0"/>
              <a:t> de </a:t>
            </a:r>
            <a:r>
              <a:rPr dirty="0" err="1"/>
              <a:t>espera</a:t>
            </a:r>
            <a:r>
              <a:rPr dirty="0"/>
              <a:t> para </a:t>
            </a:r>
            <a:r>
              <a:rPr dirty="0" err="1"/>
              <a:t>acoplarlo</a:t>
            </a:r>
            <a:r>
              <a:rPr dirty="0"/>
              <a:t> de </a:t>
            </a:r>
            <a:r>
              <a:rPr dirty="0" err="1"/>
              <a:t>manera</a:t>
            </a:r>
            <a:r>
              <a:rPr dirty="0"/>
              <a:t> </a:t>
            </a:r>
            <a:r>
              <a:rPr dirty="0" err="1"/>
              <a:t>directa</a:t>
            </a:r>
            <a:r>
              <a:rPr dirty="0"/>
              <a:t> con un </a:t>
            </a:r>
            <a:r>
              <a:rPr dirty="0" err="1"/>
              <a:t>sistema</a:t>
            </a:r>
            <a:r>
              <a:rPr dirty="0"/>
              <a:t> </a:t>
            </a:r>
            <a:r>
              <a:rPr dirty="0" err="1"/>
              <a:t>estocástico</a:t>
            </a:r>
            <a:r>
              <a:rPr dirty="0"/>
              <a:t> de control de </a:t>
            </a:r>
            <a:r>
              <a:rPr dirty="0" err="1"/>
              <a:t>inventario</a:t>
            </a:r>
            <a:r>
              <a:rPr dirty="0"/>
              <a:t> de </a:t>
            </a:r>
            <a:r>
              <a:rPr dirty="0" err="1"/>
              <a:t>refacciones</a:t>
            </a:r>
            <a:r>
              <a:rPr dirty="0"/>
              <a:t> y </a:t>
            </a:r>
            <a:r>
              <a:rPr dirty="0" err="1"/>
              <a:t>componentes</a:t>
            </a:r>
            <a:r>
              <a:rPr dirty="0"/>
              <a:t> </a:t>
            </a:r>
            <a:r>
              <a:rPr dirty="0" err="1"/>
              <a:t>críticos</a:t>
            </a:r>
            <a:r>
              <a:rPr dirty="0"/>
              <a:t>. </a:t>
            </a:r>
            <a:r>
              <a:rPr dirty="0" err="1"/>
              <a:t>Esto</a:t>
            </a:r>
            <a:r>
              <a:rPr dirty="0"/>
              <a:t> </a:t>
            </a:r>
            <a:r>
              <a:rPr dirty="0" err="1"/>
              <a:t>permitiría</a:t>
            </a:r>
            <a:r>
              <a:rPr dirty="0"/>
              <a:t> </a:t>
            </a:r>
            <a:r>
              <a:rPr dirty="0" err="1"/>
              <a:t>simular</a:t>
            </a:r>
            <a:r>
              <a:rPr dirty="0"/>
              <a:t> y </a:t>
            </a:r>
            <a:r>
              <a:rPr dirty="0" err="1"/>
              <a:t>evaluar</a:t>
            </a:r>
            <a:r>
              <a:rPr dirty="0"/>
              <a:t> </a:t>
            </a:r>
            <a:r>
              <a:rPr dirty="0" err="1"/>
              <a:t>rigurosamente</a:t>
            </a:r>
            <a:r>
              <a:rPr dirty="0"/>
              <a:t> el </a:t>
            </a:r>
            <a:r>
              <a:rPr dirty="0" err="1"/>
              <a:t>impacto</a:t>
            </a:r>
            <a:r>
              <a:rPr dirty="0"/>
              <a:t> </a:t>
            </a:r>
            <a:r>
              <a:rPr dirty="0" err="1"/>
              <a:t>financiero</a:t>
            </a:r>
            <a:r>
              <a:rPr dirty="0"/>
              <a:t> y </a:t>
            </a:r>
            <a:r>
              <a:rPr dirty="0" err="1"/>
              <a:t>operativo</a:t>
            </a:r>
            <a:r>
              <a:rPr dirty="0"/>
              <a:t> de </a:t>
            </a:r>
            <a:r>
              <a:rPr dirty="0" err="1"/>
              <a:t>diferentes</a:t>
            </a:r>
            <a:r>
              <a:rPr dirty="0"/>
              <a:t> </a:t>
            </a:r>
            <a:r>
              <a:rPr dirty="0" err="1"/>
              <a:t>políticas</a:t>
            </a:r>
            <a:r>
              <a:rPr dirty="0"/>
              <a:t> de </a:t>
            </a:r>
            <a:r>
              <a:rPr dirty="0" err="1"/>
              <a:t>reorden</a:t>
            </a:r>
            <a:r>
              <a:rPr dirty="0"/>
              <a:t> (</a:t>
            </a:r>
            <a:r>
              <a:rPr dirty="0" err="1"/>
              <a:t>como</a:t>
            </a:r>
            <a:r>
              <a:rPr dirty="0"/>
              <a:t> el </a:t>
            </a:r>
            <a:r>
              <a:rPr dirty="0" err="1"/>
              <a:t>modelo</a:t>
            </a:r>
            <a:r>
              <a:rPr dirty="0"/>
              <a:t> de </a:t>
            </a:r>
            <a:r>
              <a:rPr dirty="0" err="1"/>
              <a:t>cantidad</a:t>
            </a:r>
            <a:r>
              <a:rPr dirty="0"/>
              <a:t> </a:t>
            </a:r>
            <a:r>
              <a:rPr dirty="0" err="1"/>
              <a:t>económica</a:t>
            </a:r>
            <a:r>
              <a:rPr dirty="0"/>
              <a:t> de </a:t>
            </a:r>
            <a:r>
              <a:rPr dirty="0" err="1"/>
              <a:t>pedido</a:t>
            </a:r>
            <a:r>
              <a:rPr dirty="0"/>
              <a:t> </a:t>
            </a:r>
            <a:r>
              <a:rPr dirty="0" smtClean="0"/>
              <a:t>EOQ </a:t>
            </a:r>
            <a:r>
              <a:rPr dirty="0"/>
              <a:t>con </a:t>
            </a:r>
            <a:r>
              <a:rPr dirty="0" err="1"/>
              <a:t>demanda</a:t>
            </a:r>
            <a:r>
              <a:rPr dirty="0"/>
              <a:t> </a:t>
            </a:r>
            <a:r>
              <a:rPr dirty="0" err="1"/>
              <a:t>estocástica</a:t>
            </a:r>
            <a:r>
              <a:rPr dirty="0"/>
              <a:t> y </a:t>
            </a:r>
            <a:r>
              <a:rPr dirty="0" err="1"/>
              <a:t>puntos</a:t>
            </a:r>
            <a:r>
              <a:rPr dirty="0"/>
              <a:t> de </a:t>
            </a:r>
            <a:r>
              <a:rPr dirty="0" err="1"/>
              <a:t>reorden</a:t>
            </a:r>
            <a:r>
              <a:rPr dirty="0"/>
              <a:t> </a:t>
            </a:r>
            <a:r>
              <a:rPr dirty="0" err="1"/>
              <a:t>automatizados</a:t>
            </a:r>
            <a:r>
              <a:rPr dirty="0"/>
              <a:t>), </a:t>
            </a:r>
            <a:r>
              <a:rPr dirty="0" err="1"/>
              <a:t>analizando</a:t>
            </a:r>
            <a:r>
              <a:rPr dirty="0"/>
              <a:t> el </a:t>
            </a:r>
            <a:r>
              <a:rPr dirty="0" err="1"/>
              <a:t>comportamiento</a:t>
            </a:r>
            <a:r>
              <a:rPr dirty="0"/>
              <a:t> del taller </a:t>
            </a:r>
            <a:r>
              <a:rPr dirty="0" err="1"/>
              <a:t>frente</a:t>
            </a:r>
            <a:r>
              <a:rPr dirty="0"/>
              <a:t> a </a:t>
            </a:r>
            <a:r>
              <a:rPr dirty="0" err="1"/>
              <a:t>escenarios</a:t>
            </a:r>
            <a:r>
              <a:rPr dirty="0"/>
              <a:t> </a:t>
            </a:r>
            <a:r>
              <a:rPr dirty="0" err="1"/>
              <a:t>críticos</a:t>
            </a:r>
            <a:r>
              <a:rPr dirty="0"/>
              <a:t> de </a:t>
            </a:r>
            <a:r>
              <a:rPr dirty="0" err="1"/>
              <a:t>escasez</a:t>
            </a:r>
            <a:r>
              <a:rPr dirty="0"/>
              <a:t> de </a:t>
            </a:r>
            <a:r>
              <a:rPr dirty="0" err="1"/>
              <a:t>proveedores</a:t>
            </a:r>
            <a:r>
              <a:rPr dirty="0"/>
              <a:t>, </a:t>
            </a:r>
            <a:r>
              <a:rPr dirty="0" err="1"/>
              <a:t>tiempos</a:t>
            </a:r>
            <a:r>
              <a:rPr dirty="0"/>
              <a:t> de </a:t>
            </a:r>
            <a:r>
              <a:rPr dirty="0" err="1"/>
              <a:t>entrega</a:t>
            </a:r>
            <a:r>
              <a:rPr dirty="0"/>
              <a:t> </a:t>
            </a:r>
            <a:r>
              <a:rPr dirty="0" err="1"/>
              <a:t>prolongados</a:t>
            </a:r>
            <a:r>
              <a:rPr dirty="0"/>
              <a:t> y </a:t>
            </a:r>
            <a:r>
              <a:rPr dirty="0" err="1"/>
              <a:t>costos</a:t>
            </a:r>
            <a:r>
              <a:rPr dirty="0"/>
              <a:t> de </a:t>
            </a:r>
            <a:r>
              <a:rPr dirty="0" err="1"/>
              <a:t>almacenamiento</a:t>
            </a:r>
            <a:r>
              <a:rPr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44813" y="274320"/>
            <a:ext cx="3871893" cy="477054"/>
          </a:xfrm>
          <a:prstGeom prst="rect">
            <a:avLst/>
          </a:prstGeom>
          <a:noFill/>
        </p:spPr>
        <p:txBody>
          <a:bodyPr wrap="none">
            <a:spAutoFit/>
          </a:bodyPr>
          <a:lstStyle/>
          <a:p>
            <a:pPr algn="ctr">
              <a:defRPr sz="2500" b="1">
                <a:solidFill>
                  <a:srgbClr val="123048"/>
                </a:solidFill>
              </a:defRPr>
            </a:pPr>
            <a:r>
              <a:rPr dirty="0"/>
              <a:t>FUENTES DE INFORMACIÓN</a:t>
            </a:r>
          </a:p>
        </p:txBody>
      </p:sp>
      <p:sp>
        <p:nvSpPr>
          <p:cNvPr id="5" name="TextBox 4"/>
          <p:cNvSpPr txBox="1"/>
          <p:nvPr/>
        </p:nvSpPr>
        <p:spPr>
          <a:xfrm>
            <a:off x="612648" y="822960"/>
            <a:ext cx="10789920" cy="274320"/>
          </a:xfrm>
          <a:prstGeom prst="rect">
            <a:avLst/>
          </a:prstGeom>
          <a:noFill/>
        </p:spPr>
        <p:txBody>
          <a:bodyPr wrap="none">
            <a:spAutoFit/>
          </a:bodyPr>
          <a:lstStyle/>
          <a:p>
            <a:pPr>
              <a:defRPr sz="1000">
                <a:solidFill>
                  <a:srgbClr val="5A6974"/>
                </a:solidFill>
              </a:defRPr>
            </a:pPr>
            <a:r>
              <a:t>CAPÍTULO 6: CONCLUSIONES Y TRABAJOS FUTUROS</a:t>
            </a:r>
          </a:p>
        </p:txBody>
      </p:sp>
      <p:sp>
        <p:nvSpPr>
          <p:cNvPr id="6" name="TextBox 5"/>
          <p:cNvSpPr txBox="1"/>
          <p:nvPr/>
        </p:nvSpPr>
        <p:spPr>
          <a:xfrm>
            <a:off x="731520" y="1234440"/>
            <a:ext cx="10698480" cy="5074920"/>
          </a:xfrm>
          <a:prstGeom prst="rect">
            <a:avLst/>
          </a:prstGeom>
          <a:noFill/>
        </p:spPr>
        <p:txBody>
          <a:bodyPr wrap="square" lIns="73152" rIns="73152">
            <a:spAutoFit/>
          </a:bodyPr>
          <a:lstStyle/>
          <a:p>
            <a:pPr>
              <a:spcAft>
                <a:spcPts val="700"/>
              </a:spcAft>
              <a:defRPr sz="1500" b="0">
                <a:solidFill>
                  <a:srgbClr val="232B32"/>
                </a:solidFill>
              </a:defRPr>
            </a:pPr>
            <a:r>
              <a:t>Agüero, J. C., &amp; Morales, R. (2022). Modelado de procesos de negocio: De la teoría a la práctica con BPMN 2.0. Editorial Alfaomega.</a:t>
            </a:r>
          </a:p>
          <a:p>
            <a:pPr>
              <a:spcAft>
                <a:spcPts val="700"/>
              </a:spcAft>
              <a:defRPr sz="1500" b="0">
                <a:solidFill>
                  <a:srgbClr val="232B32"/>
                </a:solidFill>
              </a:defRPr>
            </a:pPr>
            <a:endParaRPr/>
          </a:p>
          <a:p>
            <a:pPr>
              <a:spcAft>
                <a:spcPts val="700"/>
              </a:spcAft>
              <a:defRPr sz="1500" b="0">
                <a:solidFill>
                  <a:srgbClr val="232B32"/>
                </a:solidFill>
              </a:defRPr>
            </a:pPr>
            <a:r>
              <a:t>Banks, J., Carson, J. S., Nelson, B. L., &amp; Nicol, D. M. (2019). Discrete-event system simulation (6th ed.). Pearson.</a:t>
            </a:r>
          </a:p>
          <a:p>
            <a:pPr>
              <a:spcAft>
                <a:spcPts val="700"/>
              </a:spcAft>
              <a:defRPr sz="1500" b="0">
                <a:solidFill>
                  <a:srgbClr val="232B32"/>
                </a:solidFill>
              </a:defRPr>
            </a:pPr>
            <a:endParaRPr/>
          </a:p>
          <a:p>
            <a:pPr>
              <a:spcAft>
                <a:spcPts val="700"/>
              </a:spcAft>
              <a:defRPr sz="1500" b="0">
                <a:solidFill>
                  <a:srgbClr val="232B32"/>
                </a:solidFill>
              </a:defRPr>
            </a:pPr>
            <a:r>
              <a:t>Camunda. (2025). Camunda Modeler documentation and process execution standards. Camunda Services GmbH. https://docs.camunda.io/</a:t>
            </a:r>
          </a:p>
          <a:p>
            <a:pPr>
              <a:spcAft>
                <a:spcPts val="700"/>
              </a:spcAft>
              <a:defRPr sz="1500" b="0">
                <a:solidFill>
                  <a:srgbClr val="232B32"/>
                </a:solidFill>
              </a:defRPr>
            </a:pPr>
            <a:endParaRPr/>
          </a:p>
          <a:p>
            <a:pPr>
              <a:spcAft>
                <a:spcPts val="700"/>
              </a:spcAft>
              <a:defRPr sz="1500" b="0">
                <a:solidFill>
                  <a:srgbClr val="232B32"/>
                </a:solidFill>
              </a:defRPr>
            </a:pPr>
            <a:r>
              <a:t>Hiller, F. S., &amp; Lieberman, G. J. (2021). Introduction to operations research (11th ed.). McGraw-Hill Education.</a:t>
            </a:r>
          </a:p>
          <a:p>
            <a:pPr>
              <a:spcAft>
                <a:spcPts val="700"/>
              </a:spcAft>
              <a:defRPr sz="1500" b="0">
                <a:solidFill>
                  <a:srgbClr val="232B32"/>
                </a:solidFill>
              </a:defRPr>
            </a:pPr>
            <a:endParaRPr/>
          </a:p>
          <a:p>
            <a:pPr>
              <a:spcAft>
                <a:spcPts val="700"/>
              </a:spcAft>
              <a:defRPr sz="1500" b="0">
                <a:solidFill>
                  <a:srgbClr val="232B32"/>
                </a:solidFill>
              </a:defRPr>
            </a:pPr>
            <a:r>
              <a:t>Despliegue de Modelos de Gemelos Digitales (Digital Twins) para la Toma de Decisión en Tiempo Real:</a:t>
            </a:r>
          </a:p>
          <a:p>
            <a:pPr>
              <a:spcAft>
                <a:spcPts val="700"/>
              </a:spcAft>
              <a:defRPr sz="1500" b="0">
                <a:solidFill>
                  <a:srgbClr val="232B32"/>
                </a:solidFill>
              </a:defRPr>
            </a:pPr>
            <a:endParaRPr/>
          </a:p>
          <a:p>
            <a:pPr>
              <a:spcAft>
                <a:spcPts val="700"/>
              </a:spcAft>
              <a:defRPr sz="1500" b="0">
                <a:solidFill>
                  <a:srgbClr val="232B32"/>
                </a:solidFill>
              </a:defRPr>
            </a:pPr>
            <a:r>
              <a:t>Sentar las bases metodológicas para evolucionar el modelo estocástico estático hacia un Gemelo Digital operativo. Mediante la conexión del motor de simulación con fuentes de datos en tiempo real provenientes de sensores de IoT ubicados en las bahías del taller y sistemas ERP comerciales, se podría actualizar dinámicamente el estado del sistema, permitiendo predecir cuellos de botella con horas de anticipación y reprogramar automáticamente las órdenes de servicio para maximizar la eficiencia global del centro de mantenimiento.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10972800" cy="182880"/>
          </a:xfrm>
          <a:prstGeom prst="rect">
            <a:avLst/>
          </a:prstGeom>
          <a:noFill/>
        </p:spPr>
        <p:txBody>
          <a:bodyPr wrap="none">
            <a:spAutoFit/>
          </a:bodyPr>
          <a:lstStyle/>
          <a:p>
            <a:pPr>
              <a:defRPr sz="800">
                <a:solidFill>
                  <a:srgbClr val="5A6974"/>
                </a:solidFill>
              </a:defRPr>
            </a:pPr>
            <a:r>
              <a:t>Proyecto Integrador • Taller Mecánico                                      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328397" y="282172"/>
            <a:ext cx="11686621" cy="6047809"/>
          </a:xfrm>
          <a:prstGeom prst="rect">
            <a:avLst/>
          </a:prstGeom>
          <a:noFill/>
        </p:spPr>
        <p:txBody>
          <a:bodyPr wrap="square" lIns="73152" rIns="73152">
            <a:spAutoFit/>
          </a:bodyPr>
          <a:lstStyle/>
          <a:p>
            <a:pPr algn="ctr"/>
            <a:r>
              <a:rPr lang="es-MX" sz="2400" b="1" dirty="0" smtClean="0"/>
              <a:t>RELACIÓN DEL MANUAL CON EL PROYECTO INTEGRADOR</a:t>
            </a:r>
          </a:p>
          <a:p>
            <a:pPr algn="ctr"/>
            <a:endParaRPr lang="es-MX" sz="2400" dirty="0" smtClean="0"/>
          </a:p>
          <a:p>
            <a:pPr algn="just">
              <a:lnSpc>
                <a:spcPct val="150000"/>
              </a:lnSpc>
            </a:pPr>
            <a:r>
              <a:rPr lang="es-MX" dirty="0" smtClean="0"/>
              <a:t>El </a:t>
            </a:r>
            <a:r>
              <a:rPr lang="es-MX" dirty="0"/>
              <a:t>presente Manual Técnico constituye una de las partes documentales del proyecto integrador. Su función es explicar la etapa correspondiente al análisis y modelado de procesos, mientras que las demás partes del proyecto permiten complementar la solución desde otras perspectivas.</a:t>
            </a:r>
          </a:p>
          <a:p>
            <a:pPr algn="just">
              <a:lnSpc>
                <a:spcPct val="150000"/>
              </a:lnSpc>
            </a:pPr>
            <a:r>
              <a:rPr lang="es-MX" dirty="0"/>
              <a:t>Los diagramas BPMN representan la lógica del proceso del taller mecánico y permiten visualizar la interacción entre las diferentes actividades. Posteriormente, el desarrollo realizado en </a:t>
            </a:r>
            <a:r>
              <a:rPr lang="es-MX" dirty="0" err="1"/>
              <a:t>IntelliJ</a:t>
            </a:r>
            <a:r>
              <a:rPr lang="es-MX" dirty="0"/>
              <a:t> IDEA permite abordar la parte relacionada con la implementación mediante software.</a:t>
            </a:r>
          </a:p>
          <a:p>
            <a:pPr algn="just">
              <a:lnSpc>
                <a:spcPct val="150000"/>
              </a:lnSpc>
            </a:pPr>
            <a:r>
              <a:rPr lang="es-MX" dirty="0"/>
              <a:t>De esta manera, el proyecto puede entenderse como un proceso dividido en diferentes etapas: primero se analiza la situación, después se representa mediante un modelo de procesos, posteriormente se estudian las posibilidades de las herramientas seleccionadas y finalmente se relaciona el análisis con el desarrollo de una solución informática. Esta integración permite demostrar que la Ingeniería en Sistemas Computacionales no se limita exclusivamente a escribir código, sino que también comprende el análisis de problemas, la representación de procesos, la selección de herramientas, la documentación y la búsqueda de soluciones tecnológicas.</a:t>
            </a:r>
          </a:p>
          <a:p>
            <a:pPr>
              <a:spcAft>
                <a:spcPts val="700"/>
              </a:spcAft>
              <a:defRPr sz="1500" b="0">
                <a:solidFill>
                  <a:srgbClr val="232B32"/>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Tree>
    <p:extLst>
      <p:ext uri="{BB962C8B-B14F-4D97-AF65-F5344CB8AC3E}">
        <p14:creationId xmlns:p14="http://schemas.microsoft.com/office/powerpoint/2010/main" val="26670706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223469"/>
            <a:ext cx="11686621" cy="923330"/>
          </a:xfrm>
          <a:prstGeom prst="rect">
            <a:avLst/>
          </a:prstGeom>
          <a:noFill/>
        </p:spPr>
        <p:txBody>
          <a:bodyPr wrap="square" lIns="73152" rIns="73152">
            <a:spAutoFit/>
          </a:bodyPr>
          <a:lstStyle/>
          <a:p>
            <a:pPr algn="ctr"/>
            <a:r>
              <a:rPr lang="es-MX" b="1" dirty="0"/>
              <a:t>CAMUNDA MODELER</a:t>
            </a:r>
            <a:endParaRPr lang="es-MX" dirty="0"/>
          </a:p>
          <a:p>
            <a:pPr algn="just"/>
            <a:r>
              <a:rPr lang="es-MX" dirty="0"/>
              <a:t>Figura 1. Inicio de </a:t>
            </a:r>
            <a:r>
              <a:rPr lang="es-MX" dirty="0" err="1"/>
              <a:t>Camunda</a:t>
            </a:r>
            <a:r>
              <a:rPr lang="es-MX" dirty="0"/>
              <a:t> </a:t>
            </a:r>
            <a:r>
              <a:rPr lang="es-MX" dirty="0" err="1"/>
              <a:t>Modeler</a:t>
            </a:r>
            <a:r>
              <a:rPr lang="es-MX" dirty="0"/>
              <a:t>, herramienta utilizada para diseñar y modelar gráficamente el proceso del taller mecánico mediante la notación BPMN. </a:t>
            </a: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87).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21806" y="1169660"/>
            <a:ext cx="8626762" cy="5040000"/>
          </a:xfrm>
          <a:prstGeom prst="rect">
            <a:avLst/>
          </a:prstGeom>
          <a:noFill/>
          <a:ln>
            <a:noFill/>
          </a:ln>
        </p:spPr>
      </p:pic>
    </p:spTree>
    <p:extLst>
      <p:ext uri="{BB962C8B-B14F-4D97-AF65-F5344CB8AC3E}">
        <p14:creationId xmlns:p14="http://schemas.microsoft.com/office/powerpoint/2010/main" val="1322858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2. Creación de un nuevo diagrama BPMN que servirá como espacio de trabajo para desarrollar el proceso del taller mecánico.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10" name="Imagen 9" descr="C:\Users\yaira\OneDrive\Pictures\Screenshots\Captura de pantalla (788).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038347" y="1031160"/>
            <a:ext cx="9354349" cy="5040000"/>
          </a:xfrm>
          <a:prstGeom prst="rect">
            <a:avLst/>
          </a:prstGeom>
          <a:noFill/>
          <a:ln>
            <a:noFill/>
          </a:ln>
        </p:spPr>
      </p:pic>
    </p:spTree>
    <p:extLst>
      <p:ext uri="{BB962C8B-B14F-4D97-AF65-F5344CB8AC3E}">
        <p14:creationId xmlns:p14="http://schemas.microsoft.com/office/powerpoint/2010/main" val="10261497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500468"/>
            <a:ext cx="11686621" cy="369332"/>
          </a:xfrm>
          <a:prstGeom prst="rect">
            <a:avLst/>
          </a:prstGeom>
          <a:noFill/>
        </p:spPr>
        <p:txBody>
          <a:bodyPr wrap="square" lIns="73152" rIns="73152">
            <a:spAutoFit/>
          </a:bodyPr>
          <a:lstStyle/>
          <a:p>
            <a:r>
              <a:rPr lang="es-MX" dirty="0"/>
              <a:t>Figura 3. Incorporación del evento de inicio, elemento que establece el punto de partida del proceso del taller mecánico.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89).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595836" y="977519"/>
            <a:ext cx="8144981" cy="5040000"/>
          </a:xfrm>
          <a:prstGeom prst="rect">
            <a:avLst/>
          </a:prstGeom>
          <a:noFill/>
          <a:ln>
            <a:noFill/>
          </a:ln>
        </p:spPr>
      </p:pic>
    </p:spTree>
    <p:extLst>
      <p:ext uri="{BB962C8B-B14F-4D97-AF65-F5344CB8AC3E}">
        <p14:creationId xmlns:p14="http://schemas.microsoft.com/office/powerpoint/2010/main" val="40664673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4. Incorporación de la primera actividad del proceso, correspondiente a la recepción del vehículo por parte del personal encargado.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0).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937836" y="1003613"/>
            <a:ext cx="8258215" cy="4994064"/>
          </a:xfrm>
          <a:prstGeom prst="rect">
            <a:avLst/>
          </a:prstGeom>
          <a:noFill/>
          <a:ln>
            <a:noFill/>
          </a:ln>
        </p:spPr>
      </p:pic>
    </p:spTree>
    <p:extLst>
      <p:ext uri="{BB962C8B-B14F-4D97-AF65-F5344CB8AC3E}">
        <p14:creationId xmlns:p14="http://schemas.microsoft.com/office/powerpoint/2010/main" val="20347123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223469"/>
            <a:ext cx="11686621" cy="923330"/>
          </a:xfrm>
          <a:prstGeom prst="rect">
            <a:avLst/>
          </a:prstGeom>
          <a:noFill/>
        </p:spPr>
        <p:txBody>
          <a:bodyPr wrap="square" lIns="73152" rIns="73152">
            <a:spAutoFit/>
          </a:bodyPr>
          <a:lstStyle/>
          <a:p>
            <a:r>
              <a:rPr lang="es-MX" dirty="0"/>
              <a:t> </a:t>
            </a:r>
          </a:p>
          <a:p>
            <a:r>
              <a:rPr lang="es-MX" dirty="0"/>
              <a:t>Figura 5. Creación de la actividad encargada de registrar la información del cliente y del vehículo para continuar con el proceso de atención.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1).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225160" y="1197652"/>
            <a:ext cx="8882401" cy="4979120"/>
          </a:xfrm>
          <a:prstGeom prst="rect">
            <a:avLst/>
          </a:prstGeom>
          <a:noFill/>
          <a:ln>
            <a:noFill/>
          </a:ln>
        </p:spPr>
      </p:pic>
    </p:spTree>
    <p:extLst>
      <p:ext uri="{BB962C8B-B14F-4D97-AF65-F5344CB8AC3E}">
        <p14:creationId xmlns:p14="http://schemas.microsoft.com/office/powerpoint/2010/main" val="4230580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6. Incorporación de la actividad de diagnóstico, mediante la cual se analiza el vehículo antes de determinar el servicio que deberá realizarse.</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2).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126837" y="1031160"/>
            <a:ext cx="9275691" cy="5145612"/>
          </a:xfrm>
          <a:prstGeom prst="rect">
            <a:avLst/>
          </a:prstGeom>
          <a:noFill/>
          <a:ln>
            <a:noFill/>
          </a:ln>
        </p:spPr>
      </p:pic>
    </p:spTree>
    <p:extLst>
      <p:ext uri="{BB962C8B-B14F-4D97-AF65-F5344CB8AC3E}">
        <p14:creationId xmlns:p14="http://schemas.microsoft.com/office/powerpoint/2010/main" val="4145577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7. Incorporación de una compuerta exclusiva para controlar la decisión correspondiente al tipo de servicio que requiere el vehículo.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3).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61031" y="1095946"/>
            <a:ext cx="9254712" cy="4891899"/>
          </a:xfrm>
          <a:prstGeom prst="rect">
            <a:avLst/>
          </a:prstGeom>
          <a:noFill/>
          <a:ln>
            <a:noFill/>
          </a:ln>
        </p:spPr>
      </p:pic>
    </p:spTree>
    <p:extLst>
      <p:ext uri="{BB962C8B-B14F-4D97-AF65-F5344CB8AC3E}">
        <p14:creationId xmlns:p14="http://schemas.microsoft.com/office/powerpoint/2010/main" val="35657723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8. Creación de las diferentes alternativas de servicio que puede seguir el proceso de acuerdo con las necesidades identificadas durante el diagnóstico del vehículo.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4).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27354" y="1095946"/>
            <a:ext cx="8947355" cy="5157655"/>
          </a:xfrm>
          <a:prstGeom prst="rect">
            <a:avLst/>
          </a:prstGeom>
          <a:noFill/>
          <a:ln>
            <a:noFill/>
          </a:ln>
        </p:spPr>
      </p:pic>
    </p:spTree>
    <p:extLst>
      <p:ext uri="{BB962C8B-B14F-4D97-AF65-F5344CB8AC3E}">
        <p14:creationId xmlns:p14="http://schemas.microsoft.com/office/powerpoint/2010/main" val="9172069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9. Configuración de las condiciones de los flujos de secuencia para identificar la alternativa de servicio seleccionada dentro del proceso.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5).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42784" y="1095947"/>
            <a:ext cx="8418971" cy="4950892"/>
          </a:xfrm>
          <a:prstGeom prst="rect">
            <a:avLst/>
          </a:prstGeom>
          <a:noFill/>
          <a:ln>
            <a:noFill/>
          </a:ln>
        </p:spPr>
      </p:pic>
    </p:spTree>
    <p:extLst>
      <p:ext uri="{BB962C8B-B14F-4D97-AF65-F5344CB8AC3E}">
        <p14:creationId xmlns:p14="http://schemas.microsoft.com/office/powerpoint/2010/main" val="17250436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10. Incorporación de la compuerta utilizada para reunir nuevamente las diferentes rutas del proceso después de completar el servicio correspondiente.</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6).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783161" y="1095946"/>
            <a:ext cx="8410452" cy="4911563"/>
          </a:xfrm>
          <a:prstGeom prst="rect">
            <a:avLst/>
          </a:prstGeom>
          <a:noFill/>
          <a:ln>
            <a:noFill/>
          </a:ln>
        </p:spPr>
      </p:pic>
    </p:spTree>
    <p:extLst>
      <p:ext uri="{BB962C8B-B14F-4D97-AF65-F5344CB8AC3E}">
        <p14:creationId xmlns:p14="http://schemas.microsoft.com/office/powerpoint/2010/main" val="5336056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11. Creación de la actividad de prueba de calidad, utilizada para verificar el resultado del servicio realizado al vehículo antes de continuar con la entrega.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7).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653907" y="1260539"/>
            <a:ext cx="8178351" cy="4720804"/>
          </a:xfrm>
          <a:prstGeom prst="rect">
            <a:avLst/>
          </a:prstGeom>
          <a:noFill/>
          <a:ln>
            <a:noFill/>
          </a:ln>
        </p:spPr>
      </p:pic>
    </p:spTree>
    <p:extLst>
      <p:ext uri="{BB962C8B-B14F-4D97-AF65-F5344CB8AC3E}">
        <p14:creationId xmlns:p14="http://schemas.microsoft.com/office/powerpoint/2010/main" val="6726511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12. Incorporación de una compuerta de decisión que determina el flujo del proceso dependiendo de si el cliente se encuentra esperando el vehículo.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8).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634243" y="1223690"/>
            <a:ext cx="8394660" cy="4953082"/>
          </a:xfrm>
          <a:prstGeom prst="rect">
            <a:avLst/>
          </a:prstGeom>
          <a:noFill/>
          <a:ln>
            <a:noFill/>
          </a:ln>
        </p:spPr>
      </p:pic>
    </p:spTree>
    <p:extLst>
      <p:ext uri="{BB962C8B-B14F-4D97-AF65-F5344CB8AC3E}">
        <p14:creationId xmlns:p14="http://schemas.microsoft.com/office/powerpoint/2010/main" val="29028425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13. Unificación de las rutas de entrega del vehículo, permitiendo que las diferentes condiciones del proceso conduzcan finalmente a la actividad de entrega.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799).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532438" y="1095947"/>
            <a:ext cx="8911897" cy="5157655"/>
          </a:xfrm>
          <a:prstGeom prst="rect">
            <a:avLst/>
          </a:prstGeom>
          <a:noFill/>
          <a:ln>
            <a:noFill/>
          </a:ln>
        </p:spPr>
      </p:pic>
    </p:spTree>
    <p:extLst>
      <p:ext uri="{BB962C8B-B14F-4D97-AF65-F5344CB8AC3E}">
        <p14:creationId xmlns:p14="http://schemas.microsoft.com/office/powerpoint/2010/main" val="38630607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500468"/>
            <a:ext cx="11686621" cy="369332"/>
          </a:xfrm>
          <a:prstGeom prst="rect">
            <a:avLst/>
          </a:prstGeom>
          <a:noFill/>
        </p:spPr>
        <p:txBody>
          <a:bodyPr wrap="square" lIns="73152" rIns="73152">
            <a:spAutoFit/>
          </a:bodyPr>
          <a:lstStyle/>
          <a:p>
            <a:r>
              <a:rPr lang="es-MX" dirty="0"/>
              <a:t>Figura 14. Incorporación del evento de fin, que indica la conclusión del proceso de atención y entrega del vehículo.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00).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539793" y="1095947"/>
            <a:ext cx="8538272" cy="4950891"/>
          </a:xfrm>
          <a:prstGeom prst="rect">
            <a:avLst/>
          </a:prstGeom>
          <a:noFill/>
          <a:ln>
            <a:noFill/>
          </a:ln>
        </p:spPr>
      </p:pic>
    </p:spTree>
    <p:extLst>
      <p:ext uri="{BB962C8B-B14F-4D97-AF65-F5344CB8AC3E}">
        <p14:creationId xmlns:p14="http://schemas.microsoft.com/office/powerpoint/2010/main" val="3120976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pPr algn="ctr"/>
            <a:r>
              <a:rPr lang="es-MX" dirty="0"/>
              <a:t>Figura 15. Configuración de un flujo de secuencia condicionado, utilizado para determinar la ruta que debe seguir el proceso de acuerdo con la decisión</a:t>
            </a: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01).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707482" y="1019117"/>
            <a:ext cx="8561809" cy="5157655"/>
          </a:xfrm>
          <a:prstGeom prst="rect">
            <a:avLst/>
          </a:prstGeom>
          <a:noFill/>
          <a:ln>
            <a:noFill/>
          </a:ln>
        </p:spPr>
      </p:pic>
    </p:spTree>
    <p:extLst>
      <p:ext uri="{BB962C8B-B14F-4D97-AF65-F5344CB8AC3E}">
        <p14:creationId xmlns:p14="http://schemas.microsoft.com/office/powerpoint/2010/main" val="8757652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pPr algn="ctr"/>
            <a:r>
              <a:rPr lang="es-MX" b="1" dirty="0"/>
              <a:t>BIZAGI</a:t>
            </a:r>
            <a:endParaRPr lang="es-MX" dirty="0"/>
          </a:p>
          <a:p>
            <a:r>
              <a:rPr lang="es-MX" dirty="0"/>
              <a:t>Figura 1. Se muestra la interfaz de trabajo de </a:t>
            </a:r>
            <a:r>
              <a:rPr lang="es-MX" dirty="0" err="1"/>
              <a:t>Bizagi</a:t>
            </a:r>
            <a:r>
              <a:rPr lang="es-MX" dirty="0"/>
              <a:t> </a:t>
            </a:r>
            <a:r>
              <a:rPr lang="es-MX" dirty="0" err="1"/>
              <a:t>Modeler</a:t>
            </a:r>
            <a:r>
              <a:rPr lang="es-MX" dirty="0"/>
              <a:t> y el área donde se desarrolla el modelo BPMN.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14).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616012" y="1095947"/>
            <a:ext cx="8744749" cy="4872234"/>
          </a:xfrm>
          <a:prstGeom prst="rect">
            <a:avLst/>
          </a:prstGeom>
          <a:noFill/>
          <a:ln>
            <a:noFill/>
          </a:ln>
        </p:spPr>
      </p:pic>
    </p:spTree>
    <p:extLst>
      <p:ext uri="{BB962C8B-B14F-4D97-AF65-F5344CB8AC3E}">
        <p14:creationId xmlns:p14="http://schemas.microsoft.com/office/powerpoint/2010/main" val="15120156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2. Se agrega el evento de inicio BPMN para establecer el punto en el que comienza el proceso de atención del cliente y recepción del vehículo en el taller.</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15).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795432" y="1455968"/>
            <a:ext cx="8203974" cy="4720804"/>
          </a:xfrm>
          <a:prstGeom prst="rect">
            <a:avLst/>
          </a:prstGeom>
          <a:noFill/>
          <a:ln>
            <a:noFill/>
          </a:ln>
        </p:spPr>
      </p:pic>
    </p:spTree>
    <p:extLst>
      <p:ext uri="{BB962C8B-B14F-4D97-AF65-F5344CB8AC3E}">
        <p14:creationId xmlns:p14="http://schemas.microsoft.com/office/powerpoint/2010/main" val="30638313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3. Se incorpora la actividad correspondiente a la recepción del cliente y del vehículo, conectándola con el evento de inicio mediante un flujo de secuencia.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10" name="Imagen 9" descr="C:\Users\yaira\OneDrive\Pictures\Screenshots\Captura de pantalla (816).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657780" y="1181797"/>
            <a:ext cx="8400620" cy="4865042"/>
          </a:xfrm>
          <a:prstGeom prst="rect">
            <a:avLst/>
          </a:prstGeom>
          <a:noFill/>
          <a:ln>
            <a:noFill/>
          </a:ln>
        </p:spPr>
      </p:pic>
    </p:spTree>
    <p:extLst>
      <p:ext uri="{BB962C8B-B14F-4D97-AF65-F5344CB8AC3E}">
        <p14:creationId xmlns:p14="http://schemas.microsoft.com/office/powerpoint/2010/main" val="8011190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4. Se agrega la actividad destinada a registrar la información necesaria del cliente y del vehículo antes de continuar con la selección del servicio requerido.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17).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795430" y="1300520"/>
            <a:ext cx="8203975" cy="4706990"/>
          </a:xfrm>
          <a:prstGeom prst="rect">
            <a:avLst/>
          </a:prstGeom>
          <a:noFill/>
          <a:ln>
            <a:noFill/>
          </a:ln>
        </p:spPr>
      </p:pic>
    </p:spTree>
    <p:extLst>
      <p:ext uri="{BB962C8B-B14F-4D97-AF65-F5344CB8AC3E}">
        <p14:creationId xmlns:p14="http://schemas.microsoft.com/office/powerpoint/2010/main" val="8064811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5. Se agrega la actividad que representa la selección del servicio solicitado por el cliente, estableciendo el punto del proceso. </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18).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746270" y="1260539"/>
            <a:ext cx="8154814" cy="4815796"/>
          </a:xfrm>
          <a:prstGeom prst="rect">
            <a:avLst/>
          </a:prstGeom>
          <a:noFill/>
          <a:ln>
            <a:noFill/>
          </a:ln>
        </p:spPr>
      </p:pic>
    </p:spTree>
    <p:extLst>
      <p:ext uri="{BB962C8B-B14F-4D97-AF65-F5344CB8AC3E}">
        <p14:creationId xmlns:p14="http://schemas.microsoft.com/office/powerpoint/2010/main" val="11899762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6. Se incorpora una compuerta exclusiva BPMN para controlar la división del flujo de acuerdo con la alternativa de servicio seleccionada.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19).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937837" y="1260539"/>
            <a:ext cx="8091066" cy="4815796"/>
          </a:xfrm>
          <a:prstGeom prst="rect">
            <a:avLst/>
          </a:prstGeom>
          <a:noFill/>
          <a:ln>
            <a:noFill/>
          </a:ln>
        </p:spPr>
      </p:pic>
    </p:spTree>
    <p:extLst>
      <p:ext uri="{BB962C8B-B14F-4D97-AF65-F5344CB8AC3E}">
        <p14:creationId xmlns:p14="http://schemas.microsoft.com/office/powerpoint/2010/main" val="37566580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7. Se establecen las diferentes rutas del proceso correspondientes a cambio de aceite, frenos y trabajo de motor, utilizando flujos de secuencia para representar cada alternativa.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20).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982244" y="1260539"/>
            <a:ext cx="8302297" cy="4876252"/>
          </a:xfrm>
          <a:prstGeom prst="rect">
            <a:avLst/>
          </a:prstGeom>
          <a:noFill/>
          <a:ln>
            <a:noFill/>
          </a:ln>
        </p:spPr>
      </p:pic>
    </p:spTree>
    <p:extLst>
      <p:ext uri="{BB962C8B-B14F-4D97-AF65-F5344CB8AC3E}">
        <p14:creationId xmlns:p14="http://schemas.microsoft.com/office/powerpoint/2010/main" val="14675842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8. Se agregan las actividades relacionadas con la asignación del mecánico, la realización del servicio seleccionado y la revisión posterior del vehículo.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21).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736438" y="1260538"/>
            <a:ext cx="8262968" cy="4916233"/>
          </a:xfrm>
          <a:prstGeom prst="rect">
            <a:avLst/>
          </a:prstGeom>
          <a:noFill/>
          <a:ln>
            <a:noFill/>
          </a:ln>
        </p:spPr>
      </p:pic>
    </p:spTree>
    <p:extLst>
      <p:ext uri="{BB962C8B-B14F-4D97-AF65-F5344CB8AC3E}">
        <p14:creationId xmlns:p14="http://schemas.microsoft.com/office/powerpoint/2010/main" val="19060499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9. Se incorpora una compuerta para determinar, después de la revisión, si el vehículo se encuentra listo para continuar con el proceso de entrega.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22).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667613" y="1282231"/>
            <a:ext cx="8341626" cy="4784271"/>
          </a:xfrm>
          <a:prstGeom prst="rect">
            <a:avLst/>
          </a:prstGeom>
          <a:noFill/>
          <a:ln>
            <a:noFill/>
          </a:ln>
        </p:spPr>
      </p:pic>
    </p:spTree>
    <p:extLst>
      <p:ext uri="{BB962C8B-B14F-4D97-AF65-F5344CB8AC3E}">
        <p14:creationId xmlns:p14="http://schemas.microsoft.com/office/powerpoint/2010/main" val="42060310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10. Se establece una segunda compuerta exclusiva para determinar el procedimiento de entrega del vehículo, diferenciando entre el cliente que permanece en espera y el que regresará posteriormente.</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23).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901148" y="1260539"/>
            <a:ext cx="8174478" cy="4559506"/>
          </a:xfrm>
          <a:prstGeom prst="rect">
            <a:avLst/>
          </a:prstGeom>
          <a:noFill/>
          <a:ln>
            <a:noFill/>
          </a:ln>
        </p:spPr>
      </p:pic>
    </p:spTree>
    <p:extLst>
      <p:ext uri="{BB962C8B-B14F-4D97-AF65-F5344CB8AC3E}">
        <p14:creationId xmlns:p14="http://schemas.microsoft.com/office/powerpoint/2010/main" val="18152877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dirty="0"/>
              <a:t>Figura 11.Se muestra el modelo BPMN terminado, integrando los eventos, actividades, compuertas, flujos de secuencia y responsables. </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24).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618450" y="1191628"/>
            <a:ext cx="8666091" cy="4766719"/>
          </a:xfrm>
          <a:prstGeom prst="rect">
            <a:avLst/>
          </a:prstGeom>
          <a:noFill/>
          <a:ln>
            <a:noFill/>
          </a:ln>
        </p:spPr>
      </p:pic>
    </p:spTree>
    <p:extLst>
      <p:ext uri="{BB962C8B-B14F-4D97-AF65-F5344CB8AC3E}">
        <p14:creationId xmlns:p14="http://schemas.microsoft.com/office/powerpoint/2010/main" val="24386849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pPr algn="ctr"/>
            <a:r>
              <a:rPr lang="es-MX" b="1" dirty="0"/>
              <a:t>BONITA STUDIO</a:t>
            </a:r>
            <a:endParaRPr lang="es-MX" dirty="0"/>
          </a:p>
          <a:p>
            <a:r>
              <a:rPr lang="es-MX" b="1" dirty="0"/>
              <a:t>Figura 1.</a:t>
            </a:r>
            <a:r>
              <a:rPr lang="es-MX" dirty="0"/>
              <a:t> Inicio de Bonita Studio y acceso al entorno de trabajo utilizado para desarrollar el proceso del taller mecánico.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39).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942915" y="1095947"/>
            <a:ext cx="8430117" cy="4980388"/>
          </a:xfrm>
          <a:prstGeom prst="rect">
            <a:avLst/>
          </a:prstGeom>
          <a:noFill/>
          <a:ln>
            <a:noFill/>
          </a:ln>
        </p:spPr>
      </p:pic>
    </p:spTree>
    <p:extLst>
      <p:ext uri="{BB962C8B-B14F-4D97-AF65-F5344CB8AC3E}">
        <p14:creationId xmlns:p14="http://schemas.microsoft.com/office/powerpoint/2010/main" val="33553780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2.</a:t>
            </a:r>
            <a:r>
              <a:rPr lang="es-MX" dirty="0"/>
              <a:t> Creación y apertura del proyecto </a:t>
            </a:r>
            <a:r>
              <a:rPr lang="es-MX" dirty="0" err="1"/>
              <a:t>Taller_Mecanico</a:t>
            </a:r>
            <a:r>
              <a:rPr lang="es-MX" dirty="0"/>
              <a:t> en Bonita Studio para comenzar la construcción del proceso BPMN.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40).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586516" y="1183708"/>
            <a:ext cx="8803742" cy="4993064"/>
          </a:xfrm>
          <a:prstGeom prst="rect">
            <a:avLst/>
          </a:prstGeom>
          <a:noFill/>
          <a:ln>
            <a:noFill/>
          </a:ln>
        </p:spPr>
      </p:pic>
    </p:spTree>
    <p:extLst>
      <p:ext uri="{BB962C8B-B14F-4D97-AF65-F5344CB8AC3E}">
        <p14:creationId xmlns:p14="http://schemas.microsoft.com/office/powerpoint/2010/main" val="13901997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3.</a:t>
            </a:r>
            <a:r>
              <a:rPr lang="es-MX" dirty="0"/>
              <a:t> Creación del proceso </a:t>
            </a:r>
            <a:r>
              <a:rPr lang="es-MX" dirty="0" err="1"/>
              <a:t>Taller_Mecanico</a:t>
            </a:r>
            <a:r>
              <a:rPr lang="es-MX" dirty="0"/>
              <a:t> dentro del proyecto, estableciendo el espacio de trabajo donde se desarrolló el diagrama.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41).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579121" y="1095947"/>
            <a:ext cx="8666091" cy="4960724"/>
          </a:xfrm>
          <a:prstGeom prst="rect">
            <a:avLst/>
          </a:prstGeom>
          <a:noFill/>
          <a:ln>
            <a:noFill/>
          </a:ln>
        </p:spPr>
      </p:pic>
    </p:spTree>
    <p:extLst>
      <p:ext uri="{BB962C8B-B14F-4D97-AF65-F5344CB8AC3E}">
        <p14:creationId xmlns:p14="http://schemas.microsoft.com/office/powerpoint/2010/main" val="19139953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500468"/>
            <a:ext cx="11686621" cy="369332"/>
          </a:xfrm>
          <a:prstGeom prst="rect">
            <a:avLst/>
          </a:prstGeom>
          <a:noFill/>
        </p:spPr>
        <p:txBody>
          <a:bodyPr wrap="square" lIns="73152" rIns="73152">
            <a:spAutoFit/>
          </a:bodyPr>
          <a:lstStyle/>
          <a:p>
            <a:r>
              <a:rPr lang="es-MX" b="1" dirty="0"/>
              <a:t>Figura 4.</a:t>
            </a:r>
            <a:r>
              <a:rPr lang="es-MX" dirty="0"/>
              <a:t> Incorporación del evento de inicio al área de modelado, estableciendo el punto inicial del flujo del proceso.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42).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751728" y="1260540"/>
            <a:ext cx="8473318" cy="4816235"/>
          </a:xfrm>
          <a:prstGeom prst="rect">
            <a:avLst/>
          </a:prstGeom>
          <a:noFill/>
          <a:ln>
            <a:noFill/>
          </a:ln>
        </p:spPr>
      </p:pic>
    </p:spTree>
    <p:extLst>
      <p:ext uri="{BB962C8B-B14F-4D97-AF65-F5344CB8AC3E}">
        <p14:creationId xmlns:p14="http://schemas.microsoft.com/office/powerpoint/2010/main" val="28918747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5.</a:t>
            </a:r>
            <a:r>
              <a:rPr lang="es-MX" dirty="0"/>
              <a:t> Incorporación de la actividad </a:t>
            </a:r>
            <a:r>
              <a:rPr lang="es-MX" b="1" dirty="0"/>
              <a:t>“Registrar datos del cliente y vehículo”</a:t>
            </a:r>
            <a:r>
              <a:rPr lang="es-MX" dirty="0"/>
              <a:t>, estableciendo la primera tarea que se ejecuta después del inicio del proceso.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43).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80799" y="1216588"/>
            <a:ext cx="8931561" cy="5037013"/>
          </a:xfrm>
          <a:prstGeom prst="rect">
            <a:avLst/>
          </a:prstGeom>
          <a:noFill/>
          <a:ln>
            <a:noFill/>
          </a:ln>
        </p:spPr>
      </p:pic>
    </p:spTree>
    <p:extLst>
      <p:ext uri="{BB962C8B-B14F-4D97-AF65-F5344CB8AC3E}">
        <p14:creationId xmlns:p14="http://schemas.microsoft.com/office/powerpoint/2010/main" val="17477194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6.</a:t>
            </a:r>
            <a:r>
              <a:rPr lang="es-MX" dirty="0"/>
              <a:t> Incorporación de las actividades iniciales del proceso y conexión mediante flujos de secuencia para establecer el orden de ejecución.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44).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529960" y="1260538"/>
            <a:ext cx="8911898" cy="4916233"/>
          </a:xfrm>
          <a:prstGeom prst="rect">
            <a:avLst/>
          </a:prstGeom>
          <a:noFill/>
          <a:ln>
            <a:noFill/>
          </a:ln>
        </p:spPr>
      </p:pic>
    </p:spTree>
    <p:extLst>
      <p:ext uri="{BB962C8B-B14F-4D97-AF65-F5344CB8AC3E}">
        <p14:creationId xmlns:p14="http://schemas.microsoft.com/office/powerpoint/2010/main" val="12155613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7.</a:t>
            </a:r>
            <a:r>
              <a:rPr lang="es-MX" dirty="0"/>
              <a:t> Configuración de los actores del proceso en Bonita Studio, definiendo los participantes que intervienen en la ejecución de las actividades.</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45).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61134" y="1095946"/>
            <a:ext cx="9216697" cy="5080825"/>
          </a:xfrm>
          <a:prstGeom prst="rect">
            <a:avLst/>
          </a:prstGeom>
          <a:noFill/>
          <a:ln>
            <a:noFill/>
          </a:ln>
        </p:spPr>
      </p:pic>
    </p:spTree>
    <p:extLst>
      <p:ext uri="{BB962C8B-B14F-4D97-AF65-F5344CB8AC3E}">
        <p14:creationId xmlns:p14="http://schemas.microsoft.com/office/powerpoint/2010/main" val="11656959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8.</a:t>
            </a:r>
            <a:r>
              <a:rPr lang="es-MX" dirty="0"/>
              <a:t> Asignación de los actores correspondientes a las actividades del proceso, permitiendo establecer qué participante será responsable de cada tarea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46).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716772" y="1455968"/>
            <a:ext cx="8587433" cy="4797634"/>
          </a:xfrm>
          <a:prstGeom prst="rect">
            <a:avLst/>
          </a:prstGeom>
          <a:noFill/>
          <a:ln>
            <a:noFill/>
          </a:ln>
        </p:spPr>
      </p:pic>
    </p:spTree>
    <p:extLst>
      <p:ext uri="{BB962C8B-B14F-4D97-AF65-F5344CB8AC3E}">
        <p14:creationId xmlns:p14="http://schemas.microsoft.com/office/powerpoint/2010/main" val="27172992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9.</a:t>
            </a:r>
            <a:r>
              <a:rPr lang="es-MX" dirty="0"/>
              <a:t> Incorporación de las actividades relacionadas con la atención del servicio, incluyendo </a:t>
            </a:r>
            <a:r>
              <a:rPr lang="es-MX" b="1" dirty="0"/>
              <a:t>“Seleccionar servicio”</a:t>
            </a:r>
            <a:r>
              <a:rPr lang="es-MX" dirty="0"/>
              <a:t>, </a:t>
            </a:r>
            <a:r>
              <a:rPr lang="es-MX" b="1" dirty="0"/>
              <a:t>“Asignar mecánico”</a:t>
            </a:r>
            <a:r>
              <a:rPr lang="es-MX" dirty="0"/>
              <a:t> e </a:t>
            </a:r>
            <a:r>
              <a:rPr lang="es-MX" b="1" dirty="0"/>
              <a:t>“Informar hora de recogida”</a:t>
            </a:r>
            <a:r>
              <a:rPr lang="es-MX" dirty="0"/>
              <a:t>.</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47).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86257" y="1260538"/>
            <a:ext cx="9004260" cy="4916233"/>
          </a:xfrm>
          <a:prstGeom prst="rect">
            <a:avLst/>
          </a:prstGeom>
          <a:noFill/>
          <a:ln>
            <a:noFill/>
          </a:ln>
        </p:spPr>
      </p:pic>
    </p:spTree>
    <p:extLst>
      <p:ext uri="{BB962C8B-B14F-4D97-AF65-F5344CB8AC3E}">
        <p14:creationId xmlns:p14="http://schemas.microsoft.com/office/powerpoint/2010/main" val="33701470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10.</a:t>
            </a:r>
            <a:r>
              <a:rPr lang="es-MX" dirty="0"/>
              <a:t> Incorporación de las actividades correspondientes al trabajo realizado por el mecánico, estableciendo las tareas de servicio y las posibles </a:t>
            </a:r>
            <a:r>
              <a:rPr lang="es-MX" dirty="0" smtClean="0"/>
              <a:t>correcciones.</a:t>
            </a:r>
            <a:endParaRPr lang="es-MX"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10" name="Imagen 9" descr="C:\Users\yaira\OneDrive\Pictures\Screenshots\Captura de pantalla (848).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73444" y="1357645"/>
            <a:ext cx="9029885" cy="4720804"/>
          </a:xfrm>
          <a:prstGeom prst="rect">
            <a:avLst/>
          </a:prstGeom>
          <a:noFill/>
          <a:ln>
            <a:noFill/>
          </a:ln>
        </p:spPr>
      </p:pic>
    </p:spTree>
    <p:extLst>
      <p:ext uri="{BB962C8B-B14F-4D97-AF65-F5344CB8AC3E}">
        <p14:creationId xmlns:p14="http://schemas.microsoft.com/office/powerpoint/2010/main" val="35313942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11.</a:t>
            </a:r>
            <a:r>
              <a:rPr lang="es-MX" dirty="0"/>
              <a:t> Incorporación del punto de decisión dentro del proceso para establecer las diferentes alternativas que puede seguir el flujo del taller mecánico.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49).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608618" y="1455968"/>
            <a:ext cx="8970891" cy="4959108"/>
          </a:xfrm>
          <a:prstGeom prst="rect">
            <a:avLst/>
          </a:prstGeom>
          <a:noFill/>
          <a:ln>
            <a:noFill/>
          </a:ln>
        </p:spPr>
      </p:pic>
    </p:spTree>
    <p:extLst>
      <p:ext uri="{BB962C8B-B14F-4D97-AF65-F5344CB8AC3E}">
        <p14:creationId xmlns:p14="http://schemas.microsoft.com/office/powerpoint/2010/main" val="34897743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12.</a:t>
            </a:r>
            <a:r>
              <a:rPr lang="es-MX" dirty="0"/>
              <a:t> Creación de las rutas alternativas del proceso y conexión de cada una mediante flujos de secuencia para representar las diferentes posibilidades de atención.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50).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556828" y="1300520"/>
            <a:ext cx="8926874" cy="4876252"/>
          </a:xfrm>
          <a:prstGeom prst="rect">
            <a:avLst/>
          </a:prstGeom>
          <a:noFill/>
          <a:ln>
            <a:noFill/>
          </a:ln>
        </p:spPr>
      </p:pic>
    </p:spTree>
    <p:extLst>
      <p:ext uri="{BB962C8B-B14F-4D97-AF65-F5344CB8AC3E}">
        <p14:creationId xmlns:p14="http://schemas.microsoft.com/office/powerpoint/2010/main" val="12278255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13.</a:t>
            </a:r>
            <a:r>
              <a:rPr lang="es-MX" dirty="0"/>
              <a:t> Integración de las diferentes rutas del proceso con las actividades posteriores, manteniendo la continuidad del flujo hasta la finalización del servicio.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51).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641889" y="1300520"/>
            <a:ext cx="8926874" cy="4876252"/>
          </a:xfrm>
          <a:prstGeom prst="rect">
            <a:avLst/>
          </a:prstGeom>
          <a:noFill/>
          <a:ln>
            <a:noFill/>
          </a:ln>
        </p:spPr>
      </p:pic>
    </p:spTree>
    <p:extLst>
      <p:ext uri="{BB962C8B-B14F-4D97-AF65-F5344CB8AC3E}">
        <p14:creationId xmlns:p14="http://schemas.microsoft.com/office/powerpoint/2010/main" val="42018307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3796"/>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500468"/>
            <a:ext cx="11686621" cy="369332"/>
          </a:xfrm>
          <a:prstGeom prst="rect">
            <a:avLst/>
          </a:prstGeom>
          <a:noFill/>
        </p:spPr>
        <p:txBody>
          <a:bodyPr wrap="square" lIns="73152" rIns="73152">
            <a:spAutoFit/>
          </a:bodyPr>
          <a:lstStyle/>
          <a:p>
            <a:r>
              <a:rPr lang="es-MX" b="1" dirty="0"/>
              <a:t>Figura 14.</a:t>
            </a:r>
            <a:r>
              <a:rPr lang="es-MX" dirty="0"/>
              <a:t> Incorporación del evento de finalización para establecer el punto donde concluye el proceso del taller mecánico.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52).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92043" y="1260540"/>
            <a:ext cx="9192688" cy="4980028"/>
          </a:xfrm>
          <a:prstGeom prst="rect">
            <a:avLst/>
          </a:prstGeom>
          <a:noFill/>
          <a:ln>
            <a:noFill/>
          </a:ln>
        </p:spPr>
      </p:pic>
    </p:spTree>
    <p:extLst>
      <p:ext uri="{BB962C8B-B14F-4D97-AF65-F5344CB8AC3E}">
        <p14:creationId xmlns:p14="http://schemas.microsoft.com/office/powerpoint/2010/main" val="344369293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15.</a:t>
            </a:r>
            <a:r>
              <a:rPr lang="es-MX" dirty="0"/>
              <a:t> Visualización del diagrama BPMN completo en Bonita Studio, mostrando las actividades, actores, decisiones y conexiones configuradas durante la construcción del proceso.</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53).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68771" y="1260538"/>
            <a:ext cx="9402009" cy="4916233"/>
          </a:xfrm>
          <a:prstGeom prst="rect">
            <a:avLst/>
          </a:prstGeom>
          <a:noFill/>
          <a:ln>
            <a:noFill/>
          </a:ln>
        </p:spPr>
      </p:pic>
    </p:spTree>
    <p:extLst>
      <p:ext uri="{BB962C8B-B14F-4D97-AF65-F5344CB8AC3E}">
        <p14:creationId xmlns:p14="http://schemas.microsoft.com/office/powerpoint/2010/main" val="398707148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3796"/>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graphicFrame>
        <p:nvGraphicFramePr>
          <p:cNvPr id="5" name="Tabla 4"/>
          <p:cNvGraphicFramePr>
            <a:graphicFrameLocks noGrp="1"/>
          </p:cNvGraphicFramePr>
          <p:nvPr>
            <p:extLst>
              <p:ext uri="{D42A27DB-BD31-4B8C-83A1-F6EECF244321}">
                <p14:modId xmlns:p14="http://schemas.microsoft.com/office/powerpoint/2010/main" val="379130874"/>
              </p:ext>
            </p:extLst>
          </p:nvPr>
        </p:nvGraphicFramePr>
        <p:xfrm>
          <a:off x="53163" y="109728"/>
          <a:ext cx="11982893" cy="6311480"/>
        </p:xfrm>
        <a:graphic>
          <a:graphicData uri="http://schemas.openxmlformats.org/drawingml/2006/table">
            <a:tbl>
              <a:tblPr firstRow="1" firstCol="1" bandRow="1">
                <a:tableStyleId>{5C22544A-7EE6-4342-B048-85BDC9FD1C3A}</a:tableStyleId>
              </a:tblPr>
              <a:tblGrid>
                <a:gridCol w="2243470"/>
                <a:gridCol w="2646538"/>
                <a:gridCol w="3807424"/>
                <a:gridCol w="3285461"/>
              </a:tblGrid>
              <a:tr h="77234">
                <a:tc>
                  <a:txBody>
                    <a:bodyPr/>
                    <a:lstStyle/>
                    <a:p>
                      <a:pPr algn="ctr">
                        <a:lnSpc>
                          <a:spcPct val="150000"/>
                        </a:lnSpc>
                        <a:spcAft>
                          <a:spcPts val="800"/>
                        </a:spcAft>
                      </a:pPr>
                      <a:r>
                        <a:rPr lang="es-MX" sz="1200" dirty="0">
                          <a:effectLst/>
                        </a:rPr>
                        <a:t>CARACTERÍSTICA</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ctr">
                        <a:lnSpc>
                          <a:spcPct val="150000"/>
                        </a:lnSpc>
                        <a:spcAft>
                          <a:spcPts val="800"/>
                        </a:spcAft>
                      </a:pPr>
                      <a:r>
                        <a:rPr lang="es-MX" sz="1200">
                          <a:effectLst/>
                        </a:rPr>
                        <a:t>CAMUNDA MODELER</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ctr">
                        <a:lnSpc>
                          <a:spcPct val="150000"/>
                        </a:lnSpc>
                        <a:spcAft>
                          <a:spcPts val="800"/>
                        </a:spcAft>
                      </a:pPr>
                      <a:r>
                        <a:rPr lang="es-MX" sz="1200">
                          <a:effectLst/>
                        </a:rPr>
                        <a:t>BIZAGI MODELER</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ctr">
                        <a:lnSpc>
                          <a:spcPct val="150000"/>
                        </a:lnSpc>
                        <a:spcAft>
                          <a:spcPts val="800"/>
                        </a:spcAft>
                      </a:pPr>
                      <a:r>
                        <a:rPr lang="es-MX" sz="1200" dirty="0">
                          <a:effectLst/>
                        </a:rPr>
                        <a:t>BONITA STUDIO</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r h="93702">
                <a:tc>
                  <a:txBody>
                    <a:bodyPr/>
                    <a:lstStyle/>
                    <a:p>
                      <a:pPr algn="l">
                        <a:lnSpc>
                          <a:spcPct val="150000"/>
                        </a:lnSpc>
                        <a:spcAft>
                          <a:spcPts val="800"/>
                        </a:spcAft>
                      </a:pPr>
                      <a:r>
                        <a:rPr lang="es-MX" sz="1200">
                          <a:effectLst/>
                        </a:rPr>
                        <a:t>Nombre del programa</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Camunda Modeler</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Bizagi Modeler</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Bonita Studio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r h="346214">
                <a:tc>
                  <a:txBody>
                    <a:bodyPr/>
                    <a:lstStyle/>
                    <a:p>
                      <a:pPr algn="l">
                        <a:lnSpc>
                          <a:spcPct val="150000"/>
                        </a:lnSpc>
                        <a:spcAft>
                          <a:spcPts val="800"/>
                        </a:spcAft>
                      </a:pPr>
                      <a:r>
                        <a:rPr lang="es-MX" sz="1200" dirty="0">
                          <a:effectLst/>
                        </a:rPr>
                        <a:t>Tipo de herramienta</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Herramienta para modelado y automatización de procesos de negocio.</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Herramienta para modelado y documentación de procesos de negocio.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Plataforma para modelado, desarrollo y automatización de procesos de negocio.</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r h="439535">
                <a:tc>
                  <a:txBody>
                    <a:bodyPr/>
                    <a:lstStyle/>
                    <a:p>
                      <a:pPr algn="l">
                        <a:lnSpc>
                          <a:spcPct val="150000"/>
                        </a:lnSpc>
                        <a:spcAft>
                          <a:spcPts val="800"/>
                        </a:spcAft>
                      </a:pPr>
                      <a:r>
                        <a:rPr lang="es-MX" sz="1200" dirty="0">
                          <a:effectLst/>
                        </a:rPr>
                        <a:t>¿Dónde se utiliza?</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Principalmente en proyectos empresariales, sistemas informáticos y soluciones que requieren procesos automatizados.</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En empresas, instituciones y proyectos académicos para analizar, documentar y representar procesos.</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En organizaciones que buscan modelar y automatizar procesos mediante aplicaciones empresariales.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r h="456003">
                <a:tc>
                  <a:txBody>
                    <a:bodyPr/>
                    <a:lstStyle/>
                    <a:p>
                      <a:pPr algn="l">
                        <a:lnSpc>
                          <a:spcPct val="150000"/>
                        </a:lnSpc>
                        <a:spcAft>
                          <a:spcPts val="800"/>
                        </a:spcAft>
                      </a:pPr>
                      <a:r>
                        <a:rPr lang="es-MX" sz="1200" dirty="0">
                          <a:effectLst/>
                        </a:rPr>
                        <a:t>¿Para qué se utiliza?</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Para diseñar procesos BPMN y preparar modelos que pueden utilizarse en la automatización de procesos.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Para representar, documentar, analizar y mejorar procesos de negocio.</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Para diseñar procesos BPMN y desarrollar soluciones para automatizar las actividades de una organización.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r h="390130">
                <a:tc>
                  <a:txBody>
                    <a:bodyPr/>
                    <a:lstStyle/>
                    <a:p>
                      <a:pPr algn="l">
                        <a:lnSpc>
                          <a:spcPct val="150000"/>
                        </a:lnSpc>
                        <a:spcAft>
                          <a:spcPts val="800"/>
                        </a:spcAft>
                      </a:pPr>
                      <a:r>
                        <a:rPr lang="es-MX" sz="1200" dirty="0">
                          <a:effectLst/>
                        </a:rPr>
                        <a:t>Modelado BPMN</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Permite crear diagramas utilizando elementos estándar de BPMN.</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Permite crear diagramas BPMN mediante una interfaz gráfica sencilla.</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Permite diseñar procesos BPMN y complementarlos con elementos para su implementación.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r h="373662">
                <a:tc>
                  <a:txBody>
                    <a:bodyPr/>
                    <a:lstStyle/>
                    <a:p>
                      <a:pPr algn="l">
                        <a:lnSpc>
                          <a:spcPct val="150000"/>
                        </a:lnSpc>
                        <a:spcAft>
                          <a:spcPts val="800"/>
                        </a:spcAft>
                      </a:pPr>
                      <a:r>
                        <a:rPr lang="es-MX" sz="1200" dirty="0">
                          <a:effectLst/>
                        </a:rPr>
                        <a:t>Interfaz gráfica</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Sencilla, limpia y enfocada principalmente en el modelado del proceso.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Muy visual e intuitiva, facilitando la creación de diagramas.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Más completa, con diferentes herramientas y opciones para el desarrollo de procesos.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r h="379151">
                <a:tc>
                  <a:txBody>
                    <a:bodyPr/>
                    <a:lstStyle/>
                    <a:p>
                      <a:pPr algn="l">
                        <a:lnSpc>
                          <a:spcPct val="150000"/>
                        </a:lnSpc>
                        <a:spcAft>
                          <a:spcPts val="800"/>
                        </a:spcAft>
                      </a:pPr>
                      <a:r>
                        <a:rPr lang="es-MX" sz="1200" dirty="0">
                          <a:effectLst/>
                        </a:rPr>
                        <a:t>Facilidad de uso</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Requiere conocimientos básicos de BPMN, pero resulta práctico después de familiarizarse con la herramienta.</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Es relativamente sencillo para usuarios que comienzan a trabajar con BPMN.</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Puede requerir más tiempo de aprendizaje debido a la cantidad de funciones disponibles.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r h="412088">
                <a:tc>
                  <a:txBody>
                    <a:bodyPr/>
                    <a:lstStyle/>
                    <a:p>
                      <a:pPr algn="l">
                        <a:lnSpc>
                          <a:spcPct val="150000"/>
                        </a:lnSpc>
                        <a:spcAft>
                          <a:spcPts val="800"/>
                        </a:spcAft>
                      </a:pPr>
                      <a:r>
                        <a:rPr lang="es-MX" sz="1200">
                          <a:effectLst/>
                        </a:rPr>
                        <a:t>Diseño de diagramas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Permite realizar diagramas ordenados, estructurados y con una apariencia profesional.</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Permite crear diagramas visualmente atractivos y fáciles de comprender.</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a:effectLst/>
                        </a:rPr>
                        <a:t>Permite crear diagramas completos y agregar elementos relacionados con la automatización.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r h="428556">
                <a:tc>
                  <a:txBody>
                    <a:bodyPr/>
                    <a:lstStyle/>
                    <a:p>
                      <a:pPr algn="l">
                        <a:lnSpc>
                          <a:spcPct val="150000"/>
                        </a:lnSpc>
                        <a:spcAft>
                          <a:spcPts val="800"/>
                        </a:spcAft>
                      </a:pPr>
                      <a:r>
                        <a:rPr lang="es-MX" sz="1200" dirty="0">
                          <a:effectLst/>
                        </a:rPr>
                        <a:t>Automatización</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Tiene un fuerte enfoque hacia la automatización y ejecución de procesos.</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Su enfoque principal es el modelado, documentación y análisis de procesos.</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c>
                  <a:txBody>
                    <a:bodyPr/>
                    <a:lstStyle/>
                    <a:p>
                      <a:pPr algn="l">
                        <a:lnSpc>
                          <a:spcPct val="150000"/>
                        </a:lnSpc>
                        <a:spcAft>
                          <a:spcPts val="800"/>
                        </a:spcAft>
                      </a:pPr>
                      <a:r>
                        <a:rPr lang="es-MX" sz="1200" dirty="0">
                          <a:effectLst/>
                        </a:rPr>
                        <a:t>Tiene un enfoque importante en la automatización y desarrollo de aplicaciones basadas en procesos.</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06" marR="106" marT="106" marB="106" anchor="ctr"/>
                </a:tc>
              </a:tr>
            </a:tbl>
          </a:graphicData>
        </a:graphic>
      </p:graphicFrame>
    </p:spTree>
    <p:extLst>
      <p:ext uri="{BB962C8B-B14F-4D97-AF65-F5344CB8AC3E}">
        <p14:creationId xmlns:p14="http://schemas.microsoft.com/office/powerpoint/2010/main" val="371549931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3795"/>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graphicFrame>
        <p:nvGraphicFramePr>
          <p:cNvPr id="5" name="Tabla 4"/>
          <p:cNvGraphicFramePr>
            <a:graphicFrameLocks noGrp="1"/>
          </p:cNvGraphicFramePr>
          <p:nvPr>
            <p:extLst>
              <p:ext uri="{D42A27DB-BD31-4B8C-83A1-F6EECF244321}">
                <p14:modId xmlns:p14="http://schemas.microsoft.com/office/powerpoint/2010/main" val="1297397176"/>
              </p:ext>
            </p:extLst>
          </p:nvPr>
        </p:nvGraphicFramePr>
        <p:xfrm>
          <a:off x="0" y="109728"/>
          <a:ext cx="12216809" cy="6588072"/>
        </p:xfrm>
        <a:graphic>
          <a:graphicData uri="http://schemas.openxmlformats.org/drawingml/2006/table">
            <a:tbl>
              <a:tblPr firstRow="1" firstCol="1" bandRow="1">
                <a:tableStyleId>{5C22544A-7EE6-4342-B048-85BDC9FD1C3A}</a:tableStyleId>
              </a:tblPr>
              <a:tblGrid>
                <a:gridCol w="1631595"/>
                <a:gridCol w="3291279"/>
                <a:gridCol w="3583173"/>
                <a:gridCol w="3710762"/>
              </a:tblGrid>
              <a:tr h="348529">
                <a:tc>
                  <a:txBody>
                    <a:bodyPr/>
                    <a:lstStyle/>
                    <a:p>
                      <a:pPr algn="l">
                        <a:lnSpc>
                          <a:spcPct val="150000"/>
                        </a:lnSpc>
                        <a:spcAft>
                          <a:spcPts val="800"/>
                        </a:spcAft>
                      </a:pPr>
                      <a:r>
                        <a:rPr lang="es-MX" sz="1200" dirty="0">
                          <a:effectLst/>
                        </a:rPr>
                        <a:t>Simulación</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Puede utilizarse dentro del ecosistema Camunda para trabajar con procesos ejecutables y pruebas.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Cuenta con funciones orientadas al análisis y simulación de procesos.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Permite trabajar con procesos que pueden ser ejecutados dentro de la plataforma.</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353804">
                <a:tc>
                  <a:txBody>
                    <a:bodyPr/>
                    <a:lstStyle/>
                    <a:p>
                      <a:pPr algn="l">
                        <a:lnSpc>
                          <a:spcPct val="150000"/>
                        </a:lnSpc>
                        <a:spcAft>
                          <a:spcPts val="800"/>
                        </a:spcAft>
                      </a:pPr>
                      <a:r>
                        <a:rPr lang="es-MX" sz="1200">
                          <a:effectLst/>
                        </a:rPr>
                        <a:t>Gestión de actores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Permite representar participantes, responsables y diferentes áreas dentro de un proceso.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Permite identificar participantes y responsables de las actividades.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dirty="0">
                          <a:effectLst/>
                        </a:rPr>
                        <a:t>Permite configurar actores, usuarios y responsables relacionados con las tareas.</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396005">
                <a:tc>
                  <a:txBody>
                    <a:bodyPr/>
                    <a:lstStyle/>
                    <a:p>
                      <a:pPr algn="l">
                        <a:lnSpc>
                          <a:spcPct val="150000"/>
                        </a:lnSpc>
                        <a:spcAft>
                          <a:spcPts val="800"/>
                        </a:spcAft>
                      </a:pPr>
                      <a:r>
                        <a:rPr lang="es-MX" sz="1200" dirty="0">
                          <a:effectLst/>
                        </a:rPr>
                        <a:t>Documentación</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Permite mantener los procesos organizados para su utilización técnica y posterior implementación.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Se encuentra orientado a la documentación y presentación de procesos de negocio.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Permite complementar el modelo con información necesaria para su desarrollo y automatización.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63669">
                <a:tc>
                  <a:txBody>
                    <a:bodyPr/>
                    <a:lstStyle/>
                    <a:p>
                      <a:pPr algn="l">
                        <a:lnSpc>
                          <a:spcPct val="150000"/>
                        </a:lnSpc>
                        <a:spcAft>
                          <a:spcPts val="800"/>
                        </a:spcAft>
                      </a:pPr>
                      <a:r>
                        <a:rPr lang="es-MX" sz="1200">
                          <a:effectLst/>
                        </a:rPr>
                        <a:t>Nivel técnico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Medio-alto.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Medio.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Medio-alto.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369629">
                <a:tc>
                  <a:txBody>
                    <a:bodyPr/>
                    <a:lstStyle/>
                    <a:p>
                      <a:pPr algn="l">
                        <a:lnSpc>
                          <a:spcPct val="150000"/>
                        </a:lnSpc>
                        <a:spcAft>
                          <a:spcPts val="800"/>
                        </a:spcAft>
                      </a:pPr>
                      <a:r>
                        <a:rPr lang="es-MX" sz="1200">
                          <a:effectLst/>
                        </a:rPr>
                        <a:t>Curva de aprendizaje</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Media. Se necesita comprender correctamente los elementos BPMN.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Baja-media. Su interfaz facilita el aprendizaje inicial.</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Media-alta. Cuenta con más opciones y herramientas que requieren mayor familiarización.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311602">
                <a:tc>
                  <a:txBody>
                    <a:bodyPr/>
                    <a:lstStyle/>
                    <a:p>
                      <a:pPr algn="l">
                        <a:lnSpc>
                          <a:spcPct val="150000"/>
                        </a:lnSpc>
                        <a:spcAft>
                          <a:spcPts val="800"/>
                        </a:spcAft>
                      </a:pPr>
                      <a:r>
                        <a:rPr lang="es-MX" sz="1200">
                          <a:effectLst/>
                        </a:rPr>
                        <a:t>Personalización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Permite estructurar el modelo de acuerdo con las necesidades del proceso.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Permite organizar visualmente los diagramas y su documentación.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Ofrece mayor cantidad de opciones para configurar procesos y aplicaciones.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301052">
                <a:tc>
                  <a:txBody>
                    <a:bodyPr/>
                    <a:lstStyle/>
                    <a:p>
                      <a:pPr algn="l">
                        <a:lnSpc>
                          <a:spcPct val="150000"/>
                        </a:lnSpc>
                        <a:spcAft>
                          <a:spcPts val="800"/>
                        </a:spcAft>
                      </a:pPr>
                      <a:r>
                        <a:rPr lang="es-MX" sz="1200">
                          <a:effectLst/>
                        </a:rPr>
                        <a:t>Trabajo colaborativo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Puede integrarse en entornos de trabajo orientados al desarrollo y automatización de procesos.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Facilita compartir y presentar modelos de procesos.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Permite trabajar procesos dentro de un entorno de desarrollo empresarial.</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232475">
                <a:tc>
                  <a:txBody>
                    <a:bodyPr/>
                    <a:lstStyle/>
                    <a:p>
                      <a:pPr algn="l">
                        <a:lnSpc>
                          <a:spcPct val="150000"/>
                        </a:lnSpc>
                        <a:spcAft>
                          <a:spcPts val="800"/>
                        </a:spcAft>
                      </a:pPr>
                      <a:r>
                        <a:rPr lang="es-MX" sz="1200">
                          <a:effectLst/>
                        </a:rPr>
                        <a:t>Orientación principal</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Técnica y orientada a la automatización de procesos.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Visual, documental y orientada al análisis de procesos.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Desarrollo y automatización de procesos empresariales.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301052">
                <a:tc>
                  <a:txBody>
                    <a:bodyPr/>
                    <a:lstStyle/>
                    <a:p>
                      <a:pPr algn="l">
                        <a:lnSpc>
                          <a:spcPct val="150000"/>
                        </a:lnSpc>
                        <a:spcAft>
                          <a:spcPts val="800"/>
                        </a:spcAft>
                      </a:pPr>
                      <a:r>
                        <a:rPr lang="es-MX" sz="1200">
                          <a:effectLst/>
                        </a:rPr>
                        <a:t>Ventaja principal</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Combina el modelado BPMN con un enfoque orientado a la implementación y automatización.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Su facilidad de uso permite crear y explicar procesos de forma visual.</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Integra modelado, desarrollo y automatización en una misma plataforma.</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390730">
                <a:tc>
                  <a:txBody>
                    <a:bodyPr/>
                    <a:lstStyle/>
                    <a:p>
                      <a:pPr algn="l">
                        <a:lnSpc>
                          <a:spcPct val="150000"/>
                        </a:lnSpc>
                        <a:spcAft>
                          <a:spcPts val="800"/>
                        </a:spcAft>
                      </a:pPr>
                      <a:r>
                        <a:rPr lang="es-MX" sz="1200">
                          <a:effectLst/>
                        </a:rPr>
                        <a:t>Desventaja principal</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Algunas funciones pueden requerir conocimientos técnicos adicionales.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Está más orientado al modelado y documentación que a la automatización avanzada.</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Su mayor cantidad de funciones puede hacer que sea más complejo para usuarios principiantes.</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353804">
                <a:tc>
                  <a:txBody>
                    <a:bodyPr/>
                    <a:lstStyle/>
                    <a:p>
                      <a:pPr algn="l">
                        <a:lnSpc>
                          <a:spcPct val="150000"/>
                        </a:lnSpc>
                        <a:spcAft>
                          <a:spcPts val="800"/>
                        </a:spcAft>
                      </a:pPr>
                      <a:r>
                        <a:rPr lang="es-MX" sz="1200">
                          <a:effectLst/>
                        </a:rPr>
                        <a:t>Utilidad para el proyecto del taller mecánico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Permitió representar las actividades, decisiones, responsables y flujo del servicio de manera estructurada.</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Permitió representar el proceso de una forma visual y sencilla de interpretar.</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Permitió trabajar el proceso desde una perspectiva más orientada a su automatización.</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r h="422381">
                <a:tc>
                  <a:txBody>
                    <a:bodyPr/>
                    <a:lstStyle/>
                    <a:p>
                      <a:pPr algn="l">
                        <a:lnSpc>
                          <a:spcPct val="150000"/>
                        </a:lnSpc>
                        <a:spcAft>
                          <a:spcPts val="800"/>
                        </a:spcAft>
                      </a:pPr>
                      <a:r>
                        <a:rPr lang="es-MX" sz="1200" dirty="0">
                          <a:effectLst/>
                        </a:rPr>
                        <a:t>Experiencia durante el proyecto</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Me resultó cómodo para organizar el proceso y obtener un resultado visual que cumpliera con lo que busc</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a:effectLst/>
                        </a:rPr>
                        <a:t>Es una buena herramienta pero en lo personal no me adapte lo suficiente </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c>
                  <a:txBody>
                    <a:bodyPr/>
                    <a:lstStyle/>
                    <a:p>
                      <a:pPr algn="l">
                        <a:lnSpc>
                          <a:spcPct val="150000"/>
                        </a:lnSpc>
                        <a:spcAft>
                          <a:spcPts val="800"/>
                        </a:spcAft>
                      </a:pPr>
                      <a:r>
                        <a:rPr lang="es-MX" sz="1200" dirty="0">
                          <a:effectLst/>
                        </a:rPr>
                        <a:t>Me gusto, pero por el tiempo no pude conocerlo lo suficiente es muy completo para cualquier proyecto</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83" marR="183" marT="183" marB="183" anchor="ctr"/>
                </a:tc>
              </a:tr>
            </a:tbl>
          </a:graphicData>
        </a:graphic>
      </p:graphicFrame>
    </p:spTree>
    <p:extLst>
      <p:ext uri="{BB962C8B-B14F-4D97-AF65-F5344CB8AC3E}">
        <p14:creationId xmlns:p14="http://schemas.microsoft.com/office/powerpoint/2010/main" val="398138715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109728"/>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274320"/>
            <a:ext cx="11686621" cy="5632311"/>
          </a:xfrm>
          <a:prstGeom prst="rect">
            <a:avLst/>
          </a:prstGeom>
          <a:noFill/>
        </p:spPr>
        <p:txBody>
          <a:bodyPr wrap="square" lIns="73152" rIns="73152">
            <a:spAutoFit/>
          </a:bodyPr>
          <a:lstStyle/>
          <a:p>
            <a:pPr algn="ctr">
              <a:lnSpc>
                <a:spcPct val="150000"/>
              </a:lnSpc>
            </a:pPr>
            <a:r>
              <a:rPr lang="es-MX" b="1" dirty="0"/>
              <a:t>CONCLUSIÓN DEL CUADRO COMPARATIVO</a:t>
            </a:r>
            <a:endParaRPr lang="es-MX" dirty="0"/>
          </a:p>
          <a:p>
            <a:pPr algn="just">
              <a:lnSpc>
                <a:spcPct val="150000"/>
              </a:lnSpc>
            </a:pPr>
            <a:r>
              <a:rPr lang="es-MX" dirty="0"/>
              <a:t>Al comparar </a:t>
            </a:r>
            <a:r>
              <a:rPr lang="es-MX" dirty="0" err="1"/>
              <a:t>Camunda</a:t>
            </a:r>
            <a:r>
              <a:rPr lang="es-MX" dirty="0"/>
              <a:t> </a:t>
            </a:r>
            <a:r>
              <a:rPr lang="es-MX" dirty="0" err="1"/>
              <a:t>Modeler</a:t>
            </a:r>
            <a:r>
              <a:rPr lang="es-MX" dirty="0"/>
              <a:t>, </a:t>
            </a:r>
            <a:r>
              <a:rPr lang="es-MX" dirty="0" err="1"/>
              <a:t>Bizagi</a:t>
            </a:r>
            <a:r>
              <a:rPr lang="es-MX" dirty="0"/>
              <a:t> </a:t>
            </a:r>
            <a:r>
              <a:rPr lang="es-MX" dirty="0" err="1"/>
              <a:t>Modeler</a:t>
            </a:r>
            <a:r>
              <a:rPr lang="es-MX" dirty="0"/>
              <a:t> y Bonita Studio pude observar que las tres herramientas permiten trabajar con procesos BPMN, pero cada una tiene un enfoque diferente. </a:t>
            </a:r>
            <a:r>
              <a:rPr lang="es-MX" dirty="0" err="1"/>
              <a:t>Bizagi</a:t>
            </a:r>
            <a:r>
              <a:rPr lang="es-MX" dirty="0"/>
              <a:t> destaca por su facilidad para representar y documentar procesos, mientras que Bonita Studio ofrece más posibilidades relacionadas con el desarrollo y automatización. </a:t>
            </a:r>
            <a:r>
              <a:rPr lang="es-MX" dirty="0" err="1"/>
              <a:t>Camunda</a:t>
            </a:r>
            <a:r>
              <a:rPr lang="es-MX" dirty="0"/>
              <a:t> </a:t>
            </a:r>
            <a:r>
              <a:rPr lang="es-MX" dirty="0" err="1"/>
              <a:t>Modeler</a:t>
            </a:r>
            <a:r>
              <a:rPr lang="es-MX" dirty="0"/>
              <a:t> tiene un enfoque más técnico y orientado a la automatización, además de permitir realizar diagramas de una manera limpia y ordenada.</a:t>
            </a:r>
          </a:p>
          <a:p>
            <a:pPr algn="just">
              <a:lnSpc>
                <a:spcPct val="150000"/>
              </a:lnSpc>
            </a:pPr>
            <a:r>
              <a:rPr lang="es-MX" dirty="0"/>
              <a:t>Para la realización de mi proyecto del taller mecánico, las tres herramientas fueron útiles porque me permitieron representar el mismo proceso desde diferentes perspectivas. Sin embargo, personalmente me sentí más cómodo trabajando con </a:t>
            </a:r>
            <a:r>
              <a:rPr lang="es-MX" b="1" dirty="0" err="1"/>
              <a:t>Camunda</a:t>
            </a:r>
            <a:r>
              <a:rPr lang="es-MX" b="1" dirty="0"/>
              <a:t> </a:t>
            </a:r>
            <a:r>
              <a:rPr lang="es-MX" b="1" dirty="0" err="1"/>
              <a:t>Modeler</a:t>
            </a:r>
            <a:r>
              <a:rPr lang="es-MX" dirty="0"/>
              <a:t>, principalmente porque su forma de organizar los elementos me pareció clara y porque el resultado final del diagrama fue el que más se acercó a lo que quería presentar. También considero importante mencionar que mi elección se basa en la experiencia que tuve durante este proyecto y no significa que las otras herramientas no sean útiles, ya que cada una puede ser adecuada dependiendo de las necesidades del proceso.</a:t>
            </a:r>
          </a:p>
          <a:p>
            <a:r>
              <a:rPr lang="es-MX" dirty="0"/>
              <a:t> </a:t>
            </a:r>
          </a:p>
          <a:p>
            <a:endParaRPr lang="es-MX"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Tree>
    <p:extLst>
      <p:ext uri="{BB962C8B-B14F-4D97-AF65-F5344CB8AC3E}">
        <p14:creationId xmlns:p14="http://schemas.microsoft.com/office/powerpoint/2010/main" val="167116708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3796"/>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169204"/>
            <a:ext cx="11686621" cy="6281848"/>
          </a:xfrm>
          <a:prstGeom prst="rect">
            <a:avLst/>
          </a:prstGeom>
          <a:noFill/>
        </p:spPr>
        <p:txBody>
          <a:bodyPr wrap="square" lIns="73152" rIns="73152">
            <a:spAutoFit/>
          </a:bodyPr>
          <a:lstStyle/>
          <a:p>
            <a:pPr algn="just">
              <a:lnSpc>
                <a:spcPct val="150000"/>
              </a:lnSpc>
            </a:pPr>
            <a:r>
              <a:rPr lang="es-MX" dirty="0"/>
              <a:t>En el contexto actual de la transformación digital y la automatización de procesos, las micro, pequeñas y medianas empresas (</a:t>
            </a:r>
            <a:r>
              <a:rPr lang="es-MX" dirty="0" err="1"/>
              <a:t>MiPyMEs</a:t>
            </a:r>
            <a:r>
              <a:rPr lang="es-MX" dirty="0"/>
              <a:t>) del sector automotriz enfrentan el desafío constante de optimizar sus operaciones para mantener la competitividad, reducir los tiempos de respuesta y garantizar la satisfacción de sus clientes. Tradicionalmente, la administración de un taller mecánico se ha llevado a cabo mediante métodos manuales, registros en papel o herramientas fragmentadas que carecen de conectividad entre la gestión administrativa, el control operativo y el análisis cuantitativo de los flujos de trabajo. Esta desconexión operativa suele traducirse en ineficiencias, cuellos de botella en la atención, errores en la asignación de recursos humanos y mecánicos, así como una escasa visibilidad analítica para la toma de decisiones gerenciales.</a:t>
            </a:r>
          </a:p>
          <a:p>
            <a:pPr algn="just">
              <a:lnSpc>
                <a:spcPct val="150000"/>
              </a:lnSpc>
            </a:pPr>
            <a:r>
              <a:rPr lang="es-MX" dirty="0"/>
              <a:t>Para dar solución a esta problemática, el presente proyecto integrador denominado </a:t>
            </a:r>
            <a:r>
              <a:rPr lang="es-MX" dirty="0" err="1"/>
              <a:t>TallerMecanicoSimulado</a:t>
            </a:r>
            <a:r>
              <a:rPr lang="es-MX" dirty="0"/>
              <a:t> aborda el diseño, desarrollo e implementación de un sistema de software integral orientado a centralizar, automatizar y simular los procesos clave dentro de un establecimiento de servicio automotriz. El alcance del proyecto comprende desde el registro y control de clientes y vehículos hasta la generación de órdenes de servicio y la integración de un motor de simulación de tiempos de atención. Con esta herramienta, se busca dotar al taller de una plataforma informática robusta que permita estructurar digitalmente cada etapa del ciclo de servicio, minimizando la intervención manual y estandarizando las operaciones cotidianas del personal técnico y administrativo</a:t>
            </a:r>
            <a:r>
              <a:rPr lang="es-MX" dirty="0" smtClean="0"/>
              <a:t>.</a:t>
            </a:r>
            <a:endParaRPr lang="es-MX"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Tree>
    <p:extLst>
      <p:ext uri="{BB962C8B-B14F-4D97-AF65-F5344CB8AC3E}">
        <p14:creationId xmlns:p14="http://schemas.microsoft.com/office/powerpoint/2010/main" val="395836545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02019"/>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500467"/>
            <a:ext cx="11686621" cy="369332"/>
          </a:xfrm>
          <a:prstGeom prst="rect">
            <a:avLst/>
          </a:prstGeom>
          <a:noFill/>
        </p:spPr>
        <p:txBody>
          <a:bodyPr wrap="square" lIns="73152" rIns="73152">
            <a:spAutoFit/>
          </a:bodyPr>
          <a:lstStyle/>
          <a:p>
            <a:endParaRPr lang="es-MX"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12" name="Rectangle 5"/>
          <p:cNvSpPr>
            <a:spLocks noChangeArrowheads="1"/>
          </p:cNvSpPr>
          <p:nvPr/>
        </p:nvSpPr>
        <p:spPr bwMode="auto">
          <a:xfrm>
            <a:off x="136943" y="164146"/>
            <a:ext cx="122583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1:</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Configuraci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inicial del proyecto </a:t>
            </a:r>
            <a:r>
              <a:rPr kumimoji="0" lang="es-MX" altLang="es-MX" sz="11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TallerMecanicoSimulado</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en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IntelliJ</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IDEA usando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JavaFX</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y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Maven</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Se definieron los par</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á</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metros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principales.</a:t>
            </a:r>
            <a:endParaRPr kumimoji="0" lang="es-MX" altLang="es-MX" sz="2400" b="0" i="0" u="none" strike="noStrike" cap="none" normalizeH="0" baseline="0" dirty="0" smtClean="0">
              <a:ln>
                <a:noFill/>
              </a:ln>
              <a:solidFill>
                <a:schemeClr val="tx1"/>
              </a:solidFill>
              <a:effectLst/>
              <a:latin typeface="Arial" panose="020B0604020202020204" pitchFamily="34" charset="0"/>
            </a:endParaRPr>
          </a:p>
        </p:txBody>
      </p:sp>
      <p:pic>
        <p:nvPicPr>
          <p:cNvPr id="13" name="Imagen 12" descr="C:\Users\yaira\OneDrive\Pictures\Screenshots\Captura de pantalla (629).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68772" y="963812"/>
            <a:ext cx="9231888" cy="5160541"/>
          </a:xfrm>
          <a:prstGeom prst="rect">
            <a:avLst/>
          </a:prstGeom>
          <a:noFill/>
          <a:ln>
            <a:noFill/>
          </a:ln>
        </p:spPr>
      </p:pic>
    </p:spTree>
    <p:extLst>
      <p:ext uri="{BB962C8B-B14F-4D97-AF65-F5344CB8AC3E}">
        <p14:creationId xmlns:p14="http://schemas.microsoft.com/office/powerpoint/2010/main" val="20042605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2:</a:t>
            </a:r>
            <a:r>
              <a:rPr lang="es-MX" dirty="0"/>
              <a:t> Pantalla de selección de librerías adicionales de </a:t>
            </a:r>
            <a:r>
              <a:rPr lang="es-MX" dirty="0" err="1"/>
              <a:t>JavaFX</a:t>
            </a:r>
            <a:r>
              <a:rPr lang="es-MX" dirty="0"/>
              <a:t> en el asistente de creación. Se prepararon los componentes visuales necesarios para enriquecer la interfaz del sistema.</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630).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68771" y="1456285"/>
            <a:ext cx="9423275" cy="4958791"/>
          </a:xfrm>
          <a:prstGeom prst="rect">
            <a:avLst/>
          </a:prstGeom>
          <a:noFill/>
          <a:ln>
            <a:noFill/>
          </a:ln>
        </p:spPr>
      </p:pic>
    </p:spTree>
    <p:extLst>
      <p:ext uri="{BB962C8B-B14F-4D97-AF65-F5344CB8AC3E}">
        <p14:creationId xmlns:p14="http://schemas.microsoft.com/office/powerpoint/2010/main" val="51312095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3:</a:t>
            </a:r>
            <a:r>
              <a:rPr lang="es-MX" dirty="0"/>
              <a:t> Vista del explorador de proyectos en el directorio principal junto al menú contextual. Se habilitaron las herramientas para la creación ordenada de las clases.</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631).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50502" y="1337369"/>
            <a:ext cx="9522297" cy="4916233"/>
          </a:xfrm>
          <a:prstGeom prst="rect">
            <a:avLst/>
          </a:prstGeom>
          <a:noFill/>
          <a:ln>
            <a:noFill/>
          </a:ln>
        </p:spPr>
      </p:pic>
    </p:spTree>
    <p:extLst>
      <p:ext uri="{BB962C8B-B14F-4D97-AF65-F5344CB8AC3E}">
        <p14:creationId xmlns:p14="http://schemas.microsoft.com/office/powerpoint/2010/main" val="316032189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9" name="Rectangle 2"/>
          <p:cNvSpPr>
            <a:spLocks noChangeArrowheads="1"/>
          </p:cNvSpPr>
          <p:nvPr/>
        </p:nvSpPr>
        <p:spPr bwMode="auto">
          <a:xfrm>
            <a:off x="921936" y="156895"/>
            <a:ext cx="1013290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4:</a:t>
            </a:r>
            <a:r>
              <a:rPr kumimoji="0" lang="es-MX" altLang="es-MX"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Proceso de refactorizaci</a:t>
            </a:r>
            <a:r>
              <a:rPr kumimoji="0" lang="es-MX" alt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 directorios dentro de la estructura de carpetas en </a:t>
            </a:r>
            <a:r>
              <a:rPr kumimoji="0" lang="es-MX" altLang="es-MX" sz="12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src</a:t>
            </a:r>
            <a:r>
              <a:rPr kumimoji="0" lang="es-MX" altLang="es-MX" sz="12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r>
              <a:rPr kumimoji="0" lang="es-MX" altLang="es-MX" sz="12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main</a:t>
            </a:r>
            <a:r>
              <a:rPr kumimoji="0" lang="es-MX" altLang="es-MX"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Se complet</a:t>
            </a:r>
            <a:r>
              <a:rPr kumimoji="0" lang="es-MX" alt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el ordenamiento l</a:t>
            </a:r>
            <a:r>
              <a:rPr kumimoji="0" lang="es-MX" alt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gico del c</a:t>
            </a:r>
            <a:r>
              <a:rPr kumimoji="0" lang="es-MX" altLang="es-MX"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digo fuente para asegurar una arquitectura </a:t>
            </a:r>
            <a:r>
              <a:rPr kumimoji="0" lang="es-MX" altLang="es-MX" sz="12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limpia. </a:t>
            </a:r>
            <a:endParaRPr kumimoji="0" lang="es-MX" altLang="es-MX" sz="1800" b="0" i="0" u="none" strike="noStrike" cap="none" normalizeH="0" baseline="0" dirty="0" smtClean="0">
              <a:ln>
                <a:noFill/>
              </a:ln>
              <a:solidFill>
                <a:schemeClr val="tx1"/>
              </a:solidFill>
              <a:effectLst/>
              <a:latin typeface="Arial" panose="020B0604020202020204" pitchFamily="34" charset="0"/>
            </a:endParaRPr>
          </a:p>
        </p:txBody>
      </p:sp>
      <p:pic>
        <p:nvPicPr>
          <p:cNvPr id="10" name="Imagen 9" descr="C:\Users\yaira\OneDrive\Pictures\Screenshots\Captura de pantalla (632).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45205" y="1223386"/>
            <a:ext cx="9086363" cy="4953386"/>
          </a:xfrm>
          <a:prstGeom prst="rect">
            <a:avLst/>
          </a:prstGeom>
          <a:noFill/>
          <a:ln>
            <a:noFill/>
          </a:ln>
        </p:spPr>
      </p:pic>
    </p:spTree>
    <p:extLst>
      <p:ext uri="{BB962C8B-B14F-4D97-AF65-F5344CB8AC3E}">
        <p14:creationId xmlns:p14="http://schemas.microsoft.com/office/powerpoint/2010/main" val="59017171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7591"/>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5" name="Rectangle 1"/>
          <p:cNvSpPr>
            <a:spLocks noChangeArrowheads="1"/>
          </p:cNvSpPr>
          <p:nvPr/>
        </p:nvSpPr>
        <p:spPr bwMode="auto">
          <a:xfrm>
            <a:off x="1286" y="115081"/>
            <a:ext cx="121894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5:</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Ventana emergente para la creaci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 la clase de dominio </a:t>
            </a:r>
            <a:r>
              <a:rPr kumimoji="0" lang="es-MX" altLang="es-MX" sz="11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Cliente.java</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Componente fundamental para almacenar de forma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organizada los datos personales de los propietarios. </a:t>
            </a:r>
            <a:endParaRPr kumimoji="0" lang="es-MX" altLang="es-MX" sz="2400" b="0" i="0" u="none" strike="noStrike" cap="none" normalizeH="0" baseline="0" dirty="0" smtClean="0">
              <a:ln>
                <a:noFill/>
              </a:ln>
              <a:solidFill>
                <a:schemeClr val="tx1"/>
              </a:solidFill>
              <a:effectLst/>
              <a:latin typeface="Arial" panose="020B0604020202020204" pitchFamily="34" charset="0"/>
            </a:endParaRPr>
          </a:p>
        </p:txBody>
      </p:sp>
      <p:pic>
        <p:nvPicPr>
          <p:cNvPr id="9" name="Imagen 8" descr="C:\Users\yaira\OneDrive\Pictures\Screenshots\Captura de pantalla (633).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68771" y="1095796"/>
            <a:ext cx="9051135" cy="5028557"/>
          </a:xfrm>
          <a:prstGeom prst="rect">
            <a:avLst/>
          </a:prstGeom>
          <a:noFill/>
          <a:ln>
            <a:noFill/>
          </a:ln>
        </p:spPr>
      </p:pic>
    </p:spTree>
    <p:extLst>
      <p:ext uri="{BB962C8B-B14F-4D97-AF65-F5344CB8AC3E}">
        <p14:creationId xmlns:p14="http://schemas.microsoft.com/office/powerpoint/2010/main" val="105562973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5" name="Rectangle 1"/>
          <p:cNvSpPr>
            <a:spLocks noChangeArrowheads="1"/>
          </p:cNvSpPr>
          <p:nvPr/>
        </p:nvSpPr>
        <p:spPr bwMode="auto">
          <a:xfrm>
            <a:off x="54650" y="220460"/>
            <a:ext cx="1229535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6:</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Proceso de creaci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 la entidad </a:t>
            </a:r>
            <a:r>
              <a:rPr kumimoji="0" lang="es-MX" altLang="es-MX" sz="11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Vehiculo.java</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dentro del paquete principal. Dise</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ñ</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ada para registrar las caracter</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í</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sticas de los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autom</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viles en el flujo</a:t>
            </a:r>
            <a:r>
              <a:rPr kumimoji="0" lang="es-MX" altLang="es-MX" sz="12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kumimoji="0" lang="es-MX" altLang="es-MX" sz="1800" b="0" i="0" u="none" strike="noStrike" cap="none" normalizeH="0" baseline="0" dirty="0" smtClean="0">
              <a:ln>
                <a:noFill/>
              </a:ln>
              <a:solidFill>
                <a:schemeClr val="tx1"/>
              </a:solidFill>
              <a:effectLst/>
              <a:latin typeface="Arial" panose="020B0604020202020204" pitchFamily="34" charset="0"/>
            </a:endParaRPr>
          </a:p>
        </p:txBody>
      </p:sp>
      <p:pic>
        <p:nvPicPr>
          <p:cNvPr id="9" name="Imagen 8" descr="C:\Users\yaira\OneDrive\Pictures\Screenshots\Captura de pantalla (634).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110261" y="1255284"/>
            <a:ext cx="9341544" cy="4921488"/>
          </a:xfrm>
          <a:prstGeom prst="rect">
            <a:avLst/>
          </a:prstGeom>
          <a:noFill/>
          <a:ln>
            <a:noFill/>
          </a:ln>
        </p:spPr>
      </p:pic>
    </p:spTree>
    <p:extLst>
      <p:ext uri="{BB962C8B-B14F-4D97-AF65-F5344CB8AC3E}">
        <p14:creationId xmlns:p14="http://schemas.microsoft.com/office/powerpoint/2010/main" val="377146166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73152"/>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49973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5" name="Rectangle 1"/>
          <p:cNvSpPr>
            <a:spLocks noChangeArrowheads="1"/>
          </p:cNvSpPr>
          <p:nvPr/>
        </p:nvSpPr>
        <p:spPr bwMode="auto">
          <a:xfrm>
            <a:off x="-15240" y="467395"/>
            <a:ext cx="12192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7:</a:t>
            </a:r>
            <a:r>
              <a:rPr kumimoji="0" lang="es-MX" altLang="es-MX" sz="20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Definición técnica de la clase </a:t>
            </a:r>
            <a:r>
              <a:rPr kumimoji="0" lang="es-MX" altLang="es-MX" sz="1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Servicio.java</a:t>
            </a:r>
            <a:r>
              <a:rPr kumimoji="0" lang="es-MX" altLang="es-MX" sz="20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para modelar reparaciones y mantenimientos. Agrupa operaciones mecánicas comunes como frenos, afinación y cambio de aceite</a:t>
            </a:r>
            <a:r>
              <a:rPr kumimoji="0" lang="es-MX" altLang="es-MX" sz="1100" b="0" i="0" u="none" strike="noStrike" cap="none" normalizeH="0" baseline="0" dirty="0" smtClean="0">
                <a:ln>
                  <a:noFill/>
                </a:ln>
                <a:solidFill>
                  <a:schemeClr val="tx1"/>
                </a:solidFill>
                <a:effectLst/>
              </a:rPr>
              <a:t> </a:t>
            </a:r>
            <a:endParaRPr kumimoji="0" lang="es-MX" altLang="es-MX" sz="3200" b="0" i="0" u="none" strike="noStrike" cap="none" normalizeH="0" baseline="0" dirty="0" smtClean="0">
              <a:ln>
                <a:noFill/>
              </a:ln>
              <a:solidFill>
                <a:schemeClr val="tx1"/>
              </a:solidFill>
              <a:effectLst/>
              <a:latin typeface="Arial" panose="020B0604020202020204" pitchFamily="34" charset="0"/>
            </a:endParaRPr>
          </a:p>
        </p:txBody>
      </p:sp>
      <p:pic>
        <p:nvPicPr>
          <p:cNvPr id="9" name="Imagen 8" descr="C:\Users\yaira\OneDrive\Pictures\Screenshots\Captura de pantalla (635).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195321" y="1532948"/>
            <a:ext cx="9118259" cy="4779083"/>
          </a:xfrm>
          <a:prstGeom prst="rect">
            <a:avLst/>
          </a:prstGeom>
          <a:noFill/>
          <a:ln>
            <a:noFill/>
          </a:ln>
        </p:spPr>
      </p:pic>
    </p:spTree>
    <p:extLst>
      <p:ext uri="{BB962C8B-B14F-4D97-AF65-F5344CB8AC3E}">
        <p14:creationId xmlns:p14="http://schemas.microsoft.com/office/powerpoint/2010/main" val="157402170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3795"/>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385551"/>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11" name="Rectangle 4"/>
          <p:cNvSpPr>
            <a:spLocks noChangeArrowheads="1"/>
          </p:cNvSpPr>
          <p:nvPr/>
        </p:nvSpPr>
        <p:spPr bwMode="auto">
          <a:xfrm>
            <a:off x="248988" y="364478"/>
            <a:ext cx="118641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8:</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Creaci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 la clase </a:t>
            </a:r>
            <a:r>
              <a:rPr kumimoji="0" lang="es-MX" altLang="es-MX" sz="11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Mecanico.java</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destinada a representar al personal operativo. Gestiona la disponibilidad, especialidad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y estado de actividad.</a:t>
            </a:r>
            <a:endParaRPr kumimoji="0" lang="es-MX" altLang="es-MX" sz="2400" b="0" i="0" u="none" strike="noStrike" cap="none" normalizeH="0" baseline="0" dirty="0" smtClean="0">
              <a:ln>
                <a:noFill/>
              </a:ln>
              <a:solidFill>
                <a:schemeClr val="tx1"/>
              </a:solidFill>
              <a:effectLst/>
              <a:latin typeface="Arial" panose="020B0604020202020204" pitchFamily="34" charset="0"/>
            </a:endParaRPr>
          </a:p>
        </p:txBody>
      </p:sp>
      <p:pic>
        <p:nvPicPr>
          <p:cNvPr id="12" name="Imagen 11" descr="C:\Users\yaira\OneDrive\Pictures\Screenshots\Captura de pantalla (636).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291014" y="1330361"/>
            <a:ext cx="9384074" cy="4910206"/>
          </a:xfrm>
          <a:prstGeom prst="rect">
            <a:avLst/>
          </a:prstGeom>
          <a:noFill/>
          <a:ln>
            <a:noFill/>
          </a:ln>
        </p:spPr>
      </p:pic>
    </p:spTree>
    <p:extLst>
      <p:ext uri="{BB962C8B-B14F-4D97-AF65-F5344CB8AC3E}">
        <p14:creationId xmlns:p14="http://schemas.microsoft.com/office/powerpoint/2010/main" val="110280719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3795"/>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9" name="Rectangle 2"/>
          <p:cNvSpPr>
            <a:spLocks noChangeArrowheads="1"/>
          </p:cNvSpPr>
          <p:nvPr/>
        </p:nvSpPr>
        <p:spPr bwMode="auto">
          <a:xfrm>
            <a:off x="260897" y="274320"/>
            <a:ext cx="116397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9:</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Configuraci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 la clase </a:t>
            </a:r>
            <a:r>
              <a:rPr kumimoji="0" lang="es-MX" altLang="es-MX" sz="11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OrdenServicio.java</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como el n</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ú</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cleo transaccional principal. Interconecta directamente al cliente,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su veh</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í</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culo, el servicio y el mec</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á</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nico asignado. </a:t>
            </a:r>
            <a:endParaRPr kumimoji="0" lang="es-MX" altLang="es-MX" sz="2400" b="0" i="0" u="none" strike="noStrike" cap="none" normalizeH="0" baseline="0" dirty="0" smtClean="0">
              <a:ln>
                <a:noFill/>
              </a:ln>
              <a:solidFill>
                <a:schemeClr val="tx1"/>
              </a:solidFill>
              <a:effectLst/>
              <a:latin typeface="Arial" panose="020B0604020202020204" pitchFamily="34" charset="0"/>
            </a:endParaRPr>
          </a:p>
        </p:txBody>
      </p:sp>
      <p:pic>
        <p:nvPicPr>
          <p:cNvPr id="10" name="Imagen 9" descr="C:\Users\yaira\OneDrive\Pictures\Screenshots\Captura de pantalla (637).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50503" y="1244651"/>
            <a:ext cx="9543562" cy="4995916"/>
          </a:xfrm>
          <a:prstGeom prst="rect">
            <a:avLst/>
          </a:prstGeom>
          <a:noFill/>
          <a:ln>
            <a:noFill/>
          </a:ln>
        </p:spPr>
      </p:pic>
    </p:spTree>
    <p:extLst>
      <p:ext uri="{BB962C8B-B14F-4D97-AF65-F5344CB8AC3E}">
        <p14:creationId xmlns:p14="http://schemas.microsoft.com/office/powerpoint/2010/main" val="124019174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5" name="Rectangle 1"/>
          <p:cNvSpPr>
            <a:spLocks noChangeArrowheads="1"/>
          </p:cNvSpPr>
          <p:nvPr/>
        </p:nvSpPr>
        <p:spPr bwMode="auto">
          <a:xfrm>
            <a:off x="1714019" y="228600"/>
            <a:ext cx="87334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10:</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Creaci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 la clase </a:t>
            </a:r>
            <a:r>
              <a:rPr kumimoji="0" lang="es-MX" altLang="es-MX" sz="11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TallerGUI.java</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para gestionar la ventana principal mediante Java.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Define el dise</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ñ</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o estructurado del panel central y la navegaci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a:t>
            </a:r>
            <a:r>
              <a:rPr kumimoji="0" lang="es-MX" altLang="es-MX" sz="12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kumimoji="0" lang="es-MX" altLang="es-MX" sz="1800" b="0" i="0" u="none" strike="noStrike" cap="none" normalizeH="0" baseline="0" dirty="0" smtClean="0">
              <a:ln>
                <a:noFill/>
              </a:ln>
              <a:solidFill>
                <a:schemeClr val="tx1"/>
              </a:solidFill>
              <a:effectLst/>
              <a:latin typeface="Arial" panose="020B0604020202020204" pitchFamily="34" charset="0"/>
            </a:endParaRPr>
          </a:p>
        </p:txBody>
      </p:sp>
      <p:pic>
        <p:nvPicPr>
          <p:cNvPr id="9" name="Imagen 8" descr="C:\Users\yaira\OneDrive\Pictures\Screenshots\Captura de pantalla (638).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68772" y="1223386"/>
            <a:ext cx="9078728" cy="4837172"/>
          </a:xfrm>
          <a:prstGeom prst="rect">
            <a:avLst/>
          </a:prstGeom>
          <a:noFill/>
          <a:ln>
            <a:noFill/>
          </a:ln>
        </p:spPr>
      </p:pic>
    </p:spTree>
    <p:extLst>
      <p:ext uri="{BB962C8B-B14F-4D97-AF65-F5344CB8AC3E}">
        <p14:creationId xmlns:p14="http://schemas.microsoft.com/office/powerpoint/2010/main" val="320279295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5" name="Rectangle 1"/>
          <p:cNvSpPr>
            <a:spLocks noChangeArrowheads="1"/>
          </p:cNvSpPr>
          <p:nvPr/>
        </p:nvSpPr>
        <p:spPr bwMode="auto">
          <a:xfrm>
            <a:off x="1426601" y="274320"/>
            <a:ext cx="93083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11:</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Visualizaci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detallada del archivo de configuraci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 dependencias de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Maven</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s-MX" altLang="es-MX" sz="11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pom.xml</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Se declararon librer</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í</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as necesarias como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JUnit</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kumimoji="0" lang="es-MX" altLang="es-MX" sz="2400" b="0" i="0" u="none" strike="noStrike" cap="none" normalizeH="0" baseline="0" dirty="0" smtClean="0">
              <a:ln>
                <a:noFill/>
              </a:ln>
              <a:solidFill>
                <a:schemeClr val="tx1"/>
              </a:solidFill>
              <a:effectLst/>
              <a:latin typeface="Arial" panose="020B0604020202020204" pitchFamily="34" charset="0"/>
            </a:endParaRPr>
          </a:p>
        </p:txBody>
      </p:sp>
      <p:pic>
        <p:nvPicPr>
          <p:cNvPr id="9" name="Imagen 8" descr="C:\Users\yaira\OneDrive\Pictures\Screenshots\Captura de pantalla (639).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31351" y="1191488"/>
            <a:ext cx="9148044" cy="4985284"/>
          </a:xfrm>
          <a:prstGeom prst="rect">
            <a:avLst/>
          </a:prstGeom>
          <a:noFill/>
          <a:ln>
            <a:noFill/>
          </a:ln>
        </p:spPr>
      </p:pic>
    </p:spTree>
    <p:extLst>
      <p:ext uri="{BB962C8B-B14F-4D97-AF65-F5344CB8AC3E}">
        <p14:creationId xmlns:p14="http://schemas.microsoft.com/office/powerpoint/2010/main" val="416612165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5" name="Rectangle 1"/>
          <p:cNvSpPr>
            <a:spLocks noChangeArrowheads="1"/>
          </p:cNvSpPr>
          <p:nvPr/>
        </p:nvSpPr>
        <p:spPr bwMode="auto">
          <a:xfrm>
            <a:off x="751430" y="309919"/>
            <a:ext cx="106891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12:</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digo correspondiente al m</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todo </a:t>
            </a:r>
            <a:r>
              <a:rPr kumimoji="0" lang="es-MX" altLang="es-MX" sz="11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main</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y al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renderizado</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inicial de la interfaz. Se utiliz</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s-MX" altLang="es-MX" sz="11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SwingUtilities.invokeLater</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para asegurar la ejecuci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segura del hilo visual</a:t>
            </a:r>
            <a:r>
              <a:rPr kumimoji="0" lang="es-MX" altLang="es-MX" sz="12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kumimoji="0" lang="es-MX" altLang="es-MX" sz="1800" b="0" i="0" u="none" strike="noStrike" cap="none" normalizeH="0" baseline="0" dirty="0" smtClean="0">
              <a:ln>
                <a:noFill/>
              </a:ln>
              <a:solidFill>
                <a:schemeClr val="tx1"/>
              </a:solidFill>
              <a:effectLst/>
              <a:latin typeface="Arial" panose="020B0604020202020204" pitchFamily="34" charset="0"/>
            </a:endParaRPr>
          </a:p>
        </p:txBody>
      </p:sp>
      <p:pic>
        <p:nvPicPr>
          <p:cNvPr id="9" name="Imagen 8" descr="C:\Users\yaira\OneDrive\Pictures\Screenshots\Captura de pantalla (640).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567459" y="1339352"/>
            <a:ext cx="9086363" cy="4742471"/>
          </a:xfrm>
          <a:prstGeom prst="rect">
            <a:avLst/>
          </a:prstGeom>
          <a:noFill/>
          <a:ln>
            <a:noFill/>
          </a:ln>
        </p:spPr>
      </p:pic>
    </p:spTree>
    <p:extLst>
      <p:ext uri="{BB962C8B-B14F-4D97-AF65-F5344CB8AC3E}">
        <p14:creationId xmlns:p14="http://schemas.microsoft.com/office/powerpoint/2010/main" val="227488348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13:</a:t>
            </a:r>
            <a:r>
              <a:rPr lang="es-MX" dirty="0"/>
              <a:t> Creación del directorio y script en Python dentro del entorno de trabajo. Permite procesar los cálculos estadísticos y la simulación de tiempos del taller. </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641).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780112" y="1396530"/>
            <a:ext cx="8852446" cy="4685293"/>
          </a:xfrm>
          <a:prstGeom prst="rect">
            <a:avLst/>
          </a:prstGeom>
          <a:noFill/>
          <a:ln>
            <a:noFill/>
          </a:ln>
        </p:spPr>
      </p:pic>
    </p:spTree>
    <p:extLst>
      <p:ext uri="{BB962C8B-B14F-4D97-AF65-F5344CB8AC3E}">
        <p14:creationId xmlns:p14="http://schemas.microsoft.com/office/powerpoint/2010/main" val="131514623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45933"/>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11" name="Rectangle 4"/>
          <p:cNvSpPr>
            <a:spLocks noChangeArrowheads="1"/>
          </p:cNvSpPr>
          <p:nvPr/>
        </p:nvSpPr>
        <p:spPr bwMode="auto">
          <a:xfrm>
            <a:off x="380029" y="338328"/>
            <a:ext cx="1143133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14:</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Configuraci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formal del archivo encargado de la simulaci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en Python (</a:t>
            </a:r>
            <a:r>
              <a:rPr kumimoji="0" lang="es-MX" altLang="es-MX" sz="11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simulacion.py</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Prepara el script para recibir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par</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á</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metros externos y estructurar los resultados. </a:t>
            </a:r>
            <a:endParaRPr kumimoji="0" lang="es-MX" altLang="es-MX" sz="2400" b="0" i="0" u="none" strike="noStrike" cap="none" normalizeH="0" baseline="0" dirty="0" smtClean="0">
              <a:ln>
                <a:noFill/>
              </a:ln>
              <a:solidFill>
                <a:schemeClr val="tx1"/>
              </a:solidFill>
              <a:effectLst/>
              <a:latin typeface="Arial" panose="020B0604020202020204" pitchFamily="34" charset="0"/>
            </a:endParaRPr>
          </a:p>
        </p:txBody>
      </p:sp>
      <p:pic>
        <p:nvPicPr>
          <p:cNvPr id="12" name="Imagen 11" descr="C:\Users\yaira\OneDrive\Pictures\Screenshots\Captura de pantalla (642).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493052" y="1151703"/>
            <a:ext cx="8990669" cy="4979136"/>
          </a:xfrm>
          <a:prstGeom prst="rect">
            <a:avLst/>
          </a:prstGeom>
          <a:noFill/>
          <a:ln>
            <a:noFill/>
          </a:ln>
        </p:spPr>
      </p:pic>
    </p:spTree>
    <p:extLst>
      <p:ext uri="{BB962C8B-B14F-4D97-AF65-F5344CB8AC3E}">
        <p14:creationId xmlns:p14="http://schemas.microsoft.com/office/powerpoint/2010/main" val="407669197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15:</a:t>
            </a:r>
            <a:r>
              <a:rPr lang="es-MX" dirty="0"/>
              <a:t> Prueba de ejecución del script de simulación directamente en la terminal de </a:t>
            </a:r>
            <a:r>
              <a:rPr lang="es-MX" dirty="0" err="1"/>
              <a:t>IntelliJ</a:t>
            </a:r>
            <a:r>
              <a:rPr lang="es-MX" dirty="0"/>
              <a:t>. Muestra la recepción de argumentos y la salida en formato JSON.</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643).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184688" y="1180215"/>
            <a:ext cx="9362809" cy="4996558"/>
          </a:xfrm>
          <a:prstGeom prst="rect">
            <a:avLst/>
          </a:prstGeom>
          <a:noFill/>
          <a:ln>
            <a:noFill/>
          </a:ln>
        </p:spPr>
      </p:pic>
    </p:spTree>
    <p:extLst>
      <p:ext uri="{BB962C8B-B14F-4D97-AF65-F5344CB8AC3E}">
        <p14:creationId xmlns:p14="http://schemas.microsoft.com/office/powerpoint/2010/main" val="94068480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5" name="Rectangle 1"/>
          <p:cNvSpPr>
            <a:spLocks noChangeArrowheads="1"/>
          </p:cNvSpPr>
          <p:nvPr/>
        </p:nvSpPr>
        <p:spPr bwMode="auto">
          <a:xfrm>
            <a:off x="-41141" y="274320"/>
            <a:ext cx="122328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16:</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Creaci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 la clase en Java denominada </a:t>
            </a:r>
            <a:r>
              <a:rPr kumimoji="0" lang="es-MX" altLang="es-MX" sz="11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PythonSimulator</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para la interoperabilidad. Funciona como puente de comunicaci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directo automatizando el env</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í</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o de par</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á</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metros</a:t>
            </a:r>
            <a:r>
              <a:rPr kumimoji="0" lang="es-MX" altLang="es-MX" sz="12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kumimoji="0" lang="es-MX" altLang="es-MX" sz="1800" b="0" i="0" u="none" strike="noStrike" cap="none" normalizeH="0" baseline="0" dirty="0" smtClean="0">
              <a:ln>
                <a:noFill/>
              </a:ln>
              <a:solidFill>
                <a:schemeClr val="tx1"/>
              </a:solidFill>
              <a:effectLst/>
              <a:latin typeface="Arial" panose="020B0604020202020204" pitchFamily="34" charset="0"/>
            </a:endParaRPr>
          </a:p>
        </p:txBody>
      </p:sp>
      <p:pic>
        <p:nvPicPr>
          <p:cNvPr id="9" name="Imagen 8" descr="C:\Users\yaira\OneDrive\Pictures\Screenshots\Captura de pantalla (644).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68772" y="1330571"/>
            <a:ext cx="9072400" cy="4846201"/>
          </a:xfrm>
          <a:prstGeom prst="rect">
            <a:avLst/>
          </a:prstGeom>
          <a:noFill/>
          <a:ln>
            <a:noFill/>
          </a:ln>
        </p:spPr>
      </p:pic>
    </p:spTree>
    <p:extLst>
      <p:ext uri="{BB962C8B-B14F-4D97-AF65-F5344CB8AC3E}">
        <p14:creationId xmlns:p14="http://schemas.microsoft.com/office/powerpoint/2010/main" val="8753231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7591"/>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
        <p:nvSpPr>
          <p:cNvPr id="9" name="Rectangle 2"/>
          <p:cNvSpPr>
            <a:spLocks noChangeArrowheads="1"/>
          </p:cNvSpPr>
          <p:nvPr/>
        </p:nvSpPr>
        <p:spPr bwMode="auto">
          <a:xfrm>
            <a:off x="2122797" y="269681"/>
            <a:ext cx="79464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Figura 17:</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Creaci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de la clase </a:t>
            </a:r>
            <a:r>
              <a:rPr kumimoji="0" lang="es-MX" altLang="es-MX" sz="11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BaseDatos.java</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dedicada al manejo de informaci</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 local.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Estructura los m</a:t>
            </a:r>
            <a:r>
              <a:rPr kumimoji="0" lang="es-MX" altLang="es-MX"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é</a:t>
            </a:r>
            <a:r>
              <a:rPr kumimoji="0" lang="es-MX"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todos necesarios para guardar y recuperar registros.</a:t>
            </a:r>
            <a:endParaRPr kumimoji="0" lang="es-MX" altLang="es-MX" sz="2400" b="0" i="0" u="none" strike="noStrike" cap="none" normalizeH="0" baseline="0" dirty="0" smtClean="0">
              <a:ln>
                <a:noFill/>
              </a:ln>
              <a:solidFill>
                <a:schemeClr val="tx1"/>
              </a:solidFill>
              <a:effectLst/>
              <a:latin typeface="Arial" panose="020B0604020202020204" pitchFamily="34" charset="0"/>
            </a:endParaRPr>
          </a:p>
        </p:txBody>
      </p:sp>
      <p:pic>
        <p:nvPicPr>
          <p:cNvPr id="10" name="Imagen 9" descr="C:\Users\yaira\OneDrive\Pictures\Screenshots\Captura de pantalla (651).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530266" y="1117061"/>
            <a:ext cx="8916242" cy="5007292"/>
          </a:xfrm>
          <a:prstGeom prst="rect">
            <a:avLst/>
          </a:prstGeom>
          <a:noFill/>
          <a:ln>
            <a:noFill/>
          </a:ln>
        </p:spPr>
      </p:pic>
    </p:spTree>
    <p:extLst>
      <p:ext uri="{BB962C8B-B14F-4D97-AF65-F5344CB8AC3E}">
        <p14:creationId xmlns:p14="http://schemas.microsoft.com/office/powerpoint/2010/main" val="27377113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18:</a:t>
            </a:r>
            <a:r>
              <a:rPr lang="es-MX" dirty="0"/>
              <a:t> Interfaz gráfica en plena ejecución mostrando el </a:t>
            </a:r>
            <a:r>
              <a:rPr lang="es-MX" b="1" dirty="0"/>
              <a:t>Panel Principal</a:t>
            </a:r>
            <a:r>
              <a:rPr lang="es-MX" dirty="0"/>
              <a:t> del taller. Permite visualizar los indicadores cuantitativos de clientes, vehículos y órdenes</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653).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142157" y="1300837"/>
            <a:ext cx="9118261" cy="4632130"/>
          </a:xfrm>
          <a:prstGeom prst="rect">
            <a:avLst/>
          </a:prstGeom>
          <a:noFill/>
          <a:ln>
            <a:noFill/>
          </a:ln>
        </p:spPr>
      </p:pic>
    </p:spTree>
    <p:extLst>
      <p:ext uri="{BB962C8B-B14F-4D97-AF65-F5344CB8AC3E}">
        <p14:creationId xmlns:p14="http://schemas.microsoft.com/office/powerpoint/2010/main" val="19448850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ES" dirty="0"/>
              <a:t>Figura 19: Vista detallada del módulo "Registrar cliente" correspondiente al Paso 1. Habilita los campos de captura para ingresar nombre, teléfono y correo electrónico.</a:t>
            </a:r>
            <a:endParaRPr lang="es-MX"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66).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68771" y="1456285"/>
            <a:ext cx="9168093" cy="4720487"/>
          </a:xfrm>
          <a:prstGeom prst="rect">
            <a:avLst/>
          </a:prstGeom>
          <a:noFill/>
          <a:ln>
            <a:noFill/>
          </a:ln>
        </p:spPr>
      </p:pic>
    </p:spTree>
    <p:extLst>
      <p:ext uri="{BB962C8B-B14F-4D97-AF65-F5344CB8AC3E}">
        <p14:creationId xmlns:p14="http://schemas.microsoft.com/office/powerpoint/2010/main" val="207330138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61968"/>
            <a:ext cx="11686621" cy="646331"/>
          </a:xfrm>
          <a:prstGeom prst="rect">
            <a:avLst/>
          </a:prstGeom>
          <a:noFill/>
        </p:spPr>
        <p:txBody>
          <a:bodyPr wrap="square" lIns="73152" rIns="73152">
            <a:spAutoFit/>
          </a:bodyPr>
          <a:lstStyle/>
          <a:p>
            <a:r>
              <a:rPr lang="es-MX" b="1" dirty="0"/>
              <a:t>Figura 20:</a:t>
            </a:r>
            <a:r>
              <a:rPr lang="es-MX" dirty="0"/>
              <a:t> Vista del módulo "Simulación del proceso" ubicado en el Paso 4. Proporciona el espacio para ejecutar visualmente la simulación y ver los resultados.</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pic>
        <p:nvPicPr>
          <p:cNvPr id="9" name="Imagen 8" descr="C:\Users\yaira\OneDrive\Pictures\Screenshots\Captura de pantalla (867).png"/>
          <p:cNvPicPr/>
          <p:nvPr/>
        </p:nvPicPr>
        <p:blipFill>
          <a:blip r:embed="rId2" cstate="email">
            <a:extLst>
              <a:ext uri="{28A0092B-C50C-407E-A947-70E740481C1C}">
                <a14:useLocalDpi xmlns:a14="http://schemas.microsoft.com/office/drawing/2010/main"/>
              </a:ext>
            </a:extLst>
          </a:blip>
          <a:srcRect/>
          <a:stretch>
            <a:fillRect/>
          </a:stretch>
        </p:blipFill>
        <p:spPr bwMode="auto">
          <a:xfrm>
            <a:off x="1354809" y="1260539"/>
            <a:ext cx="9554195" cy="4789387"/>
          </a:xfrm>
          <a:prstGeom prst="rect">
            <a:avLst/>
          </a:prstGeom>
          <a:noFill/>
          <a:ln>
            <a:noFill/>
          </a:ln>
        </p:spPr>
      </p:pic>
    </p:spTree>
    <p:extLst>
      <p:ext uri="{BB962C8B-B14F-4D97-AF65-F5344CB8AC3E}">
        <p14:creationId xmlns:p14="http://schemas.microsoft.com/office/powerpoint/2010/main" val="28716330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348229" y="103292"/>
            <a:ext cx="11686621" cy="5866350"/>
          </a:xfrm>
          <a:prstGeom prst="rect">
            <a:avLst/>
          </a:prstGeom>
          <a:noFill/>
        </p:spPr>
        <p:txBody>
          <a:bodyPr wrap="square" lIns="73152" rIns="73152">
            <a:spAutoFit/>
          </a:bodyPr>
          <a:lstStyle/>
          <a:p>
            <a:pPr algn="ctr">
              <a:lnSpc>
                <a:spcPct val="150000"/>
              </a:lnSpc>
            </a:pPr>
            <a:r>
              <a:rPr lang="es-MX" b="1" dirty="0"/>
              <a:t>CONCLUSIÓN</a:t>
            </a:r>
            <a:endParaRPr lang="es-MX" dirty="0"/>
          </a:p>
          <a:p>
            <a:pPr algn="just">
              <a:lnSpc>
                <a:spcPct val="150000"/>
              </a:lnSpc>
            </a:pPr>
            <a:r>
              <a:rPr lang="es-MX" dirty="0"/>
              <a:t>En conclusión, el desarrollo del proyecto integrador </a:t>
            </a:r>
            <a:r>
              <a:rPr lang="es-MX" b="1" dirty="0" err="1"/>
              <a:t>TallerMecanicoSimulado</a:t>
            </a:r>
            <a:r>
              <a:rPr lang="es-MX" dirty="0"/>
              <a:t> ha permitido consolidar una respuesta técnica, sólida y funcional a las problemáticas operativas y administrativas que comúnmente afectan a los talleres mecánicos tradicionales, tales como la dependencia de registros manuales y la falta de visibilidad en los flujos de atención. A lo largo del proceso de desarrollo llevado a cabo en el entorno de </a:t>
            </a:r>
            <a:r>
              <a:rPr lang="es-MX" b="1" dirty="0" err="1"/>
              <a:t>IntelliJ</a:t>
            </a:r>
            <a:r>
              <a:rPr lang="es-MX" b="1" dirty="0"/>
              <a:t> IDEA</a:t>
            </a:r>
            <a:r>
              <a:rPr lang="es-MX" dirty="0"/>
              <a:t>, se materializó con éxito una arquitectura de software orientada a objetos que integra de forma eficiente componentes gráficos en Java con un motor lógico de simulación desarrollado en Python. Esta interoperabilidad multiplataforma no solo demostró ser viable técnicamente, sino que aportó un alto valor agregado al sistema al permitir procesar cálculos estadísticos y simular de manera precisa los tiempos de servicio, de espera y las cargas de trabajo del personal técnico. Desde una perspectiva académica y profesional, este proyecto refleja la competencia en el dominio de la ingeniería de software moderna, abarcando desde la concepción del diseño modular y la estructuración de bases de datos locales hasta la implementación de interfaces de usuario intuitivas. En consecuencia, el sistema desarrollado representa una herramienta escalable y con un gran potencial de aplicabilidad real en el sector automotriz, sentando bases firmes para futuras ampliaciones tecnológicas que incluyan reportes analíticos avanzados y la exportación masiva de datos operativos.</a:t>
            </a:r>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Tree>
    <p:extLst>
      <p:ext uri="{BB962C8B-B14F-4D97-AF65-F5344CB8AC3E}">
        <p14:creationId xmlns:p14="http://schemas.microsoft.com/office/powerpoint/2010/main" val="146905311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641333" y="493972"/>
            <a:ext cx="11686621" cy="5632311"/>
          </a:xfrm>
          <a:prstGeom prst="rect">
            <a:avLst/>
          </a:prstGeom>
          <a:noFill/>
        </p:spPr>
        <p:txBody>
          <a:bodyPr wrap="square" lIns="73152" rIns="73152">
            <a:spAutoFit/>
          </a:bodyPr>
          <a:lstStyle/>
          <a:p>
            <a:pPr algn="ctr"/>
            <a:r>
              <a:rPr lang="es-ES" b="1" dirty="0" smtClean="0"/>
              <a:t>FUENTES DE INFORMACION</a:t>
            </a:r>
          </a:p>
          <a:p>
            <a:r>
              <a:rPr lang="es-MX" dirty="0" err="1"/>
              <a:t>JetBrains</a:t>
            </a:r>
            <a:r>
              <a:rPr lang="es-MX" dirty="0"/>
              <a:t>. (s. f.). </a:t>
            </a:r>
            <a:r>
              <a:rPr lang="es-MX" dirty="0" err="1"/>
              <a:t>IntelliJ</a:t>
            </a:r>
            <a:r>
              <a:rPr lang="es-MX" dirty="0"/>
              <a:t> IDEA: Entorno de desarrollo integrado para Java. </a:t>
            </a:r>
            <a:r>
              <a:rPr lang="es-MX" dirty="0">
                <a:hlinkClick r:id="rId2"/>
              </a:rPr>
              <a:t>https://www.jetbrains.com/idea/</a:t>
            </a:r>
            <a:endParaRPr lang="es-MX" dirty="0"/>
          </a:p>
          <a:p>
            <a:r>
              <a:rPr lang="es-MX" dirty="0" err="1"/>
              <a:t>JetBrains</a:t>
            </a:r>
            <a:r>
              <a:rPr lang="es-MX" dirty="0"/>
              <a:t>. (s. f.). </a:t>
            </a:r>
            <a:r>
              <a:rPr lang="es-MX" dirty="0" err="1"/>
              <a:t>IntelliJ</a:t>
            </a:r>
            <a:r>
              <a:rPr lang="es-MX" dirty="0"/>
              <a:t> IDEA </a:t>
            </a:r>
            <a:r>
              <a:rPr lang="es-MX" dirty="0" err="1"/>
              <a:t>documentation</a:t>
            </a:r>
            <a:r>
              <a:rPr lang="es-MX" dirty="0"/>
              <a:t>. </a:t>
            </a:r>
            <a:r>
              <a:rPr lang="es-MX" dirty="0">
                <a:hlinkClick r:id="rId3"/>
              </a:rPr>
              <a:t>https://www.jetbrains.com/help/idea/</a:t>
            </a:r>
            <a:endParaRPr lang="es-MX" dirty="0"/>
          </a:p>
          <a:p>
            <a:r>
              <a:rPr lang="es-MX" dirty="0"/>
              <a:t>Python Software </a:t>
            </a:r>
            <a:r>
              <a:rPr lang="es-MX" dirty="0" err="1"/>
              <a:t>Foundation</a:t>
            </a:r>
            <a:r>
              <a:rPr lang="es-MX" dirty="0"/>
              <a:t>. (s. f.). Python: Lenguaje de programación y documentación oficial. </a:t>
            </a:r>
            <a:r>
              <a:rPr lang="es-MX" dirty="0">
                <a:hlinkClick r:id="rId4"/>
              </a:rPr>
              <a:t>https://www.python.org/</a:t>
            </a:r>
            <a:endParaRPr lang="es-MX" dirty="0"/>
          </a:p>
          <a:p>
            <a:r>
              <a:rPr lang="es-MX" dirty="0"/>
              <a:t>Python Software </a:t>
            </a:r>
            <a:r>
              <a:rPr lang="es-MX" dirty="0" err="1"/>
              <a:t>Foundation</a:t>
            </a:r>
            <a:r>
              <a:rPr lang="es-MX" dirty="0"/>
              <a:t>. (s. f.). Python 3 </a:t>
            </a:r>
            <a:r>
              <a:rPr lang="es-MX" dirty="0" err="1"/>
              <a:t>documentation</a:t>
            </a:r>
            <a:r>
              <a:rPr lang="es-MX" dirty="0"/>
              <a:t>. </a:t>
            </a:r>
            <a:r>
              <a:rPr lang="es-MX" dirty="0">
                <a:hlinkClick r:id="rId5"/>
              </a:rPr>
              <a:t>https://docs.python.org/3/</a:t>
            </a:r>
            <a:endParaRPr lang="es-MX" dirty="0"/>
          </a:p>
          <a:p>
            <a:r>
              <a:rPr lang="es-MX" dirty="0"/>
              <a:t>R Core </a:t>
            </a:r>
            <a:r>
              <a:rPr lang="es-MX" dirty="0" err="1"/>
              <a:t>Team</a:t>
            </a:r>
            <a:r>
              <a:rPr lang="es-MX" dirty="0"/>
              <a:t>. (s. f.). R: Lenguaje y entorno para computación estadística. R </a:t>
            </a:r>
            <a:r>
              <a:rPr lang="es-MX" dirty="0" err="1"/>
              <a:t>Foundation</a:t>
            </a:r>
            <a:r>
              <a:rPr lang="es-MX" dirty="0"/>
              <a:t> </a:t>
            </a:r>
            <a:r>
              <a:rPr lang="es-MX" dirty="0" err="1"/>
              <a:t>for</a:t>
            </a:r>
            <a:r>
              <a:rPr lang="es-MX" dirty="0"/>
              <a:t> </a:t>
            </a:r>
            <a:r>
              <a:rPr lang="es-MX" dirty="0" err="1"/>
              <a:t>Statistical</a:t>
            </a:r>
            <a:r>
              <a:rPr lang="es-MX" dirty="0"/>
              <a:t> Computing. </a:t>
            </a:r>
            <a:r>
              <a:rPr lang="es-MX" dirty="0">
                <a:hlinkClick r:id="rId6"/>
              </a:rPr>
              <a:t>https://www.r-project.org/</a:t>
            </a:r>
            <a:endParaRPr lang="es-MX" dirty="0"/>
          </a:p>
          <a:p>
            <a:r>
              <a:rPr lang="es-MX" dirty="0" err="1"/>
              <a:t>Posit</a:t>
            </a:r>
            <a:r>
              <a:rPr lang="es-MX" dirty="0"/>
              <a:t> Software, PBC. (s. f.). </a:t>
            </a:r>
            <a:r>
              <a:rPr lang="es-MX" dirty="0" err="1"/>
              <a:t>RStudio</a:t>
            </a:r>
            <a:r>
              <a:rPr lang="es-MX" dirty="0"/>
              <a:t>: Entorno de desarrollo para R. </a:t>
            </a:r>
            <a:r>
              <a:rPr lang="es-MX" dirty="0">
                <a:hlinkClick r:id="rId7"/>
              </a:rPr>
              <a:t>https://posit.co/</a:t>
            </a:r>
            <a:endParaRPr lang="es-MX" dirty="0"/>
          </a:p>
          <a:p>
            <a:r>
              <a:rPr lang="es-MX" dirty="0" err="1"/>
              <a:t>Camunda</a:t>
            </a:r>
            <a:r>
              <a:rPr lang="es-MX" dirty="0"/>
              <a:t>. (s. f.). </a:t>
            </a:r>
            <a:r>
              <a:rPr lang="es-MX" dirty="0" err="1"/>
              <a:t>Camunda</a:t>
            </a:r>
            <a:r>
              <a:rPr lang="es-MX" dirty="0"/>
              <a:t>: Modelado y automatización de procesos de negocio. </a:t>
            </a:r>
            <a:r>
              <a:rPr lang="es-MX" dirty="0">
                <a:hlinkClick r:id="rId8"/>
              </a:rPr>
              <a:t>https://camunda.com/</a:t>
            </a:r>
            <a:endParaRPr lang="es-MX" dirty="0"/>
          </a:p>
          <a:p>
            <a:r>
              <a:rPr lang="es-MX" dirty="0" err="1"/>
              <a:t>Camunda</a:t>
            </a:r>
            <a:r>
              <a:rPr lang="es-MX" dirty="0"/>
              <a:t>. (s. f.). </a:t>
            </a:r>
            <a:r>
              <a:rPr lang="es-MX" dirty="0" err="1"/>
              <a:t>Camunda</a:t>
            </a:r>
            <a:r>
              <a:rPr lang="es-MX" dirty="0"/>
              <a:t> </a:t>
            </a:r>
            <a:r>
              <a:rPr lang="es-MX" dirty="0" err="1"/>
              <a:t>documentation</a:t>
            </a:r>
            <a:r>
              <a:rPr lang="es-MX" dirty="0"/>
              <a:t>. </a:t>
            </a:r>
            <a:r>
              <a:rPr lang="es-MX" dirty="0">
                <a:hlinkClick r:id="rId9"/>
              </a:rPr>
              <a:t>https://docs.camunda.io/</a:t>
            </a:r>
            <a:endParaRPr lang="es-MX" dirty="0"/>
          </a:p>
          <a:p>
            <a:r>
              <a:rPr lang="es-MX" dirty="0" err="1"/>
              <a:t>Bonitasoft</a:t>
            </a:r>
            <a:r>
              <a:rPr lang="es-MX" dirty="0"/>
              <a:t>. (s. f.). Bonita: Plataforma de gestión y automatización de procesos de negocio. </a:t>
            </a:r>
            <a:r>
              <a:rPr lang="es-MX" dirty="0">
                <a:hlinkClick r:id="rId10"/>
              </a:rPr>
              <a:t>https://www.bonitasoft.com/</a:t>
            </a:r>
            <a:endParaRPr lang="es-MX" dirty="0"/>
          </a:p>
          <a:p>
            <a:r>
              <a:rPr lang="es-MX" dirty="0" err="1"/>
              <a:t>Bonitasoft</a:t>
            </a:r>
            <a:r>
              <a:rPr lang="es-MX" dirty="0"/>
              <a:t>. (s. f.). Bonita </a:t>
            </a:r>
            <a:r>
              <a:rPr lang="es-MX" dirty="0" err="1"/>
              <a:t>documentation</a:t>
            </a:r>
            <a:r>
              <a:rPr lang="es-MX" dirty="0"/>
              <a:t>. </a:t>
            </a:r>
            <a:r>
              <a:rPr lang="es-MX" dirty="0">
                <a:hlinkClick r:id="rId11"/>
              </a:rPr>
              <a:t>https://documentation.bonitasoft.com/</a:t>
            </a:r>
            <a:endParaRPr lang="es-MX" dirty="0"/>
          </a:p>
          <a:p>
            <a:r>
              <a:rPr lang="es-MX" dirty="0" err="1"/>
              <a:t>Bizagi</a:t>
            </a:r>
            <a:r>
              <a:rPr lang="es-MX" dirty="0"/>
              <a:t>. (s. f.). </a:t>
            </a:r>
            <a:r>
              <a:rPr lang="es-MX" dirty="0" err="1"/>
              <a:t>Bizagi</a:t>
            </a:r>
            <a:r>
              <a:rPr lang="es-MX" dirty="0"/>
              <a:t> </a:t>
            </a:r>
            <a:r>
              <a:rPr lang="es-MX" dirty="0" err="1"/>
              <a:t>Modeler</a:t>
            </a:r>
            <a:r>
              <a:rPr lang="es-MX" dirty="0"/>
              <a:t>: Herramienta de modelado de procesos de negocio. </a:t>
            </a:r>
            <a:r>
              <a:rPr lang="es-MX" dirty="0">
                <a:hlinkClick r:id="rId12"/>
              </a:rPr>
              <a:t>https://www.bizagi.com/</a:t>
            </a:r>
            <a:endParaRPr lang="es-MX" dirty="0"/>
          </a:p>
          <a:p>
            <a:r>
              <a:rPr lang="es-MX" dirty="0" err="1"/>
              <a:t>Bizagi</a:t>
            </a:r>
            <a:r>
              <a:rPr lang="es-MX" dirty="0"/>
              <a:t>. (s. f.). </a:t>
            </a:r>
            <a:r>
              <a:rPr lang="es-MX" dirty="0" err="1"/>
              <a:t>Bizagi</a:t>
            </a:r>
            <a:r>
              <a:rPr lang="es-MX" dirty="0"/>
              <a:t> </a:t>
            </a:r>
            <a:r>
              <a:rPr lang="es-MX" dirty="0" err="1"/>
              <a:t>Modeler</a:t>
            </a:r>
            <a:r>
              <a:rPr lang="es-MX" dirty="0"/>
              <a:t> </a:t>
            </a:r>
            <a:r>
              <a:rPr lang="es-MX" dirty="0" err="1"/>
              <a:t>documentation</a:t>
            </a:r>
            <a:r>
              <a:rPr lang="es-MX" dirty="0"/>
              <a:t>. </a:t>
            </a:r>
            <a:r>
              <a:rPr lang="es-MX" dirty="0">
                <a:hlinkClick r:id="rId13"/>
              </a:rPr>
              <a:t>https://help.bizagi.com/platform/en/</a:t>
            </a:r>
            <a:endParaRPr lang="es-MX" dirty="0"/>
          </a:p>
          <a:p>
            <a:r>
              <a:rPr lang="es-MX" dirty="0" err="1"/>
              <a:t>Object</a:t>
            </a:r>
            <a:r>
              <a:rPr lang="es-MX" dirty="0"/>
              <a:t> Management </a:t>
            </a:r>
            <a:r>
              <a:rPr lang="es-MX" dirty="0" err="1"/>
              <a:t>Group</a:t>
            </a:r>
            <a:r>
              <a:rPr lang="es-MX" dirty="0"/>
              <a:t>. (s. f.). Business </a:t>
            </a:r>
            <a:r>
              <a:rPr lang="es-MX" dirty="0" err="1"/>
              <a:t>Process</a:t>
            </a:r>
            <a:r>
              <a:rPr lang="es-MX" dirty="0"/>
              <a:t> </a:t>
            </a:r>
            <a:r>
              <a:rPr lang="es-MX" dirty="0" err="1"/>
              <a:t>Model</a:t>
            </a:r>
            <a:r>
              <a:rPr lang="es-MX" dirty="0"/>
              <a:t> and </a:t>
            </a:r>
            <a:r>
              <a:rPr lang="es-MX" dirty="0" err="1"/>
              <a:t>Notation</a:t>
            </a:r>
            <a:r>
              <a:rPr lang="es-MX" dirty="0"/>
              <a:t> (BPMN). </a:t>
            </a:r>
            <a:r>
              <a:rPr lang="es-MX" dirty="0">
                <a:hlinkClick r:id="rId14"/>
              </a:rPr>
              <a:t>https://www.omg.org/bpmn/</a:t>
            </a:r>
            <a:endParaRPr lang="es-MX" dirty="0"/>
          </a:p>
          <a:p>
            <a:r>
              <a:rPr lang="es-MX" dirty="0"/>
              <a:t>Dumas, M., La Rosa, M., </a:t>
            </a:r>
            <a:r>
              <a:rPr lang="es-MX" dirty="0" err="1"/>
              <a:t>Mendling</a:t>
            </a:r>
            <a:r>
              <a:rPr lang="es-MX" dirty="0"/>
              <a:t>, J., &amp; </a:t>
            </a:r>
            <a:r>
              <a:rPr lang="es-MX" dirty="0" err="1"/>
              <a:t>Reijers</a:t>
            </a:r>
            <a:r>
              <a:rPr lang="es-MX" dirty="0"/>
              <a:t>, H. A. (2018). Fundamentals of </a:t>
            </a:r>
            <a:r>
              <a:rPr lang="es-MX" dirty="0" err="1"/>
              <a:t>business</a:t>
            </a:r>
            <a:r>
              <a:rPr lang="es-MX" dirty="0"/>
              <a:t> </a:t>
            </a:r>
            <a:r>
              <a:rPr lang="es-MX" dirty="0" err="1"/>
              <a:t>process</a:t>
            </a:r>
            <a:r>
              <a:rPr lang="es-MX" dirty="0"/>
              <a:t> </a:t>
            </a:r>
            <a:r>
              <a:rPr lang="es-MX" dirty="0" err="1"/>
              <a:t>management</a:t>
            </a:r>
            <a:r>
              <a:rPr lang="es-MX" dirty="0"/>
              <a:t> (2nd ed.). </a:t>
            </a:r>
            <a:r>
              <a:rPr lang="es-MX" dirty="0" err="1"/>
              <a:t>Springer</a:t>
            </a:r>
            <a:r>
              <a:rPr lang="es-MX" dirty="0"/>
              <a:t>. </a:t>
            </a:r>
            <a:r>
              <a:rPr lang="es-MX" dirty="0">
                <a:hlinkClick r:id="rId15"/>
              </a:rPr>
              <a:t>https://doi.org/10.1007/978-3-662-56509-4</a:t>
            </a:r>
            <a:endParaRPr lang="es-MX" dirty="0"/>
          </a:p>
          <a:p>
            <a:r>
              <a:rPr lang="es-MX" dirty="0"/>
              <a:t>Robert Bosch </a:t>
            </a:r>
            <a:r>
              <a:rPr lang="es-MX" dirty="0" err="1"/>
              <a:t>GmbH</a:t>
            </a:r>
            <a:r>
              <a:rPr lang="es-MX" dirty="0"/>
              <a:t>. (2018). Bosch </a:t>
            </a:r>
            <a:r>
              <a:rPr lang="es-MX" dirty="0" err="1"/>
              <a:t>automotive</a:t>
            </a:r>
            <a:r>
              <a:rPr lang="es-MX" dirty="0"/>
              <a:t> </a:t>
            </a:r>
            <a:r>
              <a:rPr lang="es-MX" dirty="0" err="1"/>
              <a:t>handbook</a:t>
            </a:r>
            <a:r>
              <a:rPr lang="es-MX" dirty="0"/>
              <a:t> (10th ed.). </a:t>
            </a:r>
            <a:r>
              <a:rPr lang="es-MX" dirty="0" err="1"/>
              <a:t>Wiley</a:t>
            </a:r>
            <a:r>
              <a:rPr lang="es-MX" dirty="0"/>
              <a:t>.</a:t>
            </a:r>
          </a:p>
          <a:p>
            <a:r>
              <a:rPr lang="es-MX" dirty="0" err="1"/>
              <a:t>Sommerville</a:t>
            </a:r>
            <a:r>
              <a:rPr lang="es-MX" dirty="0"/>
              <a:t>, I. (2016). Software </a:t>
            </a:r>
            <a:r>
              <a:rPr lang="es-MX" dirty="0" err="1"/>
              <a:t>engineering</a:t>
            </a:r>
            <a:r>
              <a:rPr lang="es-MX" dirty="0"/>
              <a:t> (10th ed.). Pearson.</a:t>
            </a:r>
          </a:p>
          <a:p>
            <a:pPr algn="just"/>
            <a:endParaRPr lang="es-MX" b="1"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Tree>
    <p:extLst>
      <p:ext uri="{BB962C8B-B14F-4D97-AF65-F5344CB8AC3E}">
        <p14:creationId xmlns:p14="http://schemas.microsoft.com/office/powerpoint/2010/main" val="28218124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5813"/>
            <a:ext cx="12191695" cy="6858000"/>
          </a:xfrm>
          <a:prstGeom prst="rect">
            <a:avLst/>
          </a:prstGeom>
          <a:solidFill>
            <a:srgbClr val="F5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88387" y="274320"/>
            <a:ext cx="992515" cy="477054"/>
          </a:xfrm>
          <a:prstGeom prst="rect">
            <a:avLst/>
          </a:prstGeom>
          <a:noFill/>
        </p:spPr>
        <p:txBody>
          <a:bodyPr wrap="square">
            <a:spAutoFit/>
          </a:bodyPr>
          <a:lstStyle/>
          <a:p>
            <a:pPr algn="ctr">
              <a:defRPr sz="2500" b="1">
                <a:solidFill>
                  <a:srgbClr val="123048"/>
                </a:solidFill>
              </a:defRPr>
            </a:pPr>
            <a:endParaRPr dirty="0"/>
          </a:p>
        </p:txBody>
      </p:sp>
      <p:sp>
        <p:nvSpPr>
          <p:cNvPr id="6" name="TextBox 5"/>
          <p:cNvSpPr txBox="1"/>
          <p:nvPr/>
        </p:nvSpPr>
        <p:spPr>
          <a:xfrm rot="10800000" flipV="1">
            <a:off x="252536" y="-330526"/>
            <a:ext cx="11686621" cy="2031325"/>
          </a:xfrm>
          <a:prstGeom prst="rect">
            <a:avLst/>
          </a:prstGeom>
          <a:noFill/>
        </p:spPr>
        <p:txBody>
          <a:bodyPr wrap="square" lIns="73152" rIns="73152">
            <a:spAutoFit/>
          </a:bodyPr>
          <a:lstStyle/>
          <a:p>
            <a:pPr algn="ctr"/>
            <a:endParaRPr lang="es-ES" sz="2400" b="1" dirty="0" smtClean="0"/>
          </a:p>
          <a:p>
            <a:pPr algn="ctr"/>
            <a:endParaRPr lang="es-ES" sz="2400" b="1" dirty="0"/>
          </a:p>
          <a:p>
            <a:pPr algn="ctr"/>
            <a:r>
              <a:rPr lang="es-ES" sz="2400" b="1" dirty="0" smtClean="0"/>
              <a:t>ENTREGA EN GIT </a:t>
            </a:r>
          </a:p>
          <a:p>
            <a:pPr algn="just"/>
            <a:r>
              <a:rPr lang="es-ES" b="1" dirty="0" smtClean="0"/>
              <a:t>CABE RECALCAR QUE EN EL GIT SE ENCUENTRAN TODOS LOS ARCHIVOS QUE SE REALIZARON TANTO MANUALES COMO ARCHIVOS DE PRUEBAS, ADJUNTANDO EL PROGRAMA PRINCIPAL Y LOS DIAGRAMAS EN LOS PROGRAMAS CORRESPONDIENTES </a:t>
            </a:r>
            <a:endParaRPr lang="es-MX" dirty="0"/>
          </a:p>
        </p:txBody>
      </p:sp>
      <p:sp>
        <p:nvSpPr>
          <p:cNvPr id="7" name="Rectangle 6"/>
          <p:cNvSpPr/>
          <p:nvPr/>
        </p:nvSpPr>
        <p:spPr>
          <a:xfrm>
            <a:off x="594360" y="6510528"/>
            <a:ext cx="10972800" cy="13716"/>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47104"/>
            <a:ext cx="2686954" cy="215444"/>
          </a:xfrm>
          <a:prstGeom prst="rect">
            <a:avLst/>
          </a:prstGeom>
          <a:noFill/>
        </p:spPr>
        <p:txBody>
          <a:bodyPr wrap="none">
            <a:spAutoFit/>
          </a:bodyPr>
          <a:lstStyle/>
          <a:p>
            <a:pPr>
              <a:defRPr sz="800">
                <a:solidFill>
                  <a:srgbClr val="5A6974"/>
                </a:solidFill>
              </a:defRPr>
            </a:pPr>
            <a:r>
              <a:rPr dirty="0"/>
              <a:t>Proyecto </a:t>
            </a:r>
            <a:r>
              <a:rPr dirty="0" err="1"/>
              <a:t>Integrador</a:t>
            </a:r>
            <a:r>
              <a:rPr dirty="0"/>
              <a:t> • Taller </a:t>
            </a:r>
            <a:r>
              <a:rPr dirty="0" err="1"/>
              <a:t>Mecánico</a:t>
            </a:r>
            <a:r>
              <a:rPr dirty="0"/>
              <a:t>                                      </a:t>
            </a:r>
          </a:p>
        </p:txBody>
      </p:sp>
    </p:spTree>
    <p:extLst>
      <p:ext uri="{BB962C8B-B14F-4D97-AF65-F5344CB8AC3E}">
        <p14:creationId xmlns:p14="http://schemas.microsoft.com/office/powerpoint/2010/main" val="4169108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116</TotalTime>
  <Words>10161</Words>
  <Application>Microsoft Office PowerPoint</Application>
  <PresentationFormat>Panorámica</PresentationFormat>
  <Paragraphs>587</Paragraphs>
  <Slides>105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105</vt:i4>
      </vt:variant>
    </vt:vector>
  </HeadingPairs>
  <TitlesOfParts>
    <vt:vector size="109" baseType="lpstr">
      <vt:lpstr>Arial</vt:lpstr>
      <vt:lpstr>Calibri</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ING. BRANDON LOPEZ</dc:creator>
  <cp:keywords/>
  <dc:description>generated using python-pptx</dc:description>
  <cp:lastModifiedBy>Cuenta Microsoft</cp:lastModifiedBy>
  <cp:revision>20</cp:revision>
  <dcterms:created xsi:type="dcterms:W3CDTF">2013-01-27T09:14:16Z</dcterms:created>
  <dcterms:modified xsi:type="dcterms:W3CDTF">2026-10-03T21:10:32Z</dcterms:modified>
  <cp:category/>
</cp:coreProperties>
</file>